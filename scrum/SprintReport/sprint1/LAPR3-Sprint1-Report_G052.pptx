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27_0.xml" ContentType="application/vnd.ms-powerpoint.comments+xml"/>
  <Override PartName="/ppt/comments/modernComment_199_E8DB507.xml" ContentType="application/vnd.ms-powerpoint.comments+xml"/>
  <Override PartName="/ppt/comments/modernComment_194_F8C0A913.xml" ContentType="application/vnd.ms-powerpoint.comments+xml"/>
  <Override PartName="/ppt/comments/modernComment_19E_F9877B76.xml" ContentType="application/vnd.ms-powerpoint.comments+xml"/>
  <Override PartName="/ppt/comments/modernComment_19F_D7A419EB.xml" ContentType="application/vnd.ms-powerpoint.comments+xml"/>
  <Override PartName="/ppt/comments/modernComment_196_73C95D57.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modernComment_197_300F0B25.xml" ContentType="application/vnd.ms-powerpoint.comment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modernComment_19B_4BDE2BB0.xml" ContentType="application/vnd.ms-powerpoint.comments+xml"/>
  <Override PartName="/ppt/comments/modernComment_1A0_A0833A4D.xml" ContentType="application/vnd.ms-powerpoint.comments+xml"/>
  <Override PartName="/ppt/comments/modernComment_19A_18A78E8B.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21"/>
  </p:notesMasterIdLst>
  <p:sldIdLst>
    <p:sldId id="295" r:id="rId5"/>
    <p:sldId id="409" r:id="rId6"/>
    <p:sldId id="404" r:id="rId7"/>
    <p:sldId id="414" r:id="rId8"/>
    <p:sldId id="415" r:id="rId9"/>
    <p:sldId id="406" r:id="rId10"/>
    <p:sldId id="407" r:id="rId11"/>
    <p:sldId id="408" r:id="rId12"/>
    <p:sldId id="411" r:id="rId13"/>
    <p:sldId id="416" r:id="rId14"/>
    <p:sldId id="410" r:id="rId15"/>
    <p:sldId id="412" r:id="rId16"/>
    <p:sldId id="398" r:id="rId17"/>
    <p:sldId id="413" r:id="rId18"/>
    <p:sldId id="405" r:id="rId19"/>
    <p:sldId id="387" r:id="rId20"/>
  </p:sldIdLst>
  <p:sldSz cx="9906000" cy="6858000" type="A4"/>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1A558A-D303-65E2-8988-E9D20194D4E8}" name="Ana Barata" initials="AB" userId="S::abt@isep.ipp.pt::5b353bcc-9c20-4dd6-9ceb-f15a7e5b32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5432"/>
    <a:srgbClr val="404040"/>
    <a:srgbClr val="7F7F7F"/>
    <a:srgbClr val="FF8600"/>
    <a:srgbClr val="FF6600"/>
    <a:srgbClr val="5B5B5B"/>
    <a:srgbClr val="7F7F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C756E8-1A4A-4A82-B6C0-04ED6CB128C2}" v="84" dt="2024-10-22T15:32:15.8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Estilo Claro 2 - Destaqu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Estilo Claro 1 - Destaqu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38B1855-1B75-4FBE-930C-398BA8C253C6}" styleName="Estilo com Tema 2 - Destaqu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2DE63D5-997A-4646-A377-4702673A728D}" styleName="Estilo Claro 2 - Destaqu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Estilo Médio 2 - Destaqu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98" autoAdjust="0"/>
    <p:restoredTop sz="94737" autoAdjust="0"/>
  </p:normalViewPr>
  <p:slideViewPr>
    <p:cSldViewPr>
      <p:cViewPr>
        <p:scale>
          <a:sx n="75" d="100"/>
          <a:sy n="75" d="100"/>
        </p:scale>
        <p:origin x="2352" y="732"/>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noProof="0" dirty="0"/>
              <a:t>Number</a:t>
            </a:r>
            <a:r>
              <a:rPr lang="pt-PT" baseline="0" noProof="0" dirty="0"/>
              <a:t> of</a:t>
            </a:r>
            <a:r>
              <a:rPr lang="pt-PT" noProof="0" dirty="0"/>
              <a:t> Hours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pt-PT"/>
        </a:p>
      </c:txPr>
    </c:title>
    <c:autoTitleDeleted val="0"/>
    <c:plotArea>
      <c:layout/>
      <c:barChart>
        <c:barDir val="col"/>
        <c:grouping val="clustered"/>
        <c:varyColors val="0"/>
        <c:ser>
          <c:idx val="0"/>
          <c:order val="0"/>
          <c:tx>
            <c:strRef>
              <c:f>Folha1!$B$1</c:f>
              <c:strCache>
                <c:ptCount val="1"/>
                <c:pt idx="0">
                  <c:v>Horas</c:v>
                </c:pt>
              </c:strCache>
            </c:strRef>
          </c:tx>
          <c:spPr>
            <a:solidFill>
              <a:schemeClr val="accent6"/>
            </a:solidFill>
            <a:ln>
              <a:noFill/>
            </a:ln>
            <a:effectLst/>
          </c:spPr>
          <c:invertIfNegative val="0"/>
          <c:cat>
            <c:strRef>
              <c:f>Folha1!$A$2:$A$6</c:f>
              <c:strCache>
                <c:ptCount val="5"/>
                <c:pt idx="0">
                  <c:v>Francisco</c:v>
                </c:pt>
                <c:pt idx="1">
                  <c:v>Gabriel</c:v>
                </c:pt>
                <c:pt idx="2">
                  <c:v>Gonçalo</c:v>
                </c:pt>
                <c:pt idx="3">
                  <c:v>Maria</c:v>
                </c:pt>
                <c:pt idx="4">
                  <c:v>Paulo</c:v>
                </c:pt>
              </c:strCache>
            </c:strRef>
          </c:cat>
          <c:val>
            <c:numRef>
              <c:f>Folha1!$B$2:$B$6</c:f>
              <c:numCache>
                <c:formatCode>General</c:formatCode>
                <c:ptCount val="5"/>
                <c:pt idx="0">
                  <c:v>44</c:v>
                </c:pt>
                <c:pt idx="1">
                  <c:v>44</c:v>
                </c:pt>
                <c:pt idx="2">
                  <c:v>40</c:v>
                </c:pt>
                <c:pt idx="3">
                  <c:v>29</c:v>
                </c:pt>
                <c:pt idx="4">
                  <c:v>24</c:v>
                </c:pt>
              </c:numCache>
            </c:numRef>
          </c:val>
          <c:extLst>
            <c:ext xmlns:c16="http://schemas.microsoft.com/office/drawing/2014/chart" uri="{C3380CC4-5D6E-409C-BE32-E72D297353CC}">
              <c16:uniqueId val="{00000000-0486-4A64-B307-80E9A3590427}"/>
            </c:ext>
          </c:extLst>
        </c:ser>
        <c:dLbls>
          <c:showLegendKey val="0"/>
          <c:showVal val="0"/>
          <c:showCatName val="0"/>
          <c:showSerName val="0"/>
          <c:showPercent val="0"/>
          <c:showBubbleSize val="0"/>
        </c:dLbls>
        <c:gapWidth val="219"/>
        <c:overlap val="-27"/>
        <c:axId val="691907944"/>
        <c:axId val="691902368"/>
      </c:barChart>
      <c:catAx>
        <c:axId val="691907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1902368"/>
        <c:crosses val="autoZero"/>
        <c:auto val="1"/>
        <c:lblAlgn val="ctr"/>
        <c:lblOffset val="100"/>
        <c:noMultiLvlLbl val="0"/>
      </c:catAx>
      <c:valAx>
        <c:axId val="691902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19079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noProof="0" dirty="0"/>
              <a:t>Epic or Component or UC</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Folha1!$B$1</c:f>
              <c:strCache>
                <c:ptCount val="1"/>
                <c:pt idx="0">
                  <c:v>Componente</c:v>
                </c:pt>
              </c:strCache>
            </c:strRef>
          </c:tx>
          <c:dPt>
            <c:idx val="0"/>
            <c:bubble3D val="0"/>
            <c:spPr>
              <a:solidFill>
                <a:schemeClr val="accent6">
                  <a:tint val="58000"/>
                </a:schemeClr>
              </a:solidFill>
              <a:ln w="19050">
                <a:solidFill>
                  <a:schemeClr val="lt1"/>
                </a:solidFill>
              </a:ln>
              <a:effectLst/>
            </c:spPr>
            <c:extLst>
              <c:ext xmlns:c16="http://schemas.microsoft.com/office/drawing/2014/chart" uri="{C3380CC4-5D6E-409C-BE32-E72D297353CC}">
                <c16:uniqueId val="{00000001-0D5E-44D3-AE05-D0CC3596364F}"/>
              </c:ext>
            </c:extLst>
          </c:dPt>
          <c:dPt>
            <c:idx val="1"/>
            <c:bubble3D val="0"/>
            <c:spPr>
              <a:solidFill>
                <a:schemeClr val="accent6">
                  <a:tint val="86000"/>
                </a:schemeClr>
              </a:solidFill>
              <a:ln w="19050">
                <a:solidFill>
                  <a:schemeClr val="lt1"/>
                </a:solidFill>
              </a:ln>
              <a:effectLst/>
            </c:spPr>
            <c:extLst>
              <c:ext xmlns:c16="http://schemas.microsoft.com/office/drawing/2014/chart" uri="{C3380CC4-5D6E-409C-BE32-E72D297353CC}">
                <c16:uniqueId val="{00000003-0D5E-44D3-AE05-D0CC3596364F}"/>
              </c:ext>
            </c:extLst>
          </c:dPt>
          <c:dPt>
            <c:idx val="2"/>
            <c:bubble3D val="0"/>
            <c:spPr>
              <a:solidFill>
                <a:schemeClr val="accent6">
                  <a:shade val="86000"/>
                </a:schemeClr>
              </a:solidFill>
              <a:ln w="19050">
                <a:solidFill>
                  <a:schemeClr val="lt1"/>
                </a:solidFill>
              </a:ln>
              <a:effectLst/>
            </c:spPr>
            <c:extLst>
              <c:ext xmlns:c16="http://schemas.microsoft.com/office/drawing/2014/chart" uri="{C3380CC4-5D6E-409C-BE32-E72D297353CC}">
                <c16:uniqueId val="{00000005-0D5E-44D3-AE05-D0CC3596364F}"/>
              </c:ext>
            </c:extLst>
          </c:dPt>
          <c:dPt>
            <c:idx val="3"/>
            <c:bubble3D val="0"/>
            <c:spPr>
              <a:solidFill>
                <a:schemeClr val="accent6">
                  <a:shade val="58000"/>
                </a:schemeClr>
              </a:solidFill>
              <a:ln w="19050">
                <a:solidFill>
                  <a:schemeClr val="lt1"/>
                </a:solidFill>
              </a:ln>
              <a:effectLst/>
            </c:spPr>
            <c:extLst>
              <c:ext xmlns:c16="http://schemas.microsoft.com/office/drawing/2014/chart" uri="{C3380CC4-5D6E-409C-BE32-E72D297353CC}">
                <c16:uniqueId val="{00000007-0D5E-44D3-AE05-D0CC3596364F}"/>
              </c:ext>
            </c:extLst>
          </c:dPt>
          <c:cat>
            <c:strRef>
              <c:f>Folha1!$A$2:$A$4</c:f>
              <c:strCache>
                <c:ptCount val="3"/>
                <c:pt idx="0">
                  <c:v>BDDAD</c:v>
                </c:pt>
                <c:pt idx="1">
                  <c:v>ESINF</c:v>
                </c:pt>
                <c:pt idx="2">
                  <c:v>LAPR3</c:v>
                </c:pt>
              </c:strCache>
            </c:strRef>
          </c:cat>
          <c:val>
            <c:numRef>
              <c:f>Folha1!$B$2:$B$4</c:f>
              <c:numCache>
                <c:formatCode>General</c:formatCode>
                <c:ptCount val="3"/>
                <c:pt idx="0">
                  <c:v>24</c:v>
                </c:pt>
                <c:pt idx="1">
                  <c:v>41</c:v>
                </c:pt>
                <c:pt idx="2">
                  <c:v>19</c:v>
                </c:pt>
              </c:numCache>
            </c:numRef>
          </c:val>
          <c:extLst>
            <c:ext xmlns:c16="http://schemas.microsoft.com/office/drawing/2014/chart" uri="{C3380CC4-5D6E-409C-BE32-E72D297353CC}">
              <c16:uniqueId val="{00000000-A2C6-47B5-9769-0633602DAAC3}"/>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A0_A0833A4D.xml><?xml version="1.0" encoding="utf-8"?>
<p188:cmLst xmlns:a="http://schemas.openxmlformats.org/drawingml/2006/main" xmlns:r="http://schemas.openxmlformats.org/officeDocument/2006/relationships" xmlns:p188="http://schemas.microsoft.com/office/powerpoint/2018/8/main">
  <p188:cm id="{65540CB8-7AA8-4B89-8BC7-FA3D837888A4}" authorId="{6C1A558A-D303-65E2-8988-E9D20194D4E8}" created="2024-10-22T15:31:18.767">
    <pc:sldMkLst xmlns:pc="http://schemas.microsoft.com/office/powerpoint/2013/main/command">
      <pc:docMk/>
      <pc:sldMk cId="1272851376" sldId="411"/>
    </pc:sldMkLst>
    <p188:txBody>
      <a:bodyPr/>
      <a:lstStyle/>
      <a:p>
        <a:r>
          <a:rPr lang="en-GB"/>
          <a:t>Register the dates of each daily and the attendees</a:t>
        </a:r>
      </a:p>
    </p188:txBody>
  </p188:cm>
</p188:cmLst>
</file>

<file path=ppt/comments/modernComment_19A_18A78E8B.xml><?xml version="1.0" encoding="utf-8"?>
<p188:cmLst xmlns:a="http://schemas.openxmlformats.org/drawingml/2006/main" xmlns:r="http://schemas.openxmlformats.org/officeDocument/2006/relationships" xmlns:p188="http://schemas.microsoft.com/office/powerpoint/2018/8/main">
  <p188:cm id="{C8F11B5E-A96B-481B-8CB0-A7B8AF14F672}" authorId="{6C1A558A-D303-65E2-8988-E9D20194D4E8}" created="2024-10-22T15:32:15.800">
    <pc:sldMkLst xmlns:pc="http://schemas.microsoft.com/office/powerpoint/2013/main/command">
      <pc:docMk/>
      <pc:sldMk cId="413634187" sldId="410"/>
    </pc:sldMkLst>
    <p188:txBody>
      <a:bodyPr/>
      <a:lstStyle/>
      <a:p>
        <a:r>
          <a:rPr lang="en-GB"/>
          <a:t>To analyse the information registered on the board, from issues to daily meetings, and each team member's performance, and compare it with your own perspective.</a:t>
        </a:r>
      </a:p>
    </p188:txBody>
  </p188:cm>
</p188:cmLst>
</file>

<file path=ppt/comments/modernComment_19B_4BDE2BB0.xml><?xml version="1.0" encoding="utf-8"?>
<p188:cmLst xmlns:a="http://schemas.openxmlformats.org/drawingml/2006/main" xmlns:r="http://schemas.openxmlformats.org/officeDocument/2006/relationships" xmlns:p188="http://schemas.microsoft.com/office/powerpoint/2018/8/main">
  <p188:cm id="{A070780B-DB84-4A97-8599-8F8407629B8F}" authorId="{6C1A558A-D303-65E2-8988-E9D20194D4E8}" created="2024-10-22T15:31:18.767">
    <pc:sldMkLst xmlns:pc="http://schemas.microsoft.com/office/powerpoint/2013/main/command">
      <pc:docMk/>
      <pc:sldMk cId="1272851376" sldId="411"/>
    </pc:sldMkLst>
    <p188:txBody>
      <a:bodyPr/>
      <a:lstStyle/>
      <a:p>
        <a:r>
          <a:rPr lang="en-GB"/>
          <a:t>Register the dates of each daily and the attendees</a:t>
        </a:r>
      </a:p>
    </p188:txBody>
  </p188:cm>
</p188:cmLst>
</file>

<file path=ppt/comments/modernComment_19E_F9877B76.xml><?xml version="1.0" encoding="utf-8"?>
<p188:cmLst xmlns:a="http://schemas.openxmlformats.org/drawingml/2006/main" xmlns:r="http://schemas.openxmlformats.org/officeDocument/2006/relationships" xmlns:p188="http://schemas.microsoft.com/office/powerpoint/2018/8/main">
  <p188:cm id="{DA9E8CE7-ABFC-4E3E-B9B6-CB55445884A0}"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9F_D7A419EB.xml><?xml version="1.0" encoding="utf-8"?>
<p188:cmLst xmlns:a="http://schemas.openxmlformats.org/drawingml/2006/main" xmlns:r="http://schemas.openxmlformats.org/officeDocument/2006/relationships" xmlns:p188="http://schemas.microsoft.com/office/powerpoint/2018/8/main">
  <p188:cm id="{CDBC640A-572C-4CF1-8A4C-EA2CA8B170E3}"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27_0.xml><?xml version="1.0" encoding="utf-8"?>
<p188:cmLst xmlns:a="http://schemas.openxmlformats.org/drawingml/2006/main" xmlns:r="http://schemas.openxmlformats.org/officeDocument/2006/relationships" xmlns:p188="http://schemas.microsoft.com/office/powerpoint/2018/8/main">
  <p188:cm id="{5A05288D-53D7-4485-9EC0-C6B72816DB2A}" authorId="{6C1A558A-D303-65E2-8988-E9D20194D4E8}" created="2024-10-22T15:29:55.765">
    <pc:sldMkLst xmlns:pc="http://schemas.microsoft.com/office/powerpoint/2013/main/command">
      <pc:docMk/>
      <pc:sldMk cId="0" sldId="295"/>
    </pc:sldMkLst>
    <p188:txBody>
      <a:bodyPr/>
      <a:lstStyle/>
      <a:p>
        <a:r>
          <a:rPr lang="en-US"/>
          <a:t>Team and SPrint identification</a:t>
        </a:r>
      </a:p>
    </p188:txBody>
  </p188:cm>
</p188:cmLst>
</file>

<file path=ppt/comments/modernComment_194_F8C0A913.xml><?xml version="1.0" encoding="utf-8"?>
<p188:cmLst xmlns:a="http://schemas.openxmlformats.org/drawingml/2006/main" xmlns:r="http://schemas.openxmlformats.org/officeDocument/2006/relationships" xmlns:p188="http://schemas.microsoft.com/office/powerpoint/2018/8/main">
  <p188:cm id="{0B49A45F-1BB2-4EE9-9AC3-E3FE75BDA40D}"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96_73C95D57.xml><?xml version="1.0" encoding="utf-8"?>
<p188:cmLst xmlns:a="http://schemas.openxmlformats.org/drawingml/2006/main" xmlns:r="http://schemas.openxmlformats.org/officeDocument/2006/relationships" xmlns:p188="http://schemas.microsoft.com/office/powerpoint/2018/8/main">
  <p188:cm id="{33B10A50-E342-46B1-8A21-69A1F6A00AA6}" authorId="{6C1A558A-D303-65E2-8988-E9D20194D4E8}" created="2024-10-22T15:28:37.653">
    <pc:sldMkLst xmlns:pc="http://schemas.microsoft.com/office/powerpoint/2013/main/command">
      <pc:docMk/>
      <pc:sldMk cId="1942576471" sldId="406"/>
    </pc:sldMkLst>
    <p188:txBody>
      <a:bodyPr/>
      <a:lstStyle/>
      <a:p>
        <a:r>
          <a:rPr lang="en-GB"/>
          <a:t>Este gráfico é apenas um exemplo. 
Devem retirar a informação a partir do menu "insights" no vosso repositório.
Formatem um tipo de gráfico que permita expor o número de tarefas atribuídas e executadas por cada elemento da equipa. Podem incluir todos os elementos, mesmo os que não estão em LAPR3.</a:t>
        </a:r>
      </a:p>
    </p188:txBody>
  </p188:cm>
</p188:cmLst>
</file>

<file path=ppt/comments/modernComment_197_300F0B25.xml><?xml version="1.0" encoding="utf-8"?>
<p188:cmLst xmlns:a="http://schemas.openxmlformats.org/drawingml/2006/main" xmlns:r="http://schemas.openxmlformats.org/officeDocument/2006/relationships" xmlns:p188="http://schemas.microsoft.com/office/powerpoint/2018/8/main">
  <p188:cm id="{98DB55F9-AD37-4F54-B79F-128CDD8B7F4B}" authorId="{6C1A558A-D303-65E2-8988-E9D20194D4E8}" created="2024-10-22T15:30:53.219">
    <pc:sldMkLst xmlns:pc="http://schemas.microsoft.com/office/powerpoint/2013/main/command">
      <pc:docMk/>
      <pc:sldMk cId="806292261" sldId="407"/>
    </pc:sldMkLst>
    <p188:txBody>
      <a:bodyPr/>
      <a:lstStyle/>
      <a:p>
        <a:r>
          <a:rPr lang="en-US"/>
          <a:t>May be created using the data from the board - workoad in each component from each team member.</a:t>
        </a:r>
      </a:p>
    </p188:txBody>
  </p188:cm>
</p188:cmLst>
</file>

<file path=ppt/comments/modernComment_199_E8DB507.xml><?xml version="1.0" encoding="utf-8"?>
<p188:cmLst xmlns:a="http://schemas.openxmlformats.org/drawingml/2006/main" xmlns:r="http://schemas.openxmlformats.org/officeDocument/2006/relationships" xmlns:p188="http://schemas.microsoft.com/office/powerpoint/2018/8/main">
  <p188:cm id="{43E5A7E4-8301-4D04-B856-08C35D122170}" authorId="{6C1A558A-D303-65E2-8988-E9D20194D4E8}" created="2024-10-22T15:29:25.154">
    <pc:sldMkLst xmlns:pc="http://schemas.microsoft.com/office/powerpoint/2013/main/command">
      <pc:docMk/>
      <pc:sldMk cId="244167943" sldId="409"/>
    </pc:sldMkLst>
    <p188:txBody>
      <a:bodyPr/>
      <a:lstStyle/>
      <a:p>
        <a:r>
          <a:rPr lang="en-US"/>
          <a:t>According to the information in the board/repository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8AA918-AAAF-A948-AD9D-7282A6CA6554}" type="datetimeFigureOut">
              <a:rPr lang="en-US" smtClean="0"/>
              <a:pPr/>
              <a:t>10/26/2025</a:t>
            </a:fld>
            <a:endParaRPr lang="pt-PT"/>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pt-PT"/>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PT"/>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1B708B-99F0-4F4A-8995-6044E0FFF0C7}" type="slidenum">
              <a:rPr lang="pt-PT" smtClean="0"/>
              <a:pPr/>
              <a:t>‹#›</a:t>
            </a:fld>
            <a:endParaRPr lang="pt-PT"/>
          </a:p>
        </p:txBody>
      </p:sp>
    </p:spTree>
    <p:extLst>
      <p:ext uri="{BB962C8B-B14F-4D97-AF65-F5344CB8AC3E}">
        <p14:creationId xmlns:p14="http://schemas.microsoft.com/office/powerpoint/2010/main" val="256420930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1B708B-99F0-4F4A-8995-6044E0FFF0C7}" type="slidenum">
              <a:rPr lang="pt-PT" smtClean="0"/>
              <a:pPr/>
              <a:t>1</a:t>
            </a:fld>
            <a:endParaRPr lang="pt-PT"/>
          </a:p>
        </p:txBody>
      </p:sp>
    </p:spTree>
    <p:extLst>
      <p:ext uri="{BB962C8B-B14F-4D97-AF65-F5344CB8AC3E}">
        <p14:creationId xmlns:p14="http://schemas.microsoft.com/office/powerpoint/2010/main" val="1974827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Shape 14"/>
        <p:cNvGrpSpPr/>
        <p:nvPr/>
      </p:nvGrpSpPr>
      <p:grpSpPr>
        <a:xfrm>
          <a:off x="0" y="0"/>
          <a:ext cx="0" cy="0"/>
          <a:chOff x="0" y="0"/>
          <a:chExt cx="0" cy="0"/>
        </a:xfrm>
      </p:grpSpPr>
      <p:sp>
        <p:nvSpPr>
          <p:cNvPr id="2" name="Retângulo 1">
            <a:extLst>
              <a:ext uri="{FF2B5EF4-FFF2-40B4-BE49-F238E27FC236}">
                <a16:creationId xmlns:a16="http://schemas.microsoft.com/office/drawing/2014/main" id="{E3986928-2F1A-05D5-49A7-ECF44F7E6983}"/>
              </a:ext>
            </a:extLst>
          </p:cNvPr>
          <p:cNvSpPr/>
          <p:nvPr userDrawn="1"/>
        </p:nvSpPr>
        <p:spPr>
          <a:xfrm>
            <a:off x="1" y="1093304"/>
            <a:ext cx="9906000" cy="5764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1"/>
              </a:solidFill>
            </a:endParaRPr>
          </a:p>
        </p:txBody>
      </p:sp>
      <p:sp>
        <p:nvSpPr>
          <p:cNvPr id="15" name="Shape 15"/>
          <p:cNvSpPr txBox="1">
            <a:spLocks noGrp="1"/>
          </p:cNvSpPr>
          <p:nvPr>
            <p:ph type="title"/>
          </p:nvPr>
        </p:nvSpPr>
        <p:spPr>
          <a:xfrm>
            <a:off x="414000" y="4000503"/>
            <a:ext cx="8182338"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0" i="0" u="none" strike="noStrike" cap="none">
                <a:solidFill>
                  <a:srgbClr val="A5ABB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Shape 16"/>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Tree>
    <p:extLst>
      <p:ext uri="{BB962C8B-B14F-4D97-AF65-F5344CB8AC3E}">
        <p14:creationId xmlns:p14="http://schemas.microsoft.com/office/powerpoint/2010/main" val="871060492"/>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Em branco">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685800" y="1066800"/>
            <a:ext cx="8534399" cy="571503"/>
          </a:xfrm>
          <a:prstGeom prst="rect">
            <a:avLst/>
          </a:prstGeom>
          <a:noFill/>
          <a:ln>
            <a:noFill/>
          </a:ln>
        </p:spPr>
        <p:txBody>
          <a:bodyPr wrap="square" lIns="91425" tIns="91425" rIns="91425" bIns="91425" anchor="t" anchorCtr="0"/>
          <a:lstStyle>
            <a:lvl1pPr marL="0" marR="0" lvl="0" indent="0" algn="l" rtl="0">
              <a:spcBef>
                <a:spcPts val="0"/>
              </a:spcBef>
              <a:buClr>
                <a:srgbClr val="000000"/>
              </a:buClr>
              <a:buFont typeface="Calibri"/>
              <a:buNone/>
              <a:defRPr sz="3200" b="1" i="0" u="none" strike="noStrike" cap="none">
                <a:solidFill>
                  <a:srgbClr val="00000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9" name="Shape 19"/>
          <p:cNvSpPr txBox="1">
            <a:spLocks noGrp="1"/>
          </p:cNvSpPr>
          <p:nvPr>
            <p:ph type="body" idx="1"/>
          </p:nvPr>
        </p:nvSpPr>
        <p:spPr>
          <a:xfrm>
            <a:off x="685800" y="1714488"/>
            <a:ext cx="8534399" cy="4305312"/>
          </a:xfrm>
          <a:prstGeom prst="rect">
            <a:avLst/>
          </a:prstGeom>
          <a:noFill/>
          <a:ln>
            <a:noFill/>
          </a:ln>
        </p:spPr>
        <p:txBody>
          <a:bodyPr wrap="square" lIns="91425" tIns="91425" rIns="91425" bIns="91425" anchor="t" anchorCtr="0"/>
          <a:lstStyle>
            <a:lvl1pPr marL="342900" marR="0" lvl="0" indent="-228600" algn="l" rtl="0">
              <a:spcBef>
                <a:spcPts val="0"/>
              </a:spcBef>
              <a:spcAft>
                <a:spcPts val="400"/>
              </a:spcAft>
              <a:buSzPct val="100000"/>
              <a:buFont typeface="Arial"/>
              <a:buChar char="•"/>
              <a:defRPr sz="1800" b="0" i="0" u="none" strike="noStrike" cap="none">
                <a:latin typeface="Calibri"/>
                <a:ea typeface="Calibri"/>
                <a:cs typeface="Calibri"/>
                <a:sym typeface="Calibri"/>
              </a:defRPr>
            </a:lvl1pPr>
            <a:lvl2pPr marL="742950" marR="0" lvl="1" indent="-171450" algn="l" rtl="0">
              <a:spcBef>
                <a:spcPts val="0"/>
              </a:spcBef>
              <a:spcAft>
                <a:spcPts val="400"/>
              </a:spcAft>
              <a:buSzPct val="100000"/>
              <a:buFont typeface="Arial"/>
              <a:buChar char="–"/>
              <a:defRPr sz="1800" b="0" i="0" u="none" strike="noStrike" cap="none">
                <a:latin typeface="Calibri"/>
                <a:ea typeface="Calibri"/>
                <a:cs typeface="Calibri"/>
                <a:sym typeface="Calibri"/>
              </a:defRPr>
            </a:lvl2pPr>
            <a:lvl3pPr marL="1143000" marR="0" lvl="2" indent="-228600" algn="l" rtl="0">
              <a:spcBef>
                <a:spcPts val="0"/>
              </a:spcBef>
              <a:spcAft>
                <a:spcPts val="400"/>
              </a:spcAft>
              <a:buFont typeface="Arial"/>
              <a:buChar char="■"/>
              <a:defRPr sz="1800" b="0" i="0" u="none" strike="noStrike" cap="none">
                <a:latin typeface="Calibri"/>
                <a:ea typeface="Calibri"/>
                <a:cs typeface="Calibri"/>
                <a:sym typeface="Calibri"/>
              </a:defRPr>
            </a:lvl3pPr>
            <a:lvl4pPr marL="1600200" marR="0" lvl="3" indent="-114300" algn="l" rtl="0">
              <a:spcBef>
                <a:spcPts val="0"/>
              </a:spcBef>
              <a:spcAft>
                <a:spcPts val="400"/>
              </a:spcAft>
              <a:buSzPct val="100000"/>
              <a:buFont typeface="Arial"/>
              <a:buChar char="–"/>
              <a:defRPr sz="1800" b="0" i="0" u="none" strike="noStrike" cap="none">
                <a:latin typeface="Calibri"/>
                <a:ea typeface="Calibri"/>
                <a:cs typeface="Calibri"/>
                <a:sym typeface="Calibri"/>
              </a:defRPr>
            </a:lvl4pPr>
            <a:lvl5pPr marL="2057400" marR="0" lvl="4" indent="-114300" algn="l" rtl="0">
              <a:spcBef>
                <a:spcPts val="0"/>
              </a:spcBef>
              <a:spcAft>
                <a:spcPts val="400"/>
              </a:spcAft>
              <a:buSzPct val="100000"/>
              <a:buFont typeface="Arial"/>
              <a:buChar char="»"/>
              <a:defRPr sz="1800" b="0" i="0" u="none" strike="noStrike" cap="none">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dirty="0"/>
          </a:p>
        </p:txBody>
      </p:sp>
      <p:sp>
        <p:nvSpPr>
          <p:cNvPr id="2" name="Retângulo 1">
            <a:extLst>
              <a:ext uri="{FF2B5EF4-FFF2-40B4-BE49-F238E27FC236}">
                <a16:creationId xmlns:a16="http://schemas.microsoft.com/office/drawing/2014/main" id="{761D1FC4-6243-41CD-9D5B-A6553C84873C}"/>
              </a:ext>
            </a:extLst>
          </p:cNvPr>
          <p:cNvSpPr/>
          <p:nvPr userDrawn="1"/>
        </p:nvSpPr>
        <p:spPr>
          <a:xfrm>
            <a:off x="579188" y="6525785"/>
            <a:ext cx="1451038" cy="276999"/>
          </a:xfrm>
          <a:prstGeom prst="rect">
            <a:avLst/>
          </a:prstGeom>
        </p:spPr>
        <p:txBody>
          <a:bodyPr wrap="none">
            <a:spAutoFit/>
          </a:bodyPr>
          <a:lstStyle/>
          <a:p>
            <a:r>
              <a:rPr lang="pt-PT" sz="1200" b="1" i="1" err="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Internal</a:t>
            </a:r>
            <a:r>
              <a:rPr lang="pt-PT" sz="1200" b="1" i="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 Use </a:t>
            </a:r>
            <a:r>
              <a:rPr lang="pt-PT" sz="1200" b="1" i="1" err="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Only</a:t>
            </a:r>
            <a:endParaRPr lang="pt-PT" sz="1200" i="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endParaRPr>
          </a:p>
        </p:txBody>
      </p:sp>
    </p:spTree>
    <p:extLst>
      <p:ext uri="{BB962C8B-B14F-4D97-AF65-F5344CB8AC3E}">
        <p14:creationId xmlns:p14="http://schemas.microsoft.com/office/powerpoint/2010/main" val="2739653128"/>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380967" y="4000503"/>
            <a:ext cx="8215370"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0"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3" name="Shape 23"/>
          <p:cNvSpPr txBox="1">
            <a:spLocks noGrp="1"/>
          </p:cNvSpPr>
          <p:nvPr>
            <p:ph type="body" idx="1"/>
          </p:nvPr>
        </p:nvSpPr>
        <p:spPr>
          <a:xfrm>
            <a:off x="390552" y="4808553"/>
            <a:ext cx="6848464" cy="406396"/>
          </a:xfrm>
          <a:prstGeom prst="rect">
            <a:avLst/>
          </a:prstGeom>
          <a:noFill/>
          <a:ln>
            <a:noFill/>
          </a:ln>
        </p:spPr>
        <p:txBody>
          <a:bodyPr wrap="square" lIns="91425" tIns="91425" rIns="91425" bIns="91425" anchor="b" anchorCtr="0"/>
          <a:lstStyle>
            <a:lvl1pPr marL="0" marR="0" lvl="0" indent="0" algn="l" rtl="0">
              <a:spcBef>
                <a:spcPts val="0"/>
              </a:spcBef>
              <a:spcAft>
                <a:spcPts val="400"/>
              </a:spcAft>
              <a:buClr>
                <a:srgbClr val="888888"/>
              </a:buClr>
              <a:buFont typeface="Arial"/>
              <a:buChar char="●"/>
              <a:defRPr sz="2000" b="0" i="0" u="none" strike="noStrike" cap="none">
                <a:solidFill>
                  <a:srgbClr val="888888"/>
                </a:solidFill>
                <a:latin typeface="Calibri"/>
                <a:ea typeface="Calibri"/>
                <a:cs typeface="Calibri"/>
                <a:sym typeface="Calibri"/>
              </a:defRPr>
            </a:lvl1pPr>
            <a:lvl2pPr marL="457200" marR="0" lvl="1" indent="0" algn="l" rtl="0">
              <a:spcBef>
                <a:spcPts val="0"/>
              </a:spcBef>
              <a:spcAft>
                <a:spcPts val="400"/>
              </a:spcAft>
              <a:buClr>
                <a:srgbClr val="888888"/>
              </a:buClr>
              <a:buFont typeface="Arial"/>
              <a:buChar char="○"/>
              <a:defRPr sz="1800" b="0" i="0" u="none" strike="noStrike" cap="none">
                <a:solidFill>
                  <a:srgbClr val="888888"/>
                </a:solidFill>
                <a:latin typeface="Calibri"/>
                <a:ea typeface="Calibri"/>
                <a:cs typeface="Calibri"/>
                <a:sym typeface="Calibri"/>
              </a:defRPr>
            </a:lvl2pPr>
            <a:lvl3pPr marL="914400" marR="0" lvl="2" indent="0" algn="l" rtl="0">
              <a:spcBef>
                <a:spcPts val="0"/>
              </a:spcBef>
              <a:spcAft>
                <a:spcPts val="400"/>
              </a:spcAft>
              <a:buClr>
                <a:srgbClr val="888888"/>
              </a:buClr>
              <a:buFont typeface="Arial"/>
              <a:buChar char="■"/>
              <a:defRPr sz="1600" b="0" i="0" u="none" strike="noStrike" cap="none">
                <a:solidFill>
                  <a:srgbClr val="888888"/>
                </a:solidFill>
                <a:latin typeface="Calibri"/>
                <a:ea typeface="Calibri"/>
                <a:cs typeface="Calibri"/>
                <a:sym typeface="Calibri"/>
              </a:defRPr>
            </a:lvl3pPr>
            <a:lvl4pPr marL="1371600" marR="0" lvl="3" indent="0" algn="l" rtl="0">
              <a:spcBef>
                <a:spcPts val="0"/>
              </a:spcBef>
              <a:spcAft>
                <a:spcPts val="400"/>
              </a:spcAft>
              <a:buClr>
                <a:srgbClr val="888888"/>
              </a:buClr>
              <a:buFont typeface="Arial"/>
              <a:buChar char="●"/>
              <a:defRPr sz="1400" b="0" i="0" u="none" strike="noStrike" cap="none">
                <a:solidFill>
                  <a:srgbClr val="888888"/>
                </a:solidFill>
                <a:latin typeface="Calibri"/>
                <a:ea typeface="Calibri"/>
                <a:cs typeface="Calibri"/>
                <a:sym typeface="Calibri"/>
              </a:defRPr>
            </a:lvl4pPr>
            <a:lvl5pPr marL="1828800" marR="0" lvl="4" indent="0" algn="l" rtl="0">
              <a:spcBef>
                <a:spcPts val="0"/>
              </a:spcBef>
              <a:spcAft>
                <a:spcPts val="400"/>
              </a:spcAft>
              <a:buClr>
                <a:srgbClr val="888888"/>
              </a:buClr>
              <a:buFont typeface="Arial"/>
              <a:buChar char="○"/>
              <a:defRPr sz="1400" b="0" i="0" u="none" strike="noStrike" cap="none">
                <a:solidFill>
                  <a:srgbClr val="888888"/>
                </a:solidFill>
                <a:latin typeface="Calibri"/>
                <a:ea typeface="Calibri"/>
                <a:cs typeface="Calibri"/>
                <a:sym typeface="Calibri"/>
              </a:defRPr>
            </a:lvl5pPr>
            <a:lvl6pPr marL="2286000" marR="0" lvl="5"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6pPr>
            <a:lvl7pPr marL="2743200" marR="0" lvl="6"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7pPr>
            <a:lvl8pPr marL="3200400" marR="0" lvl="7"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8pPr>
            <a:lvl9pPr marL="3657600" marR="0" lvl="8"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9pPr>
          </a:lstStyle>
          <a:p>
            <a:endParaRPr dirty="0"/>
          </a:p>
        </p:txBody>
      </p:sp>
      <p:sp>
        <p:nvSpPr>
          <p:cNvPr id="24" name="Shape 24"/>
          <p:cNvSpPr txBox="1">
            <a:spLocks noGrp="1"/>
          </p:cNvSpPr>
          <p:nvPr>
            <p:ph type="dt" idx="10"/>
          </p:nvPr>
        </p:nvSpPr>
        <p:spPr>
          <a:xfrm>
            <a:off x="452406"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518983840"/>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e objecto">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414000" y="1000108"/>
            <a:ext cx="9043200"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7" name="Shape 27"/>
          <p:cNvSpPr txBox="1">
            <a:spLocks noGrp="1"/>
          </p:cNvSpPr>
          <p:nvPr>
            <p:ph type="body" idx="1"/>
          </p:nvPr>
        </p:nvSpPr>
        <p:spPr>
          <a:xfrm>
            <a:off x="414000" y="1714486"/>
            <a:ext cx="90432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0" name="Shape 30"/>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3799919366"/>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údo Duplo">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685800" y="1066800"/>
            <a:ext cx="87713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3" name="Shape 33"/>
          <p:cNvSpPr txBox="1">
            <a:spLocks noGrp="1"/>
          </p:cNvSpPr>
          <p:nvPr>
            <p:ph type="body" idx="1"/>
          </p:nvPr>
        </p:nvSpPr>
        <p:spPr>
          <a:xfrm>
            <a:off x="414000" y="1696519"/>
            <a:ext cx="45000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4" name="Shape 34"/>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
        <p:nvSpPr>
          <p:cNvPr id="37" name="Shape 37"/>
          <p:cNvSpPr txBox="1">
            <a:spLocks noGrp="1"/>
          </p:cNvSpPr>
          <p:nvPr>
            <p:ph type="body" idx="2"/>
          </p:nvPr>
        </p:nvSpPr>
        <p:spPr>
          <a:xfrm>
            <a:off x="4968000" y="1696519"/>
            <a:ext cx="45000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64908252"/>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Shape 38"/>
        <p:cNvGrpSpPr/>
        <p:nvPr/>
      </p:nvGrpSpPr>
      <p:grpSpPr>
        <a:xfrm>
          <a:off x="0" y="0"/>
          <a:ext cx="0" cy="0"/>
          <a:chOff x="0" y="0"/>
          <a:chExt cx="0" cy="0"/>
        </a:xfrm>
      </p:grpSpPr>
      <p:sp>
        <p:nvSpPr>
          <p:cNvPr id="39" name="Shape 39"/>
          <p:cNvSpPr>
            <a:spLocks noGrp="1"/>
          </p:cNvSpPr>
          <p:nvPr>
            <p:ph type="pic" idx="2"/>
          </p:nvPr>
        </p:nvSpPr>
        <p:spPr>
          <a:xfrm>
            <a:off x="414000" y="1004400"/>
            <a:ext cx="9043200" cy="5309999"/>
          </a:xfrm>
          <a:prstGeom prst="rect">
            <a:avLst/>
          </a:prstGeom>
          <a:noFill/>
          <a:ln>
            <a:noFill/>
          </a:ln>
        </p:spPr>
        <p:txBody>
          <a:bodyPr wrap="square" lIns="91425" tIns="91425" rIns="91425" bIns="91425" anchor="t" anchorCtr="0"/>
          <a:lstStyle>
            <a:lvl1pPr marL="0" marR="0" lvl="0" indent="0" algn="l" rtl="0">
              <a:spcBef>
                <a:spcPts val="0"/>
              </a:spcBef>
              <a:spcAft>
                <a:spcPts val="400"/>
              </a:spcAft>
              <a:buClr>
                <a:srgbClr val="D8D8D8"/>
              </a:buClr>
              <a:buFont typeface="Arial"/>
              <a:buNone/>
              <a:defRPr sz="3200" b="0" i="0" u="none" strike="noStrike" cap="none">
                <a:solidFill>
                  <a:srgbClr val="D8D8D8"/>
                </a:solidFill>
                <a:latin typeface="Calibri"/>
                <a:ea typeface="Calibri"/>
                <a:cs typeface="Calibri"/>
                <a:sym typeface="Calibri"/>
              </a:defRPr>
            </a:lvl1pPr>
            <a:lvl2pPr marL="457200" marR="0" lvl="1" indent="0" algn="l" rtl="0">
              <a:spcBef>
                <a:spcPts val="0"/>
              </a:spcBef>
              <a:spcAft>
                <a:spcPts val="400"/>
              </a:spcAft>
              <a:buClr>
                <a:srgbClr val="D8D8D8"/>
              </a:buClr>
              <a:buFont typeface="Arial"/>
              <a:buNone/>
              <a:defRPr sz="2800" b="0" i="0" u="none" strike="noStrike" cap="none">
                <a:solidFill>
                  <a:srgbClr val="D8D8D8"/>
                </a:solidFill>
                <a:latin typeface="Calibri"/>
                <a:ea typeface="Calibri"/>
                <a:cs typeface="Calibri"/>
                <a:sym typeface="Calibri"/>
              </a:defRPr>
            </a:lvl2pPr>
            <a:lvl3pPr marL="914400" marR="0" lvl="2" indent="0" algn="l" rtl="0">
              <a:spcBef>
                <a:spcPts val="0"/>
              </a:spcBef>
              <a:spcAft>
                <a:spcPts val="400"/>
              </a:spcAft>
              <a:buClr>
                <a:srgbClr val="D8D8D8"/>
              </a:buClr>
              <a:buFont typeface="Arial"/>
              <a:buNone/>
              <a:defRPr sz="2400" b="0" i="0" u="none" strike="noStrike" cap="none">
                <a:solidFill>
                  <a:srgbClr val="D8D8D8"/>
                </a:solidFill>
                <a:latin typeface="Calibri"/>
                <a:ea typeface="Calibri"/>
                <a:cs typeface="Calibri"/>
                <a:sym typeface="Calibri"/>
              </a:defRPr>
            </a:lvl3pPr>
            <a:lvl4pPr marL="1371600" marR="0" lvl="3" indent="0" algn="l" rtl="0">
              <a:spcBef>
                <a:spcPts val="0"/>
              </a:spcBef>
              <a:spcAft>
                <a:spcPts val="400"/>
              </a:spcAft>
              <a:buClr>
                <a:srgbClr val="D8D8D8"/>
              </a:buClr>
              <a:buFont typeface="Arial"/>
              <a:buNone/>
              <a:defRPr sz="2000" b="0" i="0" u="none" strike="noStrike" cap="none">
                <a:solidFill>
                  <a:srgbClr val="D8D8D8"/>
                </a:solidFill>
                <a:latin typeface="Calibri"/>
                <a:ea typeface="Calibri"/>
                <a:cs typeface="Calibri"/>
                <a:sym typeface="Calibri"/>
              </a:defRPr>
            </a:lvl4pPr>
            <a:lvl5pPr marL="1828800" marR="0" lvl="4" indent="0" algn="l" rtl="0">
              <a:spcBef>
                <a:spcPts val="0"/>
              </a:spcBef>
              <a:spcAft>
                <a:spcPts val="400"/>
              </a:spcAft>
              <a:buClr>
                <a:srgbClr val="D8D8D8"/>
              </a:buClr>
              <a:buFont typeface="Arial"/>
              <a:buNone/>
              <a:defRPr sz="2000" b="0" i="0" u="none" strike="noStrike" cap="none">
                <a:solidFill>
                  <a:srgbClr val="D8D8D8"/>
                </a:solidFill>
                <a:latin typeface="Calibri"/>
                <a:ea typeface="Calibri"/>
                <a:cs typeface="Calibri"/>
                <a:sym typeface="Calibri"/>
              </a:defRPr>
            </a:lvl5pPr>
            <a:lvl6pPr marL="2286000" marR="0" lvl="5"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6pPr>
            <a:lvl7pPr marL="2743200" marR="0" lvl="6"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7pPr>
            <a:lvl8pPr marL="3200400" marR="0" lvl="7"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8pPr>
            <a:lvl9pPr marL="3657600" marR="0" lvl="8"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9pPr>
          </a:lstStyle>
          <a:p>
            <a:endParaRPr/>
          </a:p>
        </p:txBody>
      </p:sp>
      <p:sp>
        <p:nvSpPr>
          <p:cNvPr id="40" name="Shape 40"/>
          <p:cNvSpPr txBox="1">
            <a:spLocks noGrp="1"/>
          </p:cNvSpPr>
          <p:nvPr>
            <p:ph type="title"/>
          </p:nvPr>
        </p:nvSpPr>
        <p:spPr>
          <a:xfrm>
            <a:off x="523843" y="5505467"/>
            <a:ext cx="5943599" cy="352424"/>
          </a:xfrm>
          <a:prstGeom prst="rect">
            <a:avLst/>
          </a:prstGeom>
          <a:solidFill>
            <a:schemeClr val="lt1"/>
          </a:solidFill>
          <a:ln>
            <a:noFill/>
          </a:ln>
        </p:spPr>
        <p:txBody>
          <a:bodyPr wrap="square" lIns="91425" tIns="91425" rIns="91425" bIns="91425" anchor="b" anchorCtr="0"/>
          <a:lstStyle>
            <a:lvl1pPr marL="0" marR="0" lvl="0" indent="0" algn="l" rtl="0">
              <a:spcBef>
                <a:spcPts val="0"/>
              </a:spcBef>
              <a:buClr>
                <a:schemeClr val="lt1"/>
              </a:buClr>
              <a:buFont typeface="Calibri"/>
              <a:buNone/>
              <a:defRPr sz="2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1" name="Shape 41"/>
          <p:cNvSpPr txBox="1">
            <a:spLocks noGrp="1"/>
          </p:cNvSpPr>
          <p:nvPr>
            <p:ph type="body" idx="1"/>
          </p:nvPr>
        </p:nvSpPr>
        <p:spPr>
          <a:xfrm>
            <a:off x="523843" y="5929330"/>
            <a:ext cx="8858312" cy="276239"/>
          </a:xfrm>
          <a:prstGeom prst="rect">
            <a:avLst/>
          </a:prstGeom>
          <a:solidFill>
            <a:schemeClr val="lt1"/>
          </a:solidFill>
          <a:ln>
            <a:noFill/>
          </a:ln>
        </p:spPr>
        <p:txBody>
          <a:bodyPr wrap="square" lIns="91425" tIns="91425" rIns="91425" bIns="91425" anchor="t" anchorCtr="0"/>
          <a:lstStyle>
            <a:lvl1pPr marL="0" marR="0" lvl="0" indent="0" algn="l" rtl="0">
              <a:spcBef>
                <a:spcPts val="0"/>
              </a:spcBef>
              <a:spcAft>
                <a:spcPts val="400"/>
              </a:spcAft>
              <a:buClr>
                <a:srgbClr val="D8D8D8"/>
              </a:buClr>
              <a:buFont typeface="Arial"/>
              <a:buChar char="●"/>
              <a:defRPr sz="1400" b="0" i="0" u="none" strike="noStrike" cap="none">
                <a:solidFill>
                  <a:srgbClr val="D8D8D8"/>
                </a:solidFill>
                <a:latin typeface="Calibri"/>
                <a:ea typeface="Calibri"/>
                <a:cs typeface="Calibri"/>
                <a:sym typeface="Calibri"/>
              </a:defRPr>
            </a:lvl1pPr>
            <a:lvl2pPr marL="457200" marR="0" lvl="1" indent="0" algn="l" rtl="0">
              <a:spcBef>
                <a:spcPts val="0"/>
              </a:spcBef>
              <a:spcAft>
                <a:spcPts val="400"/>
              </a:spcAft>
              <a:buClr>
                <a:srgbClr val="D8D8D8"/>
              </a:buClr>
              <a:buFont typeface="Arial"/>
              <a:buChar char="○"/>
              <a:defRPr sz="1200" b="0" i="0" u="none" strike="noStrike" cap="none">
                <a:solidFill>
                  <a:srgbClr val="D8D8D8"/>
                </a:solidFill>
                <a:latin typeface="Calibri"/>
                <a:ea typeface="Calibri"/>
                <a:cs typeface="Calibri"/>
                <a:sym typeface="Calibri"/>
              </a:defRPr>
            </a:lvl2pPr>
            <a:lvl3pPr marL="914400" marR="0" lvl="2" indent="0" algn="l" rtl="0">
              <a:spcBef>
                <a:spcPts val="0"/>
              </a:spcBef>
              <a:spcAft>
                <a:spcPts val="400"/>
              </a:spcAft>
              <a:buClr>
                <a:srgbClr val="D8D8D8"/>
              </a:buClr>
              <a:buFont typeface="Arial"/>
              <a:buChar char="■"/>
              <a:defRPr sz="1000" b="0" i="0" u="none" strike="noStrike" cap="none">
                <a:solidFill>
                  <a:srgbClr val="D8D8D8"/>
                </a:solidFill>
                <a:latin typeface="Calibri"/>
                <a:ea typeface="Calibri"/>
                <a:cs typeface="Calibri"/>
                <a:sym typeface="Calibri"/>
              </a:defRPr>
            </a:lvl3pPr>
            <a:lvl4pPr marL="1371600" marR="0" lvl="3" indent="0" algn="l" rtl="0">
              <a:spcBef>
                <a:spcPts val="0"/>
              </a:spcBef>
              <a:spcAft>
                <a:spcPts val="400"/>
              </a:spcAft>
              <a:buClr>
                <a:srgbClr val="D8D8D8"/>
              </a:buClr>
              <a:buFont typeface="Arial"/>
              <a:buChar char="●"/>
              <a:defRPr sz="900" b="0" i="0" u="none" strike="noStrike" cap="none">
                <a:solidFill>
                  <a:srgbClr val="D8D8D8"/>
                </a:solidFill>
                <a:latin typeface="Calibri"/>
                <a:ea typeface="Calibri"/>
                <a:cs typeface="Calibri"/>
                <a:sym typeface="Calibri"/>
              </a:defRPr>
            </a:lvl4pPr>
            <a:lvl5pPr marL="1828800" marR="0" lvl="4" indent="0" algn="l" rtl="0">
              <a:spcBef>
                <a:spcPts val="0"/>
              </a:spcBef>
              <a:spcAft>
                <a:spcPts val="400"/>
              </a:spcAft>
              <a:buClr>
                <a:srgbClr val="D8D8D8"/>
              </a:buClr>
              <a:buFont typeface="Arial"/>
              <a:buChar char="○"/>
              <a:defRPr sz="900" b="0" i="0" u="none" strike="noStrike" cap="none">
                <a:solidFill>
                  <a:srgbClr val="D8D8D8"/>
                </a:solidFill>
                <a:latin typeface="Calibri"/>
                <a:ea typeface="Calibri"/>
                <a:cs typeface="Calibri"/>
                <a:sym typeface="Calibri"/>
              </a:defRPr>
            </a:lvl5pPr>
            <a:lvl6pPr marL="2286000" marR="0" lvl="5"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6pPr>
            <a:lvl7pPr marL="2743200" marR="0" lvl="6"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7pPr>
            <a:lvl8pPr marL="3200400" marR="0" lvl="7"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8pPr>
            <a:lvl9pPr marL="3657600" marR="0" lvl="8"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1047615563"/>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m branco">
    <p:spTree>
      <p:nvGrpSpPr>
        <p:cNvPr id="1" name="Shape 45"/>
        <p:cNvGrpSpPr/>
        <p:nvPr/>
      </p:nvGrpSpPr>
      <p:grpSpPr>
        <a:xfrm>
          <a:off x="0" y="0"/>
          <a:ext cx="0" cy="0"/>
          <a:chOff x="0" y="0"/>
          <a:chExt cx="0" cy="0"/>
        </a:xfrm>
      </p:grpSpPr>
      <p:sp>
        <p:nvSpPr>
          <p:cNvPr id="46" name="Shape 46"/>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7" name="Shape 47"/>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8" name="Shape 48"/>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
        <p:nvSpPr>
          <p:cNvPr id="49" name="Shape 49"/>
          <p:cNvSpPr txBox="1">
            <a:spLocks noGrp="1"/>
          </p:cNvSpPr>
          <p:nvPr>
            <p:ph type="title"/>
          </p:nvPr>
        </p:nvSpPr>
        <p:spPr>
          <a:xfrm>
            <a:off x="685800" y="1066800"/>
            <a:ext cx="86105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32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0" name="Shape 50"/>
          <p:cNvSpPr txBox="1">
            <a:spLocks noGrp="1"/>
          </p:cNvSpPr>
          <p:nvPr>
            <p:ph type="body" idx="1"/>
          </p:nvPr>
        </p:nvSpPr>
        <p:spPr>
          <a:xfrm>
            <a:off x="685800" y="1714488"/>
            <a:ext cx="8610599" cy="4572031"/>
          </a:xfrm>
          <a:prstGeom prst="rect">
            <a:avLst/>
          </a:prstGeom>
          <a:noFill/>
          <a:ln>
            <a:noFill/>
          </a:ln>
        </p:spPr>
        <p:txBody>
          <a:bodyPr wrap="square" lIns="91425" tIns="91425" rIns="91425" bIns="91425" anchor="t" anchorCtr="0"/>
          <a:lstStyle>
            <a:lvl1pPr marL="342900" marR="0" lvl="0" indent="-2286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800" b="0" i="0" u="none" strike="noStrike" cap="none">
                <a:solidFill>
                  <a:srgbClr val="D8D8D8"/>
                </a:solidFill>
                <a:latin typeface="Calibri"/>
                <a:ea typeface="Calibri"/>
                <a:cs typeface="Calibri"/>
                <a:sym typeface="Calibri"/>
              </a:defRPr>
            </a:lvl3pPr>
            <a:lvl4pPr marL="1600200" marR="0" lvl="3" indent="-1143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4pPr>
            <a:lvl5pPr marL="2057400" marR="0" lvl="4" indent="-1143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091872310"/>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trada">
    <p:spTree>
      <p:nvGrpSpPr>
        <p:cNvPr id="1" name="Shape 51"/>
        <p:cNvGrpSpPr/>
        <p:nvPr/>
      </p:nvGrpSpPr>
      <p:grpSpPr>
        <a:xfrm>
          <a:off x="0" y="0"/>
          <a:ext cx="0" cy="0"/>
          <a:chOff x="0" y="0"/>
          <a:chExt cx="0" cy="0"/>
        </a:xfrm>
      </p:grpSpPr>
      <p:sp>
        <p:nvSpPr>
          <p:cNvPr id="52" name="Shape 52"/>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3" name="Shape 53"/>
          <p:cNvSpPr txBox="1"/>
          <p:nvPr/>
        </p:nvSpPr>
        <p:spPr>
          <a:xfrm flipH="1">
            <a:off x="6764158" y="4953000"/>
            <a:ext cx="182741" cy="374710"/>
          </a:xfrm>
          <a:prstGeom prst="rect">
            <a:avLst/>
          </a:prstGeom>
          <a:solidFill>
            <a:schemeClr val="lt1">
              <a:alpha val="69803"/>
            </a:schemeClr>
          </a:solidFill>
          <a:ln>
            <a:noFill/>
          </a:ln>
        </p:spPr>
        <p:txBody>
          <a:bodyPr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Arial"/>
              <a:buNone/>
            </a:pPr>
            <a:endParaRPr sz="2000" b="0" i="0" u="none" strike="noStrike" cap="none">
              <a:solidFill>
                <a:srgbClr val="00CAEF"/>
              </a:solidFill>
              <a:latin typeface="Arial"/>
              <a:ea typeface="Arial"/>
              <a:cs typeface="Arial"/>
              <a:sym typeface="Arial"/>
            </a:endParaRPr>
          </a:p>
        </p:txBody>
      </p:sp>
    </p:spTree>
    <p:extLst>
      <p:ext uri="{BB962C8B-B14F-4D97-AF65-F5344CB8AC3E}">
        <p14:creationId xmlns:p14="http://schemas.microsoft.com/office/powerpoint/2010/main" val="2676512783"/>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entrada">
    <p:spTree>
      <p:nvGrpSpPr>
        <p:cNvPr id="1" name="Shape 54"/>
        <p:cNvGrpSpPr/>
        <p:nvPr/>
      </p:nvGrpSpPr>
      <p:grpSpPr>
        <a:xfrm>
          <a:off x="0" y="0"/>
          <a:ext cx="0" cy="0"/>
          <a:chOff x="0" y="0"/>
          <a:chExt cx="0" cy="0"/>
        </a:xfrm>
      </p:grpSpPr>
      <p:sp>
        <p:nvSpPr>
          <p:cNvPr id="55" name="Shape 55"/>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291598524"/>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squema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4650209"/>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údo Dup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noAutofit/>
          </a:bodyPr>
          <a:lstStyle>
            <a:lvl1pPr>
              <a:defRPr sz="4000" b="1" cap="all" baseline="0"/>
            </a:lvl1pPr>
          </a:lstStyle>
          <a:p>
            <a:r>
              <a:rPr lang="pt-PT" dirty="0"/>
              <a:t>Clique para editar o estilo »</a:t>
            </a:r>
          </a:p>
        </p:txBody>
      </p:sp>
      <p:sp>
        <p:nvSpPr>
          <p:cNvPr id="3" name="Marcador de Posição de Conteúdo 2"/>
          <p:cNvSpPr>
            <a:spLocks noGrp="1"/>
          </p:cNvSpPr>
          <p:nvPr>
            <p:ph sz="half" idx="1"/>
          </p:nvPr>
        </p:nvSpPr>
        <p:spPr>
          <a:xfrm>
            <a:off x="414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5" name="Marcador de Posição da Data 4"/>
          <p:cNvSpPr>
            <a:spLocks noGrp="1"/>
          </p:cNvSpPr>
          <p:nvPr>
            <p:ph type="dt" sz="half" idx="10"/>
          </p:nvPr>
        </p:nvSpPr>
        <p:spPr/>
        <p:txBody>
          <a:bodyPr/>
          <a:lstStyle/>
          <a:p>
            <a:fld id="{44B11A7A-C2E1-40A3-A304-BADFC0305F97}" type="datetimeFigureOut">
              <a:rPr lang="pt-PT" smtClean="0"/>
              <a:pPr/>
              <a:t>26/10/2025</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9F46AC24-9121-4D27-8FE4-0595B5E1EC6D}" type="slidenum">
              <a:rPr lang="pt-PT" smtClean="0"/>
              <a:pPr/>
              <a:t>‹#›</a:t>
            </a:fld>
            <a:endParaRPr lang="pt-PT"/>
          </a:p>
        </p:txBody>
      </p:sp>
      <p:sp>
        <p:nvSpPr>
          <p:cNvPr id="8" name="Marcador de Posição de Conteúdo 2"/>
          <p:cNvSpPr>
            <a:spLocks noGrp="1"/>
          </p:cNvSpPr>
          <p:nvPr>
            <p:ph sz="half" idx="13"/>
          </p:nvPr>
        </p:nvSpPr>
        <p:spPr>
          <a:xfrm>
            <a:off x="4968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721517040"/>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44B11A7A-C2E1-40A3-A304-BADFC0305F97}" type="datetimeFigureOut">
              <a:rPr lang="pt-PT" smtClean="0"/>
              <a:pPr/>
              <a:t>26/10/2025</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9F46AC24-9121-4D27-8FE4-0595B5E1EC6D}" type="slidenum">
              <a:rPr lang="pt-PT" smtClean="0"/>
              <a:pPr/>
              <a:t>‹#›</a:t>
            </a:fld>
            <a:endParaRPr lang="pt-PT"/>
          </a:p>
        </p:txBody>
      </p:sp>
      <p:sp>
        <p:nvSpPr>
          <p:cNvPr id="5" name="Marcador de Posição do Título 1"/>
          <p:cNvSpPr>
            <a:spLocks noGrp="1"/>
          </p:cNvSpPr>
          <p:nvPr>
            <p:ph type="title"/>
          </p:nvPr>
        </p:nvSpPr>
        <p:spPr>
          <a:xfrm>
            <a:off x="685800" y="1066800"/>
            <a:ext cx="86106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hasCustomPrompt="1"/>
          </p:nvPr>
        </p:nvSpPr>
        <p:spPr>
          <a:xfrm>
            <a:off x="685800" y="1714488"/>
            <a:ext cx="8610600" cy="4572032"/>
          </a:xfrm>
          <a:prstGeom prst="rect">
            <a:avLst/>
          </a:prstGeom>
        </p:spPr>
        <p:txBody>
          <a:bodyPr vert="horz" lIns="91440" tIns="45720" rIns="91440" bIns="45720" rtlCol="0">
            <a:normAutofit/>
          </a:bodyPr>
          <a:lstStyle/>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2694208087"/>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Em branc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Marcador de Posição do Título 1"/>
          <p:cNvSpPr>
            <a:spLocks noGrp="1"/>
          </p:cNvSpPr>
          <p:nvPr>
            <p:ph type="title"/>
          </p:nvPr>
        </p:nvSpPr>
        <p:spPr>
          <a:xfrm>
            <a:off x="685800" y="1066800"/>
            <a:ext cx="85344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p:nvPr>
        </p:nvSpPr>
        <p:spPr>
          <a:xfrm>
            <a:off x="685800" y="1714488"/>
            <a:ext cx="8534400" cy="4305312"/>
          </a:xfrm>
          <a:prstGeom prst="rect">
            <a:avLst/>
          </a:prstGeom>
        </p:spPr>
        <p:txBody>
          <a:bodyPr vert="horz" lIns="91440" tIns="45720" rIns="91440" bIns="45720" rtlCol="0">
            <a:normAutofit/>
          </a:bodyPr>
          <a:lstStyle>
            <a:lvl1pPr>
              <a:defRPr sz="1800">
                <a:solidFill>
                  <a:srgbClr val="D9D9D9"/>
                </a:solidFill>
              </a:defRPr>
            </a:lvl1pPr>
            <a:lvl2pPr>
              <a:defRPr sz="1800">
                <a:solidFill>
                  <a:srgbClr val="D9D9D9"/>
                </a:solidFill>
              </a:defRPr>
            </a:lvl2pPr>
            <a:lvl3pPr>
              <a:defRPr sz="1800">
                <a:solidFill>
                  <a:srgbClr val="D9D9D9"/>
                </a:solidFill>
              </a:defRPr>
            </a:lvl3pPr>
            <a:lvl4pPr>
              <a:defRPr sz="1800">
                <a:solidFill>
                  <a:srgbClr val="D9D9D9"/>
                </a:solidFill>
              </a:defRPr>
            </a:lvl4pPr>
            <a:lvl5pPr>
              <a:defRPr sz="1800">
                <a:solidFill>
                  <a:srgbClr val="D9D9D9"/>
                </a:solidFill>
              </a:defRPr>
            </a:lvl5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792648683"/>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nteúdo Dup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noAutofit/>
          </a:bodyPr>
          <a:lstStyle>
            <a:lvl1pPr>
              <a:defRPr sz="4000" b="1" cap="all" baseline="0"/>
            </a:lvl1pPr>
          </a:lstStyle>
          <a:p>
            <a:r>
              <a:rPr lang="pt-PT" dirty="0"/>
              <a:t>Clique para editar o estilo »</a:t>
            </a:r>
          </a:p>
        </p:txBody>
      </p:sp>
      <p:sp>
        <p:nvSpPr>
          <p:cNvPr id="3" name="Marcador de Posição de Conteúdo 2"/>
          <p:cNvSpPr>
            <a:spLocks noGrp="1"/>
          </p:cNvSpPr>
          <p:nvPr>
            <p:ph sz="half" idx="1"/>
          </p:nvPr>
        </p:nvSpPr>
        <p:spPr>
          <a:xfrm>
            <a:off x="414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5" name="Marcador de Posição da Data 4"/>
          <p:cNvSpPr>
            <a:spLocks noGrp="1"/>
          </p:cNvSpPr>
          <p:nvPr>
            <p:ph type="dt" sz="half" idx="10"/>
          </p:nvPr>
        </p:nvSpPr>
        <p:spPr/>
        <p:txBody>
          <a:bodyPr/>
          <a:lstStyle/>
          <a:p>
            <a:fld id="{44B11A7A-C2E1-40A3-A304-BADFC0305F97}" type="datetimeFigureOut">
              <a:rPr lang="pt-PT" smtClean="0"/>
              <a:pPr/>
              <a:t>26/10/2025</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9F46AC24-9121-4D27-8FE4-0595B5E1EC6D}" type="slidenum">
              <a:rPr lang="pt-PT" smtClean="0"/>
              <a:pPr/>
              <a:t>‹#›</a:t>
            </a:fld>
            <a:endParaRPr lang="pt-PT"/>
          </a:p>
        </p:txBody>
      </p:sp>
      <p:sp>
        <p:nvSpPr>
          <p:cNvPr id="8" name="Marcador de Posição de Conteúdo 2"/>
          <p:cNvSpPr>
            <a:spLocks noGrp="1"/>
          </p:cNvSpPr>
          <p:nvPr>
            <p:ph sz="half" idx="13"/>
          </p:nvPr>
        </p:nvSpPr>
        <p:spPr>
          <a:xfrm>
            <a:off x="4968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44B11A7A-C2E1-40A3-A304-BADFC0305F97}" type="datetimeFigureOut">
              <a:rPr lang="pt-PT" smtClean="0"/>
              <a:pPr/>
              <a:t>26/10/2025</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9F46AC24-9121-4D27-8FE4-0595B5E1EC6D}" type="slidenum">
              <a:rPr lang="pt-PT" smtClean="0"/>
              <a:pPr/>
              <a:t>‹#›</a:t>
            </a:fld>
            <a:endParaRPr lang="pt-PT"/>
          </a:p>
        </p:txBody>
      </p:sp>
      <p:sp>
        <p:nvSpPr>
          <p:cNvPr id="5" name="Marcador de Posição do Título 1"/>
          <p:cNvSpPr>
            <a:spLocks noGrp="1"/>
          </p:cNvSpPr>
          <p:nvPr>
            <p:ph type="title"/>
          </p:nvPr>
        </p:nvSpPr>
        <p:spPr>
          <a:xfrm>
            <a:off x="685800" y="1066800"/>
            <a:ext cx="86106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hasCustomPrompt="1"/>
          </p:nvPr>
        </p:nvSpPr>
        <p:spPr>
          <a:xfrm>
            <a:off x="685800" y="1714488"/>
            <a:ext cx="8610600" cy="4572032"/>
          </a:xfrm>
          <a:prstGeom prst="rect">
            <a:avLst/>
          </a:prstGeom>
        </p:spPr>
        <p:txBody>
          <a:bodyPr vert="horz" lIns="91440" tIns="45720" rIns="91440" bIns="45720" rtlCol="0">
            <a:normAutofit/>
          </a:bodyPr>
          <a:lstStyle/>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Em branc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Marcador de Posição do Título 1"/>
          <p:cNvSpPr>
            <a:spLocks noGrp="1"/>
          </p:cNvSpPr>
          <p:nvPr>
            <p:ph type="title"/>
          </p:nvPr>
        </p:nvSpPr>
        <p:spPr>
          <a:xfrm>
            <a:off x="685800" y="1066800"/>
            <a:ext cx="85344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p:nvPr>
        </p:nvSpPr>
        <p:spPr>
          <a:xfrm>
            <a:off x="685800" y="1714488"/>
            <a:ext cx="8534400" cy="4305312"/>
          </a:xfrm>
          <a:prstGeom prst="rect">
            <a:avLst/>
          </a:prstGeom>
        </p:spPr>
        <p:txBody>
          <a:bodyPr vert="horz" lIns="91440" tIns="45720" rIns="91440" bIns="45720" rtlCol="0">
            <a:normAutofit/>
          </a:bodyPr>
          <a:lstStyle>
            <a:lvl1pPr>
              <a:defRPr sz="1800">
                <a:solidFill>
                  <a:srgbClr val="D9D9D9"/>
                </a:solidFill>
              </a:defRPr>
            </a:lvl1pPr>
            <a:lvl2pPr>
              <a:defRPr sz="1800">
                <a:solidFill>
                  <a:srgbClr val="D9D9D9"/>
                </a:solidFill>
              </a:defRPr>
            </a:lvl2pPr>
            <a:lvl3pPr>
              <a:defRPr sz="1800">
                <a:solidFill>
                  <a:srgbClr val="D9D9D9"/>
                </a:solidFill>
              </a:defRPr>
            </a:lvl3pPr>
            <a:lvl4pPr>
              <a:defRPr sz="1800">
                <a:solidFill>
                  <a:srgbClr val="D9D9D9"/>
                </a:solidFill>
              </a:defRPr>
            </a:lvl4pPr>
            <a:lvl5pPr>
              <a:defRPr sz="1800">
                <a:solidFill>
                  <a:srgbClr val="D9D9D9"/>
                </a:solidFill>
              </a:defRPr>
            </a:lvl5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9"/>
        <p:cNvGrpSpPr/>
        <p:nvPr/>
      </p:nvGrpSpPr>
      <p:grpSpPr>
        <a:xfrm>
          <a:off x="0" y="0"/>
          <a:ext cx="0" cy="0"/>
          <a:chOff x="0" y="0"/>
          <a:chExt cx="0" cy="0"/>
        </a:xfrm>
      </p:grpSpPr>
      <p:sp>
        <p:nvSpPr>
          <p:cNvPr id="4" name="Retângulo: Cantos Arredondados 3">
            <a:extLst>
              <a:ext uri="{FF2B5EF4-FFF2-40B4-BE49-F238E27FC236}">
                <a16:creationId xmlns:a16="http://schemas.microsoft.com/office/drawing/2014/main" id="{CD0DF30C-F77B-4F2F-9EB1-3B93EBB0DB99}"/>
              </a:ext>
            </a:extLst>
          </p:cNvPr>
          <p:cNvSpPr/>
          <p:nvPr userDrawn="1"/>
        </p:nvSpPr>
        <p:spPr>
          <a:xfrm>
            <a:off x="324908" y="6390861"/>
            <a:ext cx="9214886" cy="467139"/>
          </a:xfrm>
          <a:prstGeom prst="roundRect">
            <a:avLst>
              <a:gd name="adj" fmla="val 6170"/>
            </a:avLst>
          </a:prstGeom>
          <a:solidFill>
            <a:srgbClr val="9A1A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9A1A24"/>
              </a:solidFill>
            </a:endParaRPr>
          </a:p>
        </p:txBody>
      </p:sp>
      <p:sp>
        <p:nvSpPr>
          <p:cNvPr id="10" name="Shape 10"/>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1" name="Shape 11"/>
          <p:cNvSpPr txBox="1">
            <a:spLocks noGrp="1"/>
          </p:cNvSpPr>
          <p:nvPr>
            <p:ph type="ftr" idx="11"/>
          </p:nvPr>
        </p:nvSpPr>
        <p:spPr>
          <a:xfrm>
            <a:off x="1666851" y="6492898"/>
            <a:ext cx="6831106"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1" u="none" strike="noStrike" cap="none">
                <a:solidFill>
                  <a:srgbClr val="888888"/>
                </a:solidFill>
                <a:latin typeface="Kozuka Gothic Pro M" panose="020B0700000000000000" pitchFamily="34" charset="-128"/>
                <a:ea typeface="Kozuka Gothic Pro M" panose="020B0700000000000000" pitchFamily="34" charset="-128"/>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pt-PT" dirty="0"/>
          </a:p>
        </p:txBody>
      </p:sp>
      <p:sp>
        <p:nvSpPr>
          <p:cNvPr id="12" name="Shape 12"/>
          <p:cNvSpPr txBox="1">
            <a:spLocks noGrp="1"/>
          </p:cNvSpPr>
          <p:nvPr>
            <p:ph type="sldNum" idx="12"/>
          </p:nvPr>
        </p:nvSpPr>
        <p:spPr>
          <a:xfrm>
            <a:off x="8632453" y="6492875"/>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dirty="0">
              <a:solidFill>
                <a:srgbClr val="888888"/>
              </a:solidFill>
              <a:latin typeface="Arial"/>
              <a:ea typeface="Arial"/>
              <a:cs typeface="Arial"/>
              <a:sym typeface="Arial"/>
            </a:endParaRPr>
          </a:p>
        </p:txBody>
      </p:sp>
      <p:sp>
        <p:nvSpPr>
          <p:cNvPr id="13" name="Shape 13"/>
          <p:cNvSpPr txBox="1">
            <a:spLocks noGrp="1"/>
          </p:cNvSpPr>
          <p:nvPr>
            <p:ph type="title"/>
          </p:nvPr>
        </p:nvSpPr>
        <p:spPr>
          <a:xfrm>
            <a:off x="685800" y="1066800"/>
            <a:ext cx="87713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32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pic>
        <p:nvPicPr>
          <p:cNvPr id="15" name="Imagem 14">
            <a:extLst>
              <a:ext uri="{FF2B5EF4-FFF2-40B4-BE49-F238E27FC236}">
                <a16:creationId xmlns:a16="http://schemas.microsoft.com/office/drawing/2014/main" id="{D3441222-7DC4-AAA3-4880-5CB78D81CC04}"/>
              </a:ext>
            </a:extLst>
          </p:cNvPr>
          <p:cNvPicPr>
            <a:picLocks noChangeAspect="1"/>
          </p:cNvPicPr>
          <p:nvPr userDrawn="1"/>
        </p:nvPicPr>
        <p:blipFill>
          <a:blip r:embed="rId18"/>
          <a:stretch>
            <a:fillRect/>
          </a:stretch>
        </p:blipFill>
        <p:spPr>
          <a:xfrm>
            <a:off x="0" y="-10536"/>
            <a:ext cx="9906000" cy="996500"/>
          </a:xfrm>
          <a:prstGeom prst="rect">
            <a:avLst/>
          </a:prstGeom>
        </p:spPr>
      </p:pic>
    </p:spTree>
    <p:extLst>
      <p:ext uri="{BB962C8B-B14F-4D97-AF65-F5344CB8AC3E}">
        <p14:creationId xmlns:p14="http://schemas.microsoft.com/office/powerpoint/2010/main" val="2703164409"/>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52" r:id="rId14"/>
    <p:sldLayoutId id="2147483655" r:id="rId15"/>
    <p:sldLayoutId id="2147483661" r:id="rId16"/>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18/10/relationships/comments" Target="../comments/modernComment_127_0.xml"/><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microsoft.com/office/2018/10/relationships/comments" Target="../comments/modernComment_199_E8DB507.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94_F8C0A91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9E_F9877B76.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9F_D7A419EB.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microsoft.com/office/2018/10/relationships/comments" Target="../comments/modernComment_196_73C95D57.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microsoft.com/office/2018/10/relationships/comments" Target="../comments/modernComment_197_300F0B2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9B_4BDE2BB0.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A0_A0833A4D.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8/10/relationships/comments" Target="../comments/modernComment_19A_18A78E8B.xml"/><Relationship Id="rId1" Type="http://schemas.openxmlformats.org/officeDocument/2006/relationships/slideLayout" Target="../slideLayouts/slideLayout4.xml"/><Relationship Id="rId4" Type="http://schemas.openxmlformats.org/officeDocument/2006/relationships/image" Target="../media/image8.emf"/></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2.bin"/><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A20BB2CE-AD20-4EB4-9198-1AB0990B2FB7}"/>
              </a:ext>
            </a:extLst>
          </p:cNvPr>
          <p:cNvSpPr>
            <a:spLocks noGrp="1"/>
          </p:cNvSpPr>
          <p:nvPr>
            <p:ph type="title"/>
          </p:nvPr>
        </p:nvSpPr>
        <p:spPr>
          <a:xfrm>
            <a:off x="699002" y="2326395"/>
            <a:ext cx="8505945" cy="571503"/>
          </a:xfrm>
        </p:spPr>
        <p:txBody>
          <a:bodyPr/>
          <a:lstStyle/>
          <a:p>
            <a:pPr algn="ctr"/>
            <a:r>
              <a:rPr lang="pt-PT" sz="3200" b="1" kern="1200" noProof="0" dirty="0">
                <a:solidFill>
                  <a:schemeClr val="tx1"/>
                </a:solidFill>
              </a:rPr>
              <a:t>Logistics On Rails - SPRINT 1</a:t>
            </a:r>
            <a:br>
              <a:rPr lang="pt-PT" sz="3200" kern="1200" noProof="0" dirty="0">
                <a:solidFill>
                  <a:schemeClr val="tx1"/>
                </a:solidFill>
                <a:latin typeface="+mn-lt"/>
                <a:ea typeface="+mn-ea"/>
                <a:cs typeface="+mn-cs"/>
              </a:rPr>
            </a:br>
            <a:br>
              <a:rPr lang="pt-PT" sz="3200" kern="1200" noProof="0" dirty="0">
                <a:solidFill>
                  <a:schemeClr val="tx1"/>
                </a:solidFill>
                <a:latin typeface="+mn-lt"/>
                <a:ea typeface="+mn-ea"/>
                <a:cs typeface="+mn-cs"/>
              </a:rPr>
            </a:br>
            <a:r>
              <a:rPr lang="pt-PT" sz="3200" kern="1200" noProof="0" dirty="0">
                <a:solidFill>
                  <a:schemeClr val="tx1"/>
                </a:solidFill>
                <a:latin typeface="+mn-lt"/>
                <a:ea typeface="+mn-ea"/>
                <a:cs typeface="+mn-cs"/>
              </a:rPr>
              <a:t>G052</a:t>
            </a:r>
            <a:endParaRPr lang="pt-PT" sz="3200" b="1" noProof="0" dirty="0">
              <a:solidFill>
                <a:schemeClr val="tx1"/>
              </a:solidFill>
            </a:endParaRPr>
          </a:p>
        </p:txBody>
      </p:sp>
      <p:sp>
        <p:nvSpPr>
          <p:cNvPr id="4" name="Título 2">
            <a:extLst>
              <a:ext uri="{FF2B5EF4-FFF2-40B4-BE49-F238E27FC236}">
                <a16:creationId xmlns:a16="http://schemas.microsoft.com/office/drawing/2014/main" id="{DB1D8FD1-20D5-4B6F-506E-F430DA26CEBA}"/>
              </a:ext>
            </a:extLst>
          </p:cNvPr>
          <p:cNvSpPr txBox="1">
            <a:spLocks/>
          </p:cNvSpPr>
          <p:nvPr/>
        </p:nvSpPr>
        <p:spPr>
          <a:xfrm>
            <a:off x="857221" y="1536660"/>
            <a:ext cx="8182338" cy="571503"/>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0" i="0" u="none" strike="noStrike" cap="none">
                <a:solidFill>
                  <a:srgbClr val="A5ABB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algn="ctr"/>
            <a:r>
              <a:rPr lang="pt-PT" sz="3200" kern="0" noProof="0" dirty="0">
                <a:solidFill>
                  <a:schemeClr val="tx1"/>
                </a:solidFill>
                <a:latin typeface="+mn-lt"/>
                <a:ea typeface="+mn-ea"/>
                <a:cs typeface="+mn-cs"/>
              </a:rPr>
              <a:t>LAPR3 2025/2026</a:t>
            </a:r>
            <a:endParaRPr lang="pt-PT" sz="3200" kern="0" noProof="0" dirty="0">
              <a:solidFill>
                <a:schemeClr val="tx1"/>
              </a:solidFill>
            </a:endParaRPr>
          </a:p>
        </p:txBody>
      </p:sp>
      <p:graphicFrame>
        <p:nvGraphicFramePr>
          <p:cNvPr id="5" name="Tabela 4">
            <a:extLst>
              <a:ext uri="{FF2B5EF4-FFF2-40B4-BE49-F238E27FC236}">
                <a16:creationId xmlns:a16="http://schemas.microsoft.com/office/drawing/2014/main" id="{A7A502EE-944E-4A2F-52C8-1234A7F9536C}"/>
              </a:ext>
            </a:extLst>
          </p:cNvPr>
          <p:cNvGraphicFramePr>
            <a:graphicFrameLocks noGrp="1"/>
          </p:cNvGraphicFramePr>
          <p:nvPr>
            <p:extLst>
              <p:ext uri="{D42A27DB-BD31-4B8C-83A1-F6EECF244321}">
                <p14:modId xmlns:p14="http://schemas.microsoft.com/office/powerpoint/2010/main" val="2452399375"/>
              </p:ext>
            </p:extLst>
          </p:nvPr>
        </p:nvGraphicFramePr>
        <p:xfrm>
          <a:off x="339645" y="3944771"/>
          <a:ext cx="9228475" cy="2058843"/>
        </p:xfrm>
        <a:graphic>
          <a:graphicData uri="http://schemas.openxmlformats.org/drawingml/2006/table">
            <a:tbl>
              <a:tblPr firstRow="1" bandRow="1">
                <a:tableStyleId>{93296810-A885-4BE3-A3E7-6D5BEEA58F35}</a:tableStyleId>
              </a:tblPr>
              <a:tblGrid>
                <a:gridCol w="1845695">
                  <a:extLst>
                    <a:ext uri="{9D8B030D-6E8A-4147-A177-3AD203B41FA5}">
                      <a16:colId xmlns:a16="http://schemas.microsoft.com/office/drawing/2014/main" val="1786404924"/>
                    </a:ext>
                  </a:extLst>
                </a:gridCol>
                <a:gridCol w="1845695">
                  <a:extLst>
                    <a:ext uri="{9D8B030D-6E8A-4147-A177-3AD203B41FA5}">
                      <a16:colId xmlns:a16="http://schemas.microsoft.com/office/drawing/2014/main" val="3388003712"/>
                    </a:ext>
                  </a:extLst>
                </a:gridCol>
                <a:gridCol w="1845695">
                  <a:extLst>
                    <a:ext uri="{9D8B030D-6E8A-4147-A177-3AD203B41FA5}">
                      <a16:colId xmlns:a16="http://schemas.microsoft.com/office/drawing/2014/main" val="3217887647"/>
                    </a:ext>
                  </a:extLst>
                </a:gridCol>
                <a:gridCol w="1845695">
                  <a:extLst>
                    <a:ext uri="{9D8B030D-6E8A-4147-A177-3AD203B41FA5}">
                      <a16:colId xmlns:a16="http://schemas.microsoft.com/office/drawing/2014/main" val="2465101990"/>
                    </a:ext>
                  </a:extLst>
                </a:gridCol>
                <a:gridCol w="1845695">
                  <a:extLst>
                    <a:ext uri="{9D8B030D-6E8A-4147-A177-3AD203B41FA5}">
                      <a16:colId xmlns:a16="http://schemas.microsoft.com/office/drawing/2014/main" val="1554615450"/>
                    </a:ext>
                  </a:extLst>
                </a:gridCol>
              </a:tblGrid>
              <a:tr h="652897">
                <a:tc>
                  <a:txBody>
                    <a:bodyPr/>
                    <a:lstStyle/>
                    <a:p>
                      <a:pPr algn="ctr"/>
                      <a:r>
                        <a:rPr lang="pt-PT" noProof="0" dirty="0"/>
                        <a:t>Francisco Vasconcelos</a:t>
                      </a:r>
                    </a:p>
                    <a:p>
                      <a:pPr algn="ctr"/>
                      <a:r>
                        <a:rPr lang="pt-PT" noProof="0" dirty="0"/>
                        <a:t>(1240934)</a:t>
                      </a:r>
                    </a:p>
                  </a:txBody>
                  <a:tcPr/>
                </a:tc>
                <a:tc>
                  <a:txBody>
                    <a:bodyPr/>
                    <a:lstStyle/>
                    <a:p>
                      <a:pPr algn="ctr"/>
                      <a:r>
                        <a:rPr lang="pt-PT" noProof="0" dirty="0"/>
                        <a:t>Gabriel </a:t>
                      </a:r>
                    </a:p>
                    <a:p>
                      <a:pPr algn="ctr"/>
                      <a:r>
                        <a:rPr lang="pt-PT" noProof="0" dirty="0"/>
                        <a:t>Inácio </a:t>
                      </a:r>
                    </a:p>
                    <a:p>
                      <a:pPr algn="ctr"/>
                      <a:r>
                        <a:rPr lang="pt-PT" noProof="0" dirty="0"/>
                        <a:t>(1240935)</a:t>
                      </a:r>
                    </a:p>
                  </a:txBody>
                  <a:tcPr/>
                </a:tc>
                <a:tc>
                  <a:txBody>
                    <a:bodyPr/>
                    <a:lstStyle/>
                    <a:p>
                      <a:pPr algn="ctr"/>
                      <a:r>
                        <a:rPr lang="pt-PT" noProof="0" dirty="0"/>
                        <a:t>Gonçalo </a:t>
                      </a:r>
                    </a:p>
                    <a:p>
                      <a:pPr algn="ctr"/>
                      <a:r>
                        <a:rPr lang="pt-PT" noProof="0" dirty="0"/>
                        <a:t>Azevedo</a:t>
                      </a:r>
                    </a:p>
                    <a:p>
                      <a:pPr algn="ctr"/>
                      <a:r>
                        <a:rPr lang="pt-PT" noProof="0" dirty="0"/>
                        <a:t>(1240936)</a:t>
                      </a:r>
                    </a:p>
                  </a:txBody>
                  <a:tcPr/>
                </a:tc>
                <a:tc>
                  <a:txBody>
                    <a:bodyPr/>
                    <a:lstStyle/>
                    <a:p>
                      <a:pPr algn="ctr"/>
                      <a:r>
                        <a:rPr lang="pt-PT" noProof="0" dirty="0"/>
                        <a:t>Maria</a:t>
                      </a:r>
                    </a:p>
                    <a:p>
                      <a:pPr algn="ctr"/>
                      <a:r>
                        <a:rPr lang="pt-PT" noProof="0" dirty="0"/>
                        <a:t>Pinto</a:t>
                      </a:r>
                    </a:p>
                    <a:p>
                      <a:pPr algn="ctr"/>
                      <a:r>
                        <a:rPr lang="pt-PT" noProof="0" dirty="0"/>
                        <a:t>(1240892)</a:t>
                      </a:r>
                    </a:p>
                  </a:txBody>
                  <a:tcPr/>
                </a:tc>
                <a:tc>
                  <a:txBody>
                    <a:bodyPr/>
                    <a:lstStyle/>
                    <a:p>
                      <a:pPr algn="ctr"/>
                      <a:r>
                        <a:rPr lang="pt-PT" noProof="0" dirty="0"/>
                        <a:t>Paulo </a:t>
                      </a:r>
                    </a:p>
                    <a:p>
                      <a:pPr algn="ctr"/>
                      <a:r>
                        <a:rPr lang="pt-PT" noProof="0" dirty="0"/>
                        <a:t>Ferreira </a:t>
                      </a:r>
                    </a:p>
                    <a:p>
                      <a:pPr algn="ctr"/>
                      <a:r>
                        <a:rPr lang="pt-PT" noProof="0" dirty="0"/>
                        <a:t>(1240941)</a:t>
                      </a:r>
                    </a:p>
                  </a:txBody>
                  <a:tcPr/>
                </a:tc>
                <a:extLst>
                  <a:ext uri="{0D108BD9-81ED-4DB2-BD59-A6C34878D82A}">
                    <a16:rowId xmlns:a16="http://schemas.microsoft.com/office/drawing/2014/main" val="2471333584"/>
                  </a:ext>
                </a:extLst>
              </a:tr>
              <a:tr h="1327323">
                <a:tc>
                  <a:txBody>
                    <a:bodyPr/>
                    <a:lstStyle/>
                    <a:p>
                      <a:pPr algn="ctr"/>
                      <a:endParaRPr lang="pt-PT" noProof="0" dirty="0"/>
                    </a:p>
                    <a:p>
                      <a:pPr algn="ctr"/>
                      <a:endParaRPr lang="pt-PT" noProof="0" dirty="0"/>
                    </a:p>
                  </a:txBody>
                  <a:tcPr>
                    <a:solidFill>
                      <a:schemeClr val="bg1">
                        <a:lumMod val="95000"/>
                      </a:schemeClr>
                    </a:solidFill>
                  </a:tcPr>
                </a:tc>
                <a:tc>
                  <a:txBody>
                    <a:bodyPr/>
                    <a:lstStyle/>
                    <a:p>
                      <a:endParaRPr lang="pt-PT" noProof="0" dirty="0"/>
                    </a:p>
                    <a:p>
                      <a:endParaRPr lang="pt-PT" noProof="0" dirty="0"/>
                    </a:p>
                  </a:txBody>
                  <a:tcPr>
                    <a:solidFill>
                      <a:schemeClr val="bg1">
                        <a:lumMod val="95000"/>
                      </a:schemeClr>
                    </a:solidFill>
                  </a:tcPr>
                </a:tc>
                <a:tc>
                  <a:txBody>
                    <a:bodyPr/>
                    <a:lstStyle/>
                    <a:p>
                      <a:endParaRPr lang="pt-PT" noProof="0" dirty="0"/>
                    </a:p>
                  </a:txBody>
                  <a:tcPr>
                    <a:solidFill>
                      <a:schemeClr val="bg1">
                        <a:lumMod val="95000"/>
                      </a:schemeClr>
                    </a:solidFill>
                  </a:tcPr>
                </a:tc>
                <a:tc>
                  <a:txBody>
                    <a:bodyPr/>
                    <a:lstStyle/>
                    <a:p>
                      <a:endParaRPr lang="pt-PT" noProof="0" dirty="0"/>
                    </a:p>
                  </a:txBody>
                  <a:tcPr>
                    <a:solidFill>
                      <a:schemeClr val="bg1">
                        <a:lumMod val="95000"/>
                      </a:schemeClr>
                    </a:solidFill>
                  </a:tcPr>
                </a:tc>
                <a:tc>
                  <a:txBody>
                    <a:bodyPr/>
                    <a:lstStyle/>
                    <a:p>
                      <a:endParaRPr lang="pt-PT" noProof="0" dirty="0"/>
                    </a:p>
                  </a:txBody>
                  <a:tcPr>
                    <a:solidFill>
                      <a:schemeClr val="bg1">
                        <a:lumMod val="95000"/>
                      </a:schemeClr>
                    </a:solidFill>
                  </a:tcPr>
                </a:tc>
                <a:extLst>
                  <a:ext uri="{0D108BD9-81ED-4DB2-BD59-A6C34878D82A}">
                    <a16:rowId xmlns:a16="http://schemas.microsoft.com/office/drawing/2014/main" val="4095273831"/>
                  </a:ext>
                </a:extLst>
              </a:tr>
            </a:tbl>
          </a:graphicData>
        </a:graphic>
      </p:graphicFrame>
      <p:pic>
        <p:nvPicPr>
          <p:cNvPr id="6" name="Picture 5" descr="A person in a yellow and blue shirt&#10;&#10;AI-generated content may be incorrect.">
            <a:extLst>
              <a:ext uri="{FF2B5EF4-FFF2-40B4-BE49-F238E27FC236}">
                <a16:creationId xmlns:a16="http://schemas.microsoft.com/office/drawing/2014/main" id="{B4E9B60C-0D7C-65CD-62B9-AE09C6C0A83E}"/>
              </a:ext>
            </a:extLst>
          </p:cNvPr>
          <p:cNvPicPr>
            <a:picLocks noChangeAspect="1"/>
          </p:cNvPicPr>
          <p:nvPr/>
        </p:nvPicPr>
        <p:blipFill>
          <a:blip r:embed="rId4"/>
          <a:stretch>
            <a:fillRect/>
          </a:stretch>
        </p:blipFill>
        <p:spPr>
          <a:xfrm>
            <a:off x="2203200" y="4734145"/>
            <a:ext cx="1830710" cy="1722850"/>
          </a:xfrm>
          <a:prstGeom prst="rect">
            <a:avLst/>
          </a:prstGeom>
        </p:spPr>
      </p:pic>
      <p:sp>
        <p:nvSpPr>
          <p:cNvPr id="7" name="AutoShape 2">
            <a:extLst>
              <a:ext uri="{FF2B5EF4-FFF2-40B4-BE49-F238E27FC236}">
                <a16:creationId xmlns:a16="http://schemas.microsoft.com/office/drawing/2014/main" id="{295AB9A7-AE2B-2DAC-AB8A-211F89722B6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PT" noProof="0" dirty="0"/>
          </a:p>
        </p:txBody>
      </p:sp>
      <p:pic>
        <p:nvPicPr>
          <p:cNvPr id="8" name="Picture 7">
            <a:extLst>
              <a:ext uri="{FF2B5EF4-FFF2-40B4-BE49-F238E27FC236}">
                <a16:creationId xmlns:a16="http://schemas.microsoft.com/office/drawing/2014/main" id="{331C3C74-A504-18F2-3987-FE5B68D16C74}"/>
              </a:ext>
            </a:extLst>
          </p:cNvPr>
          <p:cNvPicPr>
            <a:picLocks noChangeAspect="1"/>
          </p:cNvPicPr>
          <p:nvPr/>
        </p:nvPicPr>
        <p:blipFill>
          <a:blip r:embed="rId5"/>
          <a:stretch>
            <a:fillRect/>
          </a:stretch>
        </p:blipFill>
        <p:spPr>
          <a:xfrm>
            <a:off x="4053991" y="4729263"/>
            <a:ext cx="1825522" cy="1722849"/>
          </a:xfrm>
          <a:prstGeom prst="rect">
            <a:avLst/>
          </a:prstGeom>
        </p:spPr>
      </p:pic>
      <p:pic>
        <p:nvPicPr>
          <p:cNvPr id="9" name="Picture 8">
            <a:extLst>
              <a:ext uri="{FF2B5EF4-FFF2-40B4-BE49-F238E27FC236}">
                <a16:creationId xmlns:a16="http://schemas.microsoft.com/office/drawing/2014/main" id="{64F50325-5444-1912-0C6F-569C15B69370}"/>
              </a:ext>
            </a:extLst>
          </p:cNvPr>
          <p:cNvPicPr>
            <a:picLocks noChangeAspect="1"/>
          </p:cNvPicPr>
          <p:nvPr/>
        </p:nvPicPr>
        <p:blipFill>
          <a:blip r:embed="rId6"/>
          <a:stretch>
            <a:fillRect/>
          </a:stretch>
        </p:blipFill>
        <p:spPr>
          <a:xfrm>
            <a:off x="7719569" y="4729263"/>
            <a:ext cx="1857224" cy="1727732"/>
          </a:xfrm>
          <a:prstGeom prst="rect">
            <a:avLst/>
          </a:prstGeom>
        </p:spPr>
      </p:pic>
      <p:pic>
        <p:nvPicPr>
          <p:cNvPr id="11" name="Picture 10">
            <a:extLst>
              <a:ext uri="{FF2B5EF4-FFF2-40B4-BE49-F238E27FC236}">
                <a16:creationId xmlns:a16="http://schemas.microsoft.com/office/drawing/2014/main" id="{264E35A5-F72D-CDB2-234C-640ACE58E471}"/>
              </a:ext>
            </a:extLst>
          </p:cNvPr>
          <p:cNvPicPr>
            <a:picLocks noChangeAspect="1"/>
          </p:cNvPicPr>
          <p:nvPr/>
        </p:nvPicPr>
        <p:blipFill>
          <a:blip r:embed="rId7"/>
          <a:stretch>
            <a:fillRect/>
          </a:stretch>
        </p:blipFill>
        <p:spPr>
          <a:xfrm>
            <a:off x="350540" y="4734145"/>
            <a:ext cx="1833670" cy="1713087"/>
          </a:xfrm>
          <a:prstGeom prst="rect">
            <a:avLst/>
          </a:prstGeom>
        </p:spPr>
      </p:pic>
      <p:pic>
        <p:nvPicPr>
          <p:cNvPr id="12" name="Picture 11">
            <a:extLst>
              <a:ext uri="{FF2B5EF4-FFF2-40B4-BE49-F238E27FC236}">
                <a16:creationId xmlns:a16="http://schemas.microsoft.com/office/drawing/2014/main" id="{725B7F49-5C06-5E66-E757-B26384C67895}"/>
              </a:ext>
            </a:extLst>
          </p:cNvPr>
          <p:cNvPicPr>
            <a:picLocks noChangeAspect="1"/>
          </p:cNvPicPr>
          <p:nvPr/>
        </p:nvPicPr>
        <p:blipFill>
          <a:blip r:embed="rId8"/>
          <a:stretch>
            <a:fillRect/>
          </a:stretch>
        </p:blipFill>
        <p:spPr>
          <a:xfrm>
            <a:off x="5901338" y="4726664"/>
            <a:ext cx="1801461" cy="1727733"/>
          </a:xfrm>
          <a:prstGeom prst="rect">
            <a:avLst/>
          </a:prstGeom>
        </p:spPr>
      </p:pic>
    </p:spTree>
  </p:cSld>
  <p:clrMapOvr>
    <a:masterClrMapping/>
  </p:clrMapOvr>
  <p:transition spd="med">
    <p:fade/>
  </p:transition>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pt-PT" sz="3200" cap="none" noProof="0" dirty="0">
                <a:solidFill>
                  <a:schemeClr val="tx1"/>
                </a:solidFill>
              </a:rPr>
              <a:t>Sprint planning – Sprint 1</a:t>
            </a:r>
          </a:p>
        </p:txBody>
      </p:sp>
      <p:graphicFrame>
        <p:nvGraphicFramePr>
          <p:cNvPr id="2" name="Tabela 2">
            <a:extLst>
              <a:ext uri="{FF2B5EF4-FFF2-40B4-BE49-F238E27FC236}">
                <a16:creationId xmlns:a16="http://schemas.microsoft.com/office/drawing/2014/main" id="{CE9589D4-96FD-42EC-88BF-AABA0DB75B49}"/>
              </a:ext>
            </a:extLst>
          </p:cNvPr>
          <p:cNvGraphicFramePr>
            <a:graphicFrameLocks noGrp="1"/>
          </p:cNvGraphicFramePr>
          <p:nvPr>
            <p:extLst>
              <p:ext uri="{D42A27DB-BD31-4B8C-83A1-F6EECF244321}">
                <p14:modId xmlns:p14="http://schemas.microsoft.com/office/powerpoint/2010/main" val="770392965"/>
              </p:ext>
            </p:extLst>
          </p:nvPr>
        </p:nvGraphicFramePr>
        <p:xfrm>
          <a:off x="947555" y="3023955"/>
          <a:ext cx="7830870" cy="2743197"/>
        </p:xfrm>
        <a:graphic>
          <a:graphicData uri="http://schemas.openxmlformats.org/drawingml/2006/table">
            <a:tbl>
              <a:tblPr firstRow="1" bandRow="1">
                <a:tableStyleId>{912C8C85-51F0-491E-9774-3900AFEF0FD7}</a:tableStyleId>
              </a:tblPr>
              <a:tblGrid>
                <a:gridCol w="4112855">
                  <a:extLst>
                    <a:ext uri="{9D8B030D-6E8A-4147-A177-3AD203B41FA5}">
                      <a16:colId xmlns:a16="http://schemas.microsoft.com/office/drawing/2014/main" val="3798560086"/>
                    </a:ext>
                  </a:extLst>
                </a:gridCol>
                <a:gridCol w="3718015">
                  <a:extLst>
                    <a:ext uri="{9D8B030D-6E8A-4147-A177-3AD203B41FA5}">
                      <a16:colId xmlns:a16="http://schemas.microsoft.com/office/drawing/2014/main" val="477562216"/>
                    </a:ext>
                  </a:extLst>
                </a:gridCol>
              </a:tblGrid>
              <a:tr h="370840">
                <a:tc>
                  <a:txBody>
                    <a:bodyPr/>
                    <a:lstStyle/>
                    <a:p>
                      <a:r>
                        <a:rPr lang="pt-PT" noProof="0" dirty="0"/>
                        <a:t>SPRINT BACKLOG</a:t>
                      </a:r>
                    </a:p>
                  </a:txBody>
                  <a:tcPr/>
                </a:tc>
                <a:tc>
                  <a:txBody>
                    <a:bodyPr/>
                    <a:lstStyle/>
                    <a:p>
                      <a:endParaRPr lang="pt-PT" noProof="0" dirty="0"/>
                    </a:p>
                  </a:txBody>
                  <a:tcPr/>
                </a:tc>
                <a:extLst>
                  <a:ext uri="{0D108BD9-81ED-4DB2-BD59-A6C34878D82A}">
                    <a16:rowId xmlns:a16="http://schemas.microsoft.com/office/drawing/2014/main" val="3623111211"/>
                  </a:ext>
                </a:extLst>
              </a:tr>
              <a:tr h="370840">
                <a:tc>
                  <a:txBody>
                    <a:bodyPr/>
                    <a:lstStyle/>
                    <a:p>
                      <a:r>
                        <a:rPr lang="pt-PT" noProof="0" dirty="0"/>
                        <a:t>Number of stories</a:t>
                      </a:r>
                    </a:p>
                  </a:txBody>
                  <a:tcPr/>
                </a:tc>
                <a:tc>
                  <a:txBody>
                    <a:bodyPr/>
                    <a:lstStyle/>
                    <a:p>
                      <a:r>
                        <a:rPr lang="pt-PT" noProof="0" dirty="0"/>
                        <a:t>16</a:t>
                      </a:r>
                    </a:p>
                  </a:txBody>
                  <a:tcPr/>
                </a:tc>
                <a:extLst>
                  <a:ext uri="{0D108BD9-81ED-4DB2-BD59-A6C34878D82A}">
                    <a16:rowId xmlns:a16="http://schemas.microsoft.com/office/drawing/2014/main" val="883314903"/>
                  </a:ext>
                </a:extLst>
              </a:tr>
              <a:tr h="370840">
                <a:tc>
                  <a:txBody>
                    <a:bodyPr/>
                    <a:lstStyle/>
                    <a:p>
                      <a:r>
                        <a:rPr lang="pt-PT" noProof="0" dirty="0"/>
                        <a:t>Number of bugs</a:t>
                      </a:r>
                    </a:p>
                  </a:txBody>
                  <a:tcPr/>
                </a:tc>
                <a:tc>
                  <a:txBody>
                    <a:bodyPr/>
                    <a:lstStyle/>
                    <a:p>
                      <a:r>
                        <a:rPr lang="pt-PT" noProof="0" dirty="0"/>
                        <a:t>0</a:t>
                      </a:r>
                    </a:p>
                  </a:txBody>
                  <a:tcPr/>
                </a:tc>
                <a:extLst>
                  <a:ext uri="{0D108BD9-81ED-4DB2-BD59-A6C34878D82A}">
                    <a16:rowId xmlns:a16="http://schemas.microsoft.com/office/drawing/2014/main" val="428254498"/>
                  </a:ext>
                </a:extLst>
              </a:tr>
              <a:tr h="370839">
                <a:tc>
                  <a:txBody>
                    <a:bodyPr/>
                    <a:lstStyle/>
                    <a:p>
                      <a:pPr lvl="0">
                        <a:buNone/>
                      </a:pPr>
                      <a:r>
                        <a:rPr lang="pt-PT" noProof="0" dirty="0"/>
                        <a:t>Number of tasks</a:t>
                      </a:r>
                    </a:p>
                  </a:txBody>
                  <a:tcPr/>
                </a:tc>
                <a:tc>
                  <a:txBody>
                    <a:bodyPr/>
                    <a:lstStyle/>
                    <a:p>
                      <a:pPr lvl="0">
                        <a:buNone/>
                      </a:pPr>
                      <a:r>
                        <a:rPr lang="pt-PT" noProof="0" dirty="0"/>
                        <a:t>2</a:t>
                      </a:r>
                    </a:p>
                  </a:txBody>
                  <a:tcPr/>
                </a:tc>
                <a:extLst>
                  <a:ext uri="{0D108BD9-81ED-4DB2-BD59-A6C34878D82A}">
                    <a16:rowId xmlns:a16="http://schemas.microsoft.com/office/drawing/2014/main" val="4185709446"/>
                  </a:ext>
                </a:extLst>
              </a:tr>
              <a:tr h="370839">
                <a:tc>
                  <a:txBody>
                    <a:bodyPr/>
                    <a:lstStyle/>
                    <a:p>
                      <a:pPr lvl="0">
                        <a:buNone/>
                      </a:pPr>
                      <a:r>
                        <a:rPr lang="pt-PT" noProof="0" dirty="0"/>
                        <a:t>Number of Management Tasks (Scrum)</a:t>
                      </a:r>
                    </a:p>
                  </a:txBody>
                  <a:tcPr/>
                </a:tc>
                <a:tc>
                  <a:txBody>
                    <a:bodyPr/>
                    <a:lstStyle/>
                    <a:p>
                      <a:pPr lvl="0">
                        <a:buNone/>
                      </a:pPr>
                      <a:r>
                        <a:rPr lang="pt-PT" noProof="0" dirty="0"/>
                        <a:t>14</a:t>
                      </a:r>
                    </a:p>
                  </a:txBody>
                  <a:tcPr/>
                </a:tc>
                <a:extLst>
                  <a:ext uri="{0D108BD9-81ED-4DB2-BD59-A6C34878D82A}">
                    <a16:rowId xmlns:a16="http://schemas.microsoft.com/office/drawing/2014/main" val="563517871"/>
                  </a:ext>
                </a:extLst>
              </a:tr>
              <a:tr h="370839">
                <a:tc>
                  <a:txBody>
                    <a:bodyPr/>
                    <a:lstStyle/>
                    <a:p>
                      <a:pPr lvl="0">
                        <a:buNone/>
                      </a:pPr>
                      <a:r>
                        <a:rPr lang="pt-PT" noProof="0" dirty="0"/>
                        <a:t>Number of team members</a:t>
                      </a:r>
                    </a:p>
                  </a:txBody>
                  <a:tcPr/>
                </a:tc>
                <a:tc>
                  <a:txBody>
                    <a:bodyPr/>
                    <a:lstStyle/>
                    <a:p>
                      <a:pPr lvl="0" algn="ctr">
                        <a:buNone/>
                      </a:pPr>
                      <a:r>
                        <a:rPr lang="pt-PT" noProof="0" dirty="0"/>
                        <a:t>Planned: 5               Actual: 5</a:t>
                      </a:r>
                    </a:p>
                  </a:txBody>
                  <a:tcPr/>
                </a:tc>
                <a:extLst>
                  <a:ext uri="{0D108BD9-81ED-4DB2-BD59-A6C34878D82A}">
                    <a16:rowId xmlns:a16="http://schemas.microsoft.com/office/drawing/2014/main" val="2843102962"/>
                  </a:ext>
                </a:extLst>
              </a:tr>
              <a:tr h="370838">
                <a:tc>
                  <a:txBody>
                    <a:bodyPr/>
                    <a:lstStyle/>
                    <a:p>
                      <a:pPr lvl="0">
                        <a:buNone/>
                      </a:pPr>
                      <a:r>
                        <a:rPr lang="pt-PT" noProof="0" dirty="0"/>
                        <a:t>Total planned estimation vs execution</a:t>
                      </a:r>
                    </a:p>
                  </a:txBody>
                  <a:tcPr/>
                </a:tc>
                <a:tc>
                  <a:txBody>
                    <a:bodyPr/>
                    <a:lstStyle/>
                    <a:p>
                      <a:pPr marL="0" lvl="0" indent="0" algn="ctr">
                        <a:buNone/>
                      </a:pPr>
                      <a:r>
                        <a:rPr lang="pt-PT" noProof="0" dirty="0"/>
                        <a:t>Planned hours: 117</a:t>
                      </a:r>
                    </a:p>
                    <a:p>
                      <a:pPr marL="0" lvl="0" indent="0" algn="ctr">
                        <a:buNone/>
                      </a:pPr>
                      <a:r>
                        <a:rPr lang="pt-PT" noProof="0" dirty="0"/>
                        <a:t>Executed hours: 84</a:t>
                      </a:r>
                    </a:p>
                  </a:txBody>
                  <a:tcPr/>
                </a:tc>
                <a:extLst>
                  <a:ext uri="{0D108BD9-81ED-4DB2-BD59-A6C34878D82A}">
                    <a16:rowId xmlns:a16="http://schemas.microsoft.com/office/drawing/2014/main" val="4118989459"/>
                  </a:ext>
                </a:extLst>
              </a:tr>
            </a:tbl>
          </a:graphicData>
        </a:graphic>
      </p:graphicFrame>
      <p:sp>
        <p:nvSpPr>
          <p:cNvPr id="7" name="Marcador de Posição de Conteúdo 5">
            <a:extLst>
              <a:ext uri="{FF2B5EF4-FFF2-40B4-BE49-F238E27FC236}">
                <a16:creationId xmlns:a16="http://schemas.microsoft.com/office/drawing/2014/main" id="{6F8BAF59-30E8-4D49-87D9-D5A1CD648639}"/>
              </a:ext>
            </a:extLst>
          </p:cNvPr>
          <p:cNvSpPr txBox="1">
            <a:spLocks/>
          </p:cNvSpPr>
          <p:nvPr/>
        </p:nvSpPr>
        <p:spPr>
          <a:xfrm>
            <a:off x="448800" y="1626520"/>
            <a:ext cx="9043200" cy="710644"/>
          </a:xfrm>
          <a:prstGeom prst="rect">
            <a:avLst/>
          </a:prstGeom>
        </p:spPr>
        <p:txBody>
          <a:bodyPr lIns="91440" tIns="45720" rIns="91440" bIns="45720" anchor="t"/>
          <a:lstStyle>
            <a:lvl1pPr marL="342900" indent="-342900" algn="l" defTabSz="914400" rtl="0" eaLnBrk="1" latinLnBrk="0" hangingPunct="1">
              <a:spcBef>
                <a:spcPts val="0"/>
              </a:spcBef>
              <a:spcAft>
                <a:spcPts val="400"/>
              </a:spcAft>
              <a:buFont typeface="Arial" pitchFamily="34" charset="0"/>
              <a:buChar char="•"/>
              <a:defRPr sz="2000" kern="1200">
                <a:solidFill>
                  <a:schemeClr val="bg1">
                    <a:lumMod val="85000"/>
                  </a:schemeClr>
                </a:solidFill>
                <a:latin typeface="Calibri"/>
                <a:ea typeface="+mn-ea"/>
                <a:cs typeface="Calibri"/>
              </a:defRPr>
            </a:lvl1pPr>
            <a:lvl2pPr marL="742950" indent="-285750" algn="l" defTabSz="914400" rtl="0" eaLnBrk="1" latinLnBrk="0" hangingPunct="1">
              <a:spcBef>
                <a:spcPts val="0"/>
              </a:spcBef>
              <a:spcAft>
                <a:spcPts val="400"/>
              </a:spcAft>
              <a:buFont typeface="Arial" pitchFamily="34" charset="0"/>
              <a:buChar char="–"/>
              <a:defRPr sz="1800" kern="1200">
                <a:solidFill>
                  <a:schemeClr val="bg1">
                    <a:lumMod val="85000"/>
                  </a:schemeClr>
                </a:solidFill>
                <a:latin typeface="Calibri"/>
                <a:ea typeface="+mn-ea"/>
                <a:cs typeface="Calibri"/>
              </a:defRPr>
            </a:lvl2pPr>
            <a:lvl3pPr marL="1143000" indent="-228600" algn="l" defTabSz="914400" rtl="0" eaLnBrk="1" latinLnBrk="0" hangingPunct="1">
              <a:spcBef>
                <a:spcPts val="0"/>
              </a:spcBef>
              <a:spcAft>
                <a:spcPts val="400"/>
              </a:spcAft>
              <a:buFont typeface="Arial" pitchFamily="34" charset="0"/>
              <a:buNone/>
              <a:defRPr sz="1600" kern="1200">
                <a:solidFill>
                  <a:schemeClr val="bg1">
                    <a:lumMod val="85000"/>
                  </a:schemeClr>
                </a:solidFill>
                <a:latin typeface="Calibri"/>
                <a:ea typeface="+mn-ea"/>
                <a:cs typeface="Calibri"/>
              </a:defRPr>
            </a:lvl3pPr>
            <a:lvl4pPr marL="1600200" indent="-228600" algn="l" defTabSz="914400" rtl="0" eaLnBrk="1" latinLnBrk="0" hangingPunct="1">
              <a:spcBef>
                <a:spcPts val="0"/>
              </a:spcBef>
              <a:spcAft>
                <a:spcPts val="400"/>
              </a:spcAft>
              <a:buFont typeface="Arial" pitchFamily="34" charset="0"/>
              <a:buChar char="–"/>
              <a:defRPr sz="1400" kern="1200">
                <a:solidFill>
                  <a:schemeClr val="bg1">
                    <a:lumMod val="85000"/>
                  </a:schemeClr>
                </a:solidFill>
                <a:latin typeface="Calibri"/>
                <a:ea typeface="+mn-ea"/>
                <a:cs typeface="Calibri"/>
              </a:defRPr>
            </a:lvl4pPr>
            <a:lvl5pPr marL="2057400" indent="-228600" algn="l" defTabSz="914400" rtl="0" eaLnBrk="1" latinLnBrk="0" hangingPunct="1">
              <a:spcBef>
                <a:spcPts val="0"/>
              </a:spcBef>
              <a:spcAft>
                <a:spcPts val="400"/>
              </a:spcAft>
              <a:buFont typeface="Arial" pitchFamily="34" charset="0"/>
              <a:buChar char="»"/>
              <a:defRPr sz="1200" kern="1200">
                <a:solidFill>
                  <a:schemeClr val="bg1">
                    <a:lumMod val="85000"/>
                  </a:schemeClr>
                </a:solidFill>
                <a:latin typeface="Calibri"/>
                <a:ea typeface="+mn-ea"/>
                <a:cs typeface="Calibr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pt-PT" sz="1800" noProof="0" dirty="0">
                <a:solidFill>
                  <a:schemeClr val="tx1"/>
                </a:solidFill>
              </a:rPr>
              <a:t>Planned Start Date: 29 de </a:t>
            </a:r>
            <a:r>
              <a:rPr lang="pt-PT" sz="1800" dirty="0">
                <a:solidFill>
                  <a:schemeClr val="tx1"/>
                </a:solidFill>
              </a:rPr>
              <a:t>s</a:t>
            </a:r>
            <a:r>
              <a:rPr lang="pt-PT" sz="1800" noProof="0" dirty="0">
                <a:solidFill>
                  <a:schemeClr val="tx1"/>
                </a:solidFill>
              </a:rPr>
              <a:t>etembro                     Real Start Date: 29 de setembro </a:t>
            </a:r>
          </a:p>
          <a:p>
            <a:pPr marL="0" indent="0">
              <a:buNone/>
            </a:pPr>
            <a:r>
              <a:rPr lang="pt-PT" sz="1800" noProof="0" dirty="0">
                <a:solidFill>
                  <a:schemeClr val="tx1"/>
                </a:solidFill>
              </a:rPr>
              <a:t>Planned End Date: 26 de outubro                         Real End Date: 27 de outubro</a:t>
            </a:r>
          </a:p>
          <a:p>
            <a:pPr marL="0" indent="0">
              <a:buFont typeface="Arial" pitchFamily="34" charset="0"/>
              <a:buNone/>
            </a:pPr>
            <a:endParaRPr lang="pt-PT" noProof="0" dirty="0">
              <a:solidFill>
                <a:schemeClr val="tx1"/>
              </a:solidFill>
            </a:endParaRPr>
          </a:p>
        </p:txBody>
      </p:sp>
    </p:spTree>
    <p:extLst>
      <p:ext uri="{BB962C8B-B14F-4D97-AF65-F5344CB8AC3E}">
        <p14:creationId xmlns:p14="http://schemas.microsoft.com/office/powerpoint/2010/main" val="244167943"/>
      </p:ext>
    </p:extLst>
  </p:cSld>
  <p:clrMapOvr>
    <a:masterClrMapping/>
  </p:clrMapOvr>
  <p:transition spd="med">
    <p:fade/>
  </p:transition>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a:xfrm>
            <a:off x="414000" y="1000108"/>
            <a:ext cx="9219520" cy="571504"/>
          </a:xfrm>
        </p:spPr>
        <p:txBody>
          <a:bodyPr/>
          <a:lstStyle/>
          <a:p>
            <a:r>
              <a:rPr lang="pt-PT" sz="3200" cap="none" noProof="0" dirty="0">
                <a:solidFill>
                  <a:schemeClr val="tx1"/>
                </a:solidFill>
              </a:rPr>
              <a:t>Sprint 1 planning</a:t>
            </a:r>
          </a:p>
        </p:txBody>
      </p:sp>
      <p:graphicFrame>
        <p:nvGraphicFramePr>
          <p:cNvPr id="2" name="Tabela 2">
            <a:extLst>
              <a:ext uri="{FF2B5EF4-FFF2-40B4-BE49-F238E27FC236}">
                <a16:creationId xmlns:a16="http://schemas.microsoft.com/office/drawing/2014/main" id="{CE9589D4-96FD-42EC-88BF-AABA0DB75B49}"/>
              </a:ext>
            </a:extLst>
          </p:cNvPr>
          <p:cNvGraphicFramePr>
            <a:graphicFrameLocks noGrp="1"/>
          </p:cNvGraphicFramePr>
          <p:nvPr>
            <p:extLst>
              <p:ext uri="{D42A27DB-BD31-4B8C-83A1-F6EECF244321}">
                <p14:modId xmlns:p14="http://schemas.microsoft.com/office/powerpoint/2010/main" val="2695029837"/>
              </p:ext>
            </p:extLst>
          </p:nvPr>
        </p:nvGraphicFramePr>
        <p:xfrm>
          <a:off x="448799" y="2007261"/>
          <a:ext cx="9008401" cy="3850631"/>
        </p:xfrm>
        <a:graphic>
          <a:graphicData uri="http://schemas.openxmlformats.org/drawingml/2006/table">
            <a:tbl>
              <a:tblPr firstRow="1" bandRow="1">
                <a:tableStyleId>{912C8C85-51F0-491E-9774-3900AFEF0FD7}</a:tableStyleId>
              </a:tblPr>
              <a:tblGrid>
                <a:gridCol w="1568670">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pt-PT" noProof="0" dirty="0"/>
                        <a:t>Assigned User Stories </a:t>
                      </a:r>
                      <a:r>
                        <a:rPr lang="pt-PT" sz="1200" noProof="0" dirty="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Commited?</a:t>
                      </a:r>
                    </a:p>
                    <a:p>
                      <a:pPr algn="ctr"/>
                      <a:r>
                        <a:rPr lang="pt-PT"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noProof="0" dirty="0"/>
                        <a:t>USBD01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noProof="0" dirty="0"/>
                        <a:t>USBD02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noProof="0" dirty="0"/>
                        <a:t>USBD03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noProof="0" dirty="0"/>
                        <a:t>USBD04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noProof="0" dirty="0"/>
                        <a:t>USBD09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lvl="0">
                        <a:buNone/>
                      </a:pPr>
                      <a:r>
                        <a:rPr lang="pt-PT" noProof="0" dirty="0"/>
                        <a:t>USBD014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lvl="0">
                        <a:buNone/>
                      </a:pPr>
                      <a:r>
                        <a:rPr lang="pt-PT" noProof="0" dirty="0"/>
                        <a:t>USBD015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9061"/>
                  </a:ext>
                </a:extLst>
              </a:tr>
              <a:tr h="370838">
                <a:tc>
                  <a:txBody>
                    <a:bodyPr/>
                    <a:lstStyle/>
                    <a:p>
                      <a:pPr lvl="0">
                        <a:buNone/>
                      </a:pPr>
                      <a:r>
                        <a:rPr lang="pt-PT" noProof="0" dirty="0"/>
                        <a:t>USBD020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301020"/>
                  </a:ext>
                </a:extLst>
              </a:tr>
            </a:tbl>
          </a:graphicData>
        </a:graphic>
      </p:graphicFrame>
    </p:spTree>
    <p:extLst>
      <p:ext uri="{BB962C8B-B14F-4D97-AF65-F5344CB8AC3E}">
        <p14:creationId xmlns:p14="http://schemas.microsoft.com/office/powerpoint/2010/main" val="4173375763"/>
      </p:ext>
    </p:extLst>
  </p:cSld>
  <p:clrMapOvr>
    <a:masterClrMapping/>
  </p:clrMapOvr>
  <p:transition spd="med">
    <p:fade/>
  </p:transition>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01BF1-4B07-864C-3CE2-774C2416CBD3}"/>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FCDB8514-64FD-93AE-5A70-803D5D454697}"/>
              </a:ext>
            </a:extLst>
          </p:cNvPr>
          <p:cNvSpPr>
            <a:spLocks noGrp="1"/>
          </p:cNvSpPr>
          <p:nvPr>
            <p:ph type="title"/>
          </p:nvPr>
        </p:nvSpPr>
        <p:spPr>
          <a:xfrm>
            <a:off x="414000" y="1000108"/>
            <a:ext cx="9219520" cy="571504"/>
          </a:xfrm>
        </p:spPr>
        <p:txBody>
          <a:bodyPr/>
          <a:lstStyle/>
          <a:p>
            <a:r>
              <a:rPr lang="pt-PT" sz="3200" cap="none" noProof="0" dirty="0">
                <a:solidFill>
                  <a:schemeClr val="tx1"/>
                </a:solidFill>
              </a:rPr>
              <a:t>Sprint 1 planning</a:t>
            </a:r>
          </a:p>
        </p:txBody>
      </p:sp>
      <p:graphicFrame>
        <p:nvGraphicFramePr>
          <p:cNvPr id="2" name="Tabela 2">
            <a:extLst>
              <a:ext uri="{FF2B5EF4-FFF2-40B4-BE49-F238E27FC236}">
                <a16:creationId xmlns:a16="http://schemas.microsoft.com/office/drawing/2014/main" id="{47A3A845-030A-7835-215B-511014E68B09}"/>
              </a:ext>
            </a:extLst>
          </p:cNvPr>
          <p:cNvGraphicFramePr>
            <a:graphicFrameLocks noGrp="1"/>
          </p:cNvGraphicFramePr>
          <p:nvPr>
            <p:extLst>
              <p:ext uri="{D42A27DB-BD31-4B8C-83A1-F6EECF244321}">
                <p14:modId xmlns:p14="http://schemas.microsoft.com/office/powerpoint/2010/main" val="1061796291"/>
              </p:ext>
            </p:extLst>
          </p:nvPr>
        </p:nvGraphicFramePr>
        <p:xfrm>
          <a:off x="445547" y="2059941"/>
          <a:ext cx="9014906" cy="2738117"/>
        </p:xfrm>
        <a:graphic>
          <a:graphicData uri="http://schemas.openxmlformats.org/drawingml/2006/table">
            <a:tbl>
              <a:tblPr firstRow="1" bandRow="1">
                <a:tableStyleId>{912C8C85-51F0-491E-9774-3900AFEF0FD7}</a:tableStyleId>
              </a:tblPr>
              <a:tblGrid>
                <a:gridCol w="1575175">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pt-PT" noProof="0"/>
                        <a:t>Assigned User Stories </a:t>
                      </a:r>
                      <a:r>
                        <a:rPr lang="pt-PT" sz="1200" noProof="0"/>
                        <a:t>(as stated in the project assignment)</a:t>
                      </a:r>
                      <a:endParaRPr lang="pt-PT"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Commited?</a:t>
                      </a:r>
                    </a:p>
                    <a:p>
                      <a:pPr algn="ctr"/>
                      <a:r>
                        <a:rPr lang="pt-PT"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en-US" dirty="0"/>
                        <a:t>USEI01</a:t>
                      </a: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en-US" dirty="0"/>
                        <a:t>USEI02</a:t>
                      </a: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en-US" dirty="0"/>
                        <a:t>USEI03 </a:t>
                      </a: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en-US" dirty="0"/>
                        <a:t>USEI04 </a:t>
                      </a: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USEI05</a:t>
                      </a: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bl>
          </a:graphicData>
        </a:graphic>
      </p:graphicFrame>
    </p:spTree>
    <p:extLst>
      <p:ext uri="{BB962C8B-B14F-4D97-AF65-F5344CB8AC3E}">
        <p14:creationId xmlns:p14="http://schemas.microsoft.com/office/powerpoint/2010/main" val="4186405750"/>
      </p:ext>
    </p:extLst>
  </p:cSld>
  <p:clrMapOvr>
    <a:masterClrMapping/>
  </p:clrMapOvr>
  <p:transition spd="med">
    <p:fade/>
  </p:transition>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C24B-CA8B-6756-A7BB-316A8DCE55BD}"/>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D7B3E71D-AE7C-0BFC-0886-FD77585F8C63}"/>
              </a:ext>
            </a:extLst>
          </p:cNvPr>
          <p:cNvSpPr>
            <a:spLocks noGrp="1"/>
          </p:cNvSpPr>
          <p:nvPr>
            <p:ph type="title"/>
          </p:nvPr>
        </p:nvSpPr>
        <p:spPr>
          <a:xfrm>
            <a:off x="414000" y="1000108"/>
            <a:ext cx="9219520" cy="571504"/>
          </a:xfrm>
        </p:spPr>
        <p:txBody>
          <a:bodyPr/>
          <a:lstStyle/>
          <a:p>
            <a:r>
              <a:rPr lang="pt-PT" sz="3200" cap="none" noProof="0" dirty="0">
                <a:solidFill>
                  <a:schemeClr val="tx1"/>
                </a:solidFill>
              </a:rPr>
              <a:t>Sprint 1 planning</a:t>
            </a:r>
          </a:p>
        </p:txBody>
      </p:sp>
      <p:graphicFrame>
        <p:nvGraphicFramePr>
          <p:cNvPr id="2" name="Tabela 2">
            <a:extLst>
              <a:ext uri="{FF2B5EF4-FFF2-40B4-BE49-F238E27FC236}">
                <a16:creationId xmlns:a16="http://schemas.microsoft.com/office/drawing/2014/main" id="{46358FD6-89E2-5655-3F19-A803E994138D}"/>
              </a:ext>
            </a:extLst>
          </p:cNvPr>
          <p:cNvGraphicFramePr>
            <a:graphicFrameLocks noGrp="1"/>
          </p:cNvGraphicFramePr>
          <p:nvPr>
            <p:extLst>
              <p:ext uri="{D42A27DB-BD31-4B8C-83A1-F6EECF244321}">
                <p14:modId xmlns:p14="http://schemas.microsoft.com/office/powerpoint/2010/main" val="1002748409"/>
              </p:ext>
            </p:extLst>
          </p:nvPr>
        </p:nvGraphicFramePr>
        <p:xfrm>
          <a:off x="414000" y="2186885"/>
          <a:ext cx="9008401" cy="1996439"/>
        </p:xfrm>
        <a:graphic>
          <a:graphicData uri="http://schemas.openxmlformats.org/drawingml/2006/table">
            <a:tbl>
              <a:tblPr firstRow="1" bandRow="1">
                <a:tableStyleId>{912C8C85-51F0-491E-9774-3900AFEF0FD7}</a:tableStyleId>
              </a:tblPr>
              <a:tblGrid>
                <a:gridCol w="1568670">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pt-PT" noProof="0" dirty="0"/>
                        <a:t>Assigned User Stories </a:t>
                      </a:r>
                      <a:r>
                        <a:rPr lang="pt-PT" sz="1200" noProof="0" dirty="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Commited?</a:t>
                      </a:r>
                    </a:p>
                    <a:p>
                      <a:pPr algn="ctr"/>
                      <a:r>
                        <a:rPr lang="pt-PT"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en-US" dirty="0"/>
                        <a:t>USLP01</a:t>
                      </a: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en-US" dirty="0"/>
                        <a:t>USLP02</a:t>
                      </a: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en-US" dirty="0"/>
                        <a:t>USLP03</a:t>
                      </a: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bl>
          </a:graphicData>
        </a:graphic>
      </p:graphicFrame>
    </p:spTree>
    <p:extLst>
      <p:ext uri="{BB962C8B-B14F-4D97-AF65-F5344CB8AC3E}">
        <p14:creationId xmlns:p14="http://schemas.microsoft.com/office/powerpoint/2010/main" val="3617855979"/>
      </p:ext>
    </p:extLst>
  </p:cSld>
  <p:clrMapOvr>
    <a:masterClrMapping/>
  </p:clrMapOvr>
  <p:transition spd="med">
    <p:fade/>
  </p:transition>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09C92-6533-459B-B793-05CE76CDCCC0}"/>
              </a:ext>
            </a:extLst>
          </p:cNvPr>
          <p:cNvSpPr>
            <a:spLocks noGrp="1"/>
          </p:cNvSpPr>
          <p:nvPr>
            <p:ph type="title"/>
          </p:nvPr>
        </p:nvSpPr>
        <p:spPr/>
        <p:txBody>
          <a:bodyPr/>
          <a:lstStyle/>
          <a:p>
            <a:r>
              <a:rPr lang="pt-PT" sz="3200" cap="none" noProof="0" dirty="0">
                <a:solidFill>
                  <a:schemeClr val="tx1"/>
                </a:solidFill>
              </a:rPr>
              <a:t>Work assigned by team member</a:t>
            </a:r>
          </a:p>
        </p:txBody>
      </p:sp>
      <p:graphicFrame>
        <p:nvGraphicFramePr>
          <p:cNvPr id="6" name="Gráfico 5">
            <a:extLst>
              <a:ext uri="{FF2B5EF4-FFF2-40B4-BE49-F238E27FC236}">
                <a16:creationId xmlns:a16="http://schemas.microsoft.com/office/drawing/2014/main" id="{CC0ADD5B-A00D-489E-9390-B75485840C80}"/>
              </a:ext>
            </a:extLst>
          </p:cNvPr>
          <p:cNvGraphicFramePr/>
          <p:nvPr>
            <p:extLst>
              <p:ext uri="{D42A27DB-BD31-4B8C-83A1-F6EECF244321}">
                <p14:modId xmlns:p14="http://schemas.microsoft.com/office/powerpoint/2010/main" val="800817317"/>
              </p:ext>
            </p:extLst>
          </p:nvPr>
        </p:nvGraphicFramePr>
        <p:xfrm>
          <a:off x="1622630" y="1673805"/>
          <a:ext cx="6604000" cy="4402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42576471"/>
      </p:ext>
    </p:extLst>
  </p:cSld>
  <p:clrMapOvr>
    <a:masterClrMapping/>
  </p:clrMapOvr>
  <p:transition spd="med">
    <p:fade/>
  </p:transition>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09C92-6533-459B-B793-05CE76CDCCC0}"/>
              </a:ext>
            </a:extLst>
          </p:cNvPr>
          <p:cNvSpPr>
            <a:spLocks noGrp="1"/>
          </p:cNvSpPr>
          <p:nvPr>
            <p:ph type="title"/>
          </p:nvPr>
        </p:nvSpPr>
        <p:spPr/>
        <p:txBody>
          <a:bodyPr/>
          <a:lstStyle/>
          <a:p>
            <a:r>
              <a:rPr lang="pt-PT" sz="3200" cap="none" noProof="0" dirty="0">
                <a:solidFill>
                  <a:schemeClr val="tx1"/>
                </a:solidFill>
              </a:rPr>
              <a:t> Work assigned by type (componente)</a:t>
            </a:r>
          </a:p>
        </p:txBody>
      </p:sp>
      <p:graphicFrame>
        <p:nvGraphicFramePr>
          <p:cNvPr id="5" name="Gráfico 4">
            <a:extLst>
              <a:ext uri="{FF2B5EF4-FFF2-40B4-BE49-F238E27FC236}">
                <a16:creationId xmlns:a16="http://schemas.microsoft.com/office/drawing/2014/main" id="{90ED7699-5188-411A-AA61-860BAD3DF6D1}"/>
              </a:ext>
            </a:extLst>
          </p:cNvPr>
          <p:cNvGraphicFramePr/>
          <p:nvPr>
            <p:extLst>
              <p:ext uri="{D42A27DB-BD31-4B8C-83A1-F6EECF244321}">
                <p14:modId xmlns:p14="http://schemas.microsoft.com/office/powerpoint/2010/main" val="1946896827"/>
              </p:ext>
            </p:extLst>
          </p:nvPr>
        </p:nvGraphicFramePr>
        <p:xfrm>
          <a:off x="1487615" y="1898830"/>
          <a:ext cx="6604000" cy="4402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06292261"/>
      </p:ext>
    </p:extLst>
  </p:cSld>
  <p:clrMapOvr>
    <a:masterClrMapping/>
  </p:clrMapOvr>
  <p:transition spd="med">
    <p:fade/>
  </p:transition>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DB96577C-34ED-48A2-A7FD-C6822D87959C}"/>
              </a:ext>
            </a:extLst>
          </p:cNvPr>
          <p:cNvSpPr>
            <a:spLocks noGrp="1"/>
          </p:cNvSpPr>
          <p:nvPr>
            <p:ph type="title"/>
          </p:nvPr>
        </p:nvSpPr>
        <p:spPr/>
        <p:txBody>
          <a:bodyPr/>
          <a:lstStyle/>
          <a:p>
            <a:r>
              <a:rPr lang="pt-PT" sz="3200" cap="none" noProof="0" dirty="0">
                <a:solidFill>
                  <a:schemeClr val="tx1"/>
                </a:solidFill>
              </a:rPr>
              <a:t>Issues / Assumptions / unanswered questions</a:t>
            </a:r>
            <a:endParaRPr lang="pt-PT" sz="3200" cap="none" noProof="0" dirty="0"/>
          </a:p>
        </p:txBody>
      </p:sp>
      <p:graphicFrame>
        <p:nvGraphicFramePr>
          <p:cNvPr id="3" name="Tabela 2">
            <a:extLst>
              <a:ext uri="{FF2B5EF4-FFF2-40B4-BE49-F238E27FC236}">
                <a16:creationId xmlns:a16="http://schemas.microsoft.com/office/drawing/2014/main" id="{2765780B-B941-BB03-F491-AFEFC4822F45}"/>
              </a:ext>
            </a:extLst>
          </p:cNvPr>
          <p:cNvGraphicFramePr>
            <a:graphicFrameLocks noGrp="1"/>
          </p:cNvGraphicFramePr>
          <p:nvPr>
            <p:extLst>
              <p:ext uri="{D42A27DB-BD31-4B8C-83A1-F6EECF244321}">
                <p14:modId xmlns:p14="http://schemas.microsoft.com/office/powerpoint/2010/main" val="1202202254"/>
              </p:ext>
            </p:extLst>
          </p:nvPr>
        </p:nvGraphicFramePr>
        <p:xfrm>
          <a:off x="370845" y="2438890"/>
          <a:ext cx="9129510" cy="2641750"/>
        </p:xfrm>
        <a:graphic>
          <a:graphicData uri="http://schemas.openxmlformats.org/drawingml/2006/table">
            <a:tbl>
              <a:tblPr firstRow="1" bandRow="1">
                <a:tableStyleId>{912C8C85-51F0-491E-9774-3900AFEF0FD7}</a:tableStyleId>
              </a:tblPr>
              <a:tblGrid>
                <a:gridCol w="3998940">
                  <a:extLst>
                    <a:ext uri="{9D8B030D-6E8A-4147-A177-3AD203B41FA5}">
                      <a16:colId xmlns:a16="http://schemas.microsoft.com/office/drawing/2014/main" val="3798560086"/>
                    </a:ext>
                  </a:extLst>
                </a:gridCol>
                <a:gridCol w="1710190">
                  <a:extLst>
                    <a:ext uri="{9D8B030D-6E8A-4147-A177-3AD203B41FA5}">
                      <a16:colId xmlns:a16="http://schemas.microsoft.com/office/drawing/2014/main" val="477562216"/>
                    </a:ext>
                  </a:extLst>
                </a:gridCol>
                <a:gridCol w="1530170">
                  <a:extLst>
                    <a:ext uri="{9D8B030D-6E8A-4147-A177-3AD203B41FA5}">
                      <a16:colId xmlns:a16="http://schemas.microsoft.com/office/drawing/2014/main" val="1777303491"/>
                    </a:ext>
                  </a:extLst>
                </a:gridCol>
                <a:gridCol w="1890210">
                  <a:extLst>
                    <a:ext uri="{9D8B030D-6E8A-4147-A177-3AD203B41FA5}">
                      <a16:colId xmlns:a16="http://schemas.microsoft.com/office/drawing/2014/main" val="2634392098"/>
                    </a:ext>
                  </a:extLst>
                </a:gridCol>
              </a:tblGrid>
              <a:tr h="630070">
                <a:tc>
                  <a:txBody>
                    <a:bodyPr/>
                    <a:lstStyle/>
                    <a:p>
                      <a:r>
                        <a:rPr lang="pt-PT" sz="1200" noProof="0"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200" noProof="0" dirty="0"/>
                        <a:t>Responsible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Date / sprint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Related issue / </a:t>
                      </a:r>
                    </a:p>
                    <a:p>
                      <a:pPr algn="ctr"/>
                      <a:r>
                        <a:rPr lang="pt-PT" noProof="0" dirty="0"/>
                        <a:t>item in Git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497800">
                <a:tc>
                  <a:txBody>
                    <a:bodyPr/>
                    <a:lstStyle/>
                    <a:p>
                      <a:r>
                        <a:rPr lang="pt-PT" b="1" noProof="0" dirty="0"/>
                        <a:t>USLP03</a:t>
                      </a:r>
                      <a:r>
                        <a:rPr lang="pt-PT" noProof="0" dirty="0"/>
                        <a:t> – given that the acceptance criteria was unclear, and no concrete answer was given in the client forum, it was assumed that this user story was supposed to be developed in Oracle Live SQL, as a simple script instead of a java program.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p>
                      <a:pPr algn="ctr"/>
                      <a:endParaRPr lang="pt-PT" noProof="0" dirty="0"/>
                    </a:p>
                    <a:p>
                      <a:pPr algn="ctr"/>
                      <a:endParaRPr lang="pt-PT" noProof="0" dirty="0"/>
                    </a:p>
                    <a:p>
                      <a:pPr algn="ctr"/>
                      <a:endParaRPr lang="pt-PT" noProof="0" dirty="0"/>
                    </a:p>
                    <a:p>
                      <a:pPr algn="ctr"/>
                      <a:r>
                        <a:rPr lang="pt-PT" noProof="0" dirty="0"/>
                        <a:t>Maria &amp; Gonçalo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p>
                      <a:pPr algn="ctr"/>
                      <a:endParaRPr lang="pt-PT" noProof="0" dirty="0"/>
                    </a:p>
                    <a:p>
                      <a:pPr algn="ctr"/>
                      <a:endParaRPr lang="pt-PT" noProof="0" dirty="0"/>
                    </a:p>
                    <a:p>
                      <a:pPr algn="ctr"/>
                      <a:endParaRPr lang="pt-PT" noProof="0" dirty="0"/>
                    </a:p>
                    <a:p>
                      <a:pPr algn="ctr"/>
                      <a:r>
                        <a:rPr lang="pt-PT" noProof="0" dirty="0"/>
                        <a:t>Sprint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pt-PT" b="1" noProof="0" dirty="0"/>
                        <a:t>USLP03</a:t>
                      </a:r>
                      <a:r>
                        <a:rPr lang="pt-PT" noProof="0" dirty="0"/>
                        <a:t> - </a:t>
                      </a:r>
                      <a:r>
                        <a:rPr lang="en-US" sz="1400" b="0" i="0" u="none" strike="noStrike" cap="none" dirty="0">
                          <a:solidFill>
                            <a:schemeClr val="tx1"/>
                          </a:solidFill>
                          <a:effectLst/>
                          <a:latin typeface="+mn-lt"/>
                          <a:ea typeface="+mn-ea"/>
                          <a:cs typeface="+mn-cs"/>
                          <a:sym typeface="Arial"/>
                        </a:rPr>
                        <a:t>As a Traffic Dispatcher, I want to calculate the estimated travel time between two stations, with a direct connection between them, and a selected locomotive</a:t>
                      </a: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bl>
          </a:graphicData>
        </a:graphic>
      </p:graphicFrame>
    </p:spTree>
    <p:extLst>
      <p:ext uri="{BB962C8B-B14F-4D97-AF65-F5344CB8AC3E}">
        <p14:creationId xmlns:p14="http://schemas.microsoft.com/office/powerpoint/2010/main" val="3745336153"/>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329E7-3FFD-D203-2288-6373118FC011}"/>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94485DCF-CD7D-9487-0175-274A08E056DE}"/>
              </a:ext>
            </a:extLst>
          </p:cNvPr>
          <p:cNvSpPr>
            <a:spLocks noGrp="1"/>
          </p:cNvSpPr>
          <p:nvPr>
            <p:ph type="title"/>
          </p:nvPr>
        </p:nvSpPr>
        <p:spPr/>
        <p:txBody>
          <a:bodyPr/>
          <a:lstStyle/>
          <a:p>
            <a:r>
              <a:rPr lang="pt-PT" sz="3200" cap="none" noProof="0" dirty="0">
                <a:solidFill>
                  <a:schemeClr val="tx1"/>
                </a:solidFill>
              </a:rPr>
              <a:t>Daily Meetings</a:t>
            </a:r>
            <a:endParaRPr lang="pt-PT" sz="3200" cap="none" noProof="0" dirty="0"/>
          </a:p>
        </p:txBody>
      </p:sp>
      <p:sp>
        <p:nvSpPr>
          <p:cNvPr id="2" name="Título 4">
            <a:extLst>
              <a:ext uri="{FF2B5EF4-FFF2-40B4-BE49-F238E27FC236}">
                <a16:creationId xmlns:a16="http://schemas.microsoft.com/office/drawing/2014/main" id="{6298545B-B353-4200-A812-3BB5E336033D}"/>
              </a:ext>
            </a:extLst>
          </p:cNvPr>
          <p:cNvSpPr txBox="1">
            <a:spLocks/>
          </p:cNvSpPr>
          <p:nvPr/>
        </p:nvSpPr>
        <p:spPr>
          <a:xfrm>
            <a:off x="431400" y="1571611"/>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pt-PT" sz="2000" b="0" kern="0" noProof="0" dirty="0">
              <a:solidFill>
                <a:schemeClr val="tx1"/>
              </a:solidFill>
            </a:endParaRPr>
          </a:p>
        </p:txBody>
      </p:sp>
      <p:graphicFrame>
        <p:nvGraphicFramePr>
          <p:cNvPr id="3" name="Tabela 2">
            <a:extLst>
              <a:ext uri="{FF2B5EF4-FFF2-40B4-BE49-F238E27FC236}">
                <a16:creationId xmlns:a16="http://schemas.microsoft.com/office/drawing/2014/main" id="{9A760796-9F6B-C0FD-165B-0762CD07EBDE}"/>
              </a:ext>
            </a:extLst>
          </p:cNvPr>
          <p:cNvGraphicFramePr>
            <a:graphicFrameLocks noGrp="1"/>
          </p:cNvGraphicFramePr>
          <p:nvPr>
            <p:extLst>
              <p:ext uri="{D42A27DB-BD31-4B8C-83A1-F6EECF244321}">
                <p14:modId xmlns:p14="http://schemas.microsoft.com/office/powerpoint/2010/main" val="738975316"/>
              </p:ext>
            </p:extLst>
          </p:nvPr>
        </p:nvGraphicFramePr>
        <p:xfrm>
          <a:off x="407495" y="1673805"/>
          <a:ext cx="9136015" cy="4244584"/>
        </p:xfrm>
        <a:graphic>
          <a:graphicData uri="http://schemas.openxmlformats.org/drawingml/2006/table">
            <a:tbl>
              <a:tblPr firstRow="1" bandRow="1">
                <a:tableStyleId>{912C8C85-51F0-491E-9774-3900AFEF0FD7}</a:tableStyleId>
              </a:tblPr>
              <a:tblGrid>
                <a:gridCol w="1710190">
                  <a:extLst>
                    <a:ext uri="{9D8B030D-6E8A-4147-A177-3AD203B41FA5}">
                      <a16:colId xmlns:a16="http://schemas.microsoft.com/office/drawing/2014/main" val="3798560086"/>
                    </a:ext>
                  </a:extLst>
                </a:gridCol>
                <a:gridCol w="1260140">
                  <a:extLst>
                    <a:ext uri="{9D8B030D-6E8A-4147-A177-3AD203B41FA5}">
                      <a16:colId xmlns:a16="http://schemas.microsoft.com/office/drawing/2014/main" val="477562216"/>
                    </a:ext>
                  </a:extLst>
                </a:gridCol>
                <a:gridCol w="1395155">
                  <a:extLst>
                    <a:ext uri="{9D8B030D-6E8A-4147-A177-3AD203B41FA5}">
                      <a16:colId xmlns:a16="http://schemas.microsoft.com/office/drawing/2014/main" val="1777303491"/>
                    </a:ext>
                  </a:extLst>
                </a:gridCol>
                <a:gridCol w="1215135">
                  <a:extLst>
                    <a:ext uri="{9D8B030D-6E8A-4147-A177-3AD203B41FA5}">
                      <a16:colId xmlns:a16="http://schemas.microsoft.com/office/drawing/2014/main" val="4055970072"/>
                    </a:ext>
                  </a:extLst>
                </a:gridCol>
                <a:gridCol w="1170130">
                  <a:extLst>
                    <a:ext uri="{9D8B030D-6E8A-4147-A177-3AD203B41FA5}">
                      <a16:colId xmlns:a16="http://schemas.microsoft.com/office/drawing/2014/main" val="2634392098"/>
                    </a:ext>
                  </a:extLst>
                </a:gridCol>
                <a:gridCol w="1215135">
                  <a:extLst>
                    <a:ext uri="{9D8B030D-6E8A-4147-A177-3AD203B41FA5}">
                      <a16:colId xmlns:a16="http://schemas.microsoft.com/office/drawing/2014/main" val="3954452917"/>
                    </a:ext>
                  </a:extLst>
                </a:gridCol>
                <a:gridCol w="1170130">
                  <a:extLst>
                    <a:ext uri="{9D8B030D-6E8A-4147-A177-3AD203B41FA5}">
                      <a16:colId xmlns:a16="http://schemas.microsoft.com/office/drawing/2014/main" val="1328943202"/>
                    </a:ext>
                  </a:extLst>
                </a:gridCol>
              </a:tblGrid>
              <a:tr h="617464">
                <a:tc>
                  <a:txBody>
                    <a:bodyPr/>
                    <a:lstStyle/>
                    <a:p>
                      <a:r>
                        <a:rPr lang="pt-PT" sz="1200" b="1" i="0" u="none" strike="noStrike" cap="none" noProof="0" dirty="0">
                          <a:solidFill>
                            <a:schemeClr val="bg1"/>
                          </a:solidFill>
                          <a:latin typeface="+mn-lt"/>
                          <a:ea typeface="+mn-ea"/>
                          <a:cs typeface="+mn-cs"/>
                          <a:sym typeface="Arial"/>
                        </a:rPr>
                        <a:t>Date (of the 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200" b="1" i="0" u="none" strike="noStrike" cap="none" noProof="0" dirty="0">
                          <a:solidFill>
                            <a:schemeClr val="bg1"/>
                          </a:solidFill>
                          <a:latin typeface="+mn-lt"/>
                          <a:ea typeface="+mn-ea"/>
                          <a:cs typeface="+mn-cs"/>
                          <a:sym typeface="Arial"/>
                        </a:rPr>
                        <a:t>Place / 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Francisco</a:t>
                      </a:r>
                    </a:p>
                    <a:p>
                      <a:pPr algn="ctr"/>
                      <a:r>
                        <a:rPr lang="pt-PT" sz="1400" noProof="0" dirty="0"/>
                        <a:t>Vasconcelos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Gabriel</a:t>
                      </a:r>
                    </a:p>
                    <a:p>
                      <a:pPr algn="ctr"/>
                      <a:r>
                        <a:rPr lang="pt-PT" sz="1400" noProof="0" dirty="0"/>
                        <a:t>Inácio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Gonçalo</a:t>
                      </a:r>
                    </a:p>
                    <a:p>
                      <a:pPr algn="ctr"/>
                      <a:r>
                        <a:rPr lang="pt-PT" sz="1400" noProof="0" dirty="0"/>
                        <a:t>Azevedo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Maria</a:t>
                      </a:r>
                    </a:p>
                    <a:p>
                      <a:pPr algn="ctr"/>
                      <a:r>
                        <a:rPr lang="pt-PT" sz="1400" noProof="0" dirty="0"/>
                        <a:t>Pinto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Paulo</a:t>
                      </a:r>
                    </a:p>
                    <a:p>
                      <a:pPr algn="ctr"/>
                      <a:r>
                        <a:rPr lang="pt-PT" sz="1400" noProof="0" dirty="0"/>
                        <a:t>Ferreira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441046">
                <a:tc>
                  <a:txBody>
                    <a:bodyPr/>
                    <a:lstStyle/>
                    <a:p>
                      <a:r>
                        <a:rPr lang="pt-PT" noProof="0" dirty="0"/>
                        <a:t>30/09/2025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Online / </a:t>
                      </a:r>
                    </a:p>
                    <a:p>
                      <a:pPr algn="ctr"/>
                      <a:r>
                        <a:rPr lang="pt-PT" noProof="0" dirty="0"/>
                        <a:t>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63419">
                <a:tc>
                  <a:txBody>
                    <a:bodyPr/>
                    <a:lstStyle/>
                    <a:p>
                      <a:pPr lvl="0">
                        <a:buNone/>
                      </a:pPr>
                      <a:r>
                        <a:rPr lang="pt-PT" noProof="0" dirty="0"/>
                        <a:t>04/10/2025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Online / </a:t>
                      </a:r>
                    </a:p>
                    <a:p>
                      <a:pPr algn="ctr"/>
                      <a:r>
                        <a:rPr lang="pt-PT" noProof="0" dirty="0"/>
                        <a:t>12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63419">
                <a:tc>
                  <a:txBody>
                    <a:bodyPr/>
                    <a:lstStyle/>
                    <a:p>
                      <a:pPr lvl="0">
                        <a:buNone/>
                      </a:pPr>
                      <a:r>
                        <a:rPr lang="pt-PT" noProof="0" dirty="0"/>
                        <a:t>06/10/2025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Online / </a:t>
                      </a:r>
                    </a:p>
                    <a:p>
                      <a:pPr algn="ctr"/>
                      <a:r>
                        <a:rPr lang="pt-PT" noProof="0" dirty="0"/>
                        <a:t>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192882"/>
                  </a:ext>
                </a:extLst>
              </a:tr>
              <a:tr h="363419">
                <a:tc>
                  <a:txBody>
                    <a:bodyPr/>
                    <a:lstStyle/>
                    <a:p>
                      <a:pPr lvl="0">
                        <a:buNone/>
                      </a:pPr>
                      <a:r>
                        <a:rPr lang="pt-PT" noProof="0" dirty="0"/>
                        <a:t>08/10/2025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a:t>
                      </a:r>
                    </a:p>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7473310"/>
                  </a:ext>
                </a:extLst>
              </a:tr>
              <a:tr h="363419">
                <a:tc>
                  <a:txBody>
                    <a:bodyPr/>
                    <a:lstStyle/>
                    <a:p>
                      <a:pPr lvl="0">
                        <a:buNone/>
                      </a:pPr>
                      <a:r>
                        <a:rPr lang="pt-PT" noProof="0" dirty="0"/>
                        <a:t>10/10/2025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a:t>
                      </a:r>
                    </a:p>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11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756997"/>
                  </a:ext>
                </a:extLst>
              </a:tr>
              <a:tr h="363419">
                <a:tc>
                  <a:txBody>
                    <a:bodyPr/>
                    <a:lstStyle/>
                    <a:p>
                      <a:pPr lvl="0">
                        <a:buNone/>
                      </a:pPr>
                      <a:r>
                        <a:rPr lang="pt-PT" noProof="0" dirty="0"/>
                        <a:t>13/10/2025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a:t>
                      </a:r>
                    </a:p>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11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198396"/>
                  </a:ext>
                </a:extLst>
              </a:tr>
              <a:tr h="363419">
                <a:tc>
                  <a:txBody>
                    <a:bodyPr/>
                    <a:lstStyle/>
                    <a:p>
                      <a:pPr lvl="0">
                        <a:buNone/>
                      </a:pPr>
                      <a:r>
                        <a:rPr lang="pt-PT" noProof="0" dirty="0"/>
                        <a:t>15/10/2025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a:t>
                      </a:r>
                    </a:p>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11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2213997"/>
                  </a:ext>
                </a:extLst>
              </a:tr>
            </a:tbl>
          </a:graphicData>
        </a:graphic>
      </p:graphicFrame>
    </p:spTree>
    <p:extLst>
      <p:ext uri="{BB962C8B-B14F-4D97-AF65-F5344CB8AC3E}">
        <p14:creationId xmlns:p14="http://schemas.microsoft.com/office/powerpoint/2010/main" val="1272851376"/>
      </p:ext>
    </p:extLst>
  </p:cSld>
  <p:clrMapOvr>
    <a:masterClrMapping/>
  </p:clrMapOvr>
  <p:transition spd="med">
    <p:fade/>
  </p:transition>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CEF2C-5981-959B-0ECA-27E035C1EAFF}"/>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5B0B2713-3DF8-1667-105D-A5222CC64B3E}"/>
              </a:ext>
            </a:extLst>
          </p:cNvPr>
          <p:cNvSpPr>
            <a:spLocks noGrp="1"/>
          </p:cNvSpPr>
          <p:nvPr>
            <p:ph type="title"/>
          </p:nvPr>
        </p:nvSpPr>
        <p:spPr/>
        <p:txBody>
          <a:bodyPr/>
          <a:lstStyle/>
          <a:p>
            <a:r>
              <a:rPr lang="pt-PT" sz="3200" cap="none" noProof="0" dirty="0">
                <a:solidFill>
                  <a:schemeClr val="tx1"/>
                </a:solidFill>
              </a:rPr>
              <a:t>Daily Meetings</a:t>
            </a:r>
            <a:endParaRPr lang="pt-PT" sz="3200" cap="none" noProof="0" dirty="0"/>
          </a:p>
        </p:txBody>
      </p:sp>
      <p:sp>
        <p:nvSpPr>
          <p:cNvPr id="2" name="Título 4">
            <a:extLst>
              <a:ext uri="{FF2B5EF4-FFF2-40B4-BE49-F238E27FC236}">
                <a16:creationId xmlns:a16="http://schemas.microsoft.com/office/drawing/2014/main" id="{C3207DB9-2458-9C0B-F59E-6D1F5AAC63D8}"/>
              </a:ext>
            </a:extLst>
          </p:cNvPr>
          <p:cNvSpPr txBox="1">
            <a:spLocks/>
          </p:cNvSpPr>
          <p:nvPr/>
        </p:nvSpPr>
        <p:spPr>
          <a:xfrm>
            <a:off x="431400" y="1571611"/>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pt-PT" sz="2000" b="0" kern="0" noProof="0" dirty="0">
              <a:solidFill>
                <a:schemeClr val="tx1"/>
              </a:solidFill>
            </a:endParaRPr>
          </a:p>
        </p:txBody>
      </p:sp>
      <p:graphicFrame>
        <p:nvGraphicFramePr>
          <p:cNvPr id="3" name="Tabela 2">
            <a:extLst>
              <a:ext uri="{FF2B5EF4-FFF2-40B4-BE49-F238E27FC236}">
                <a16:creationId xmlns:a16="http://schemas.microsoft.com/office/drawing/2014/main" id="{1C7796C2-B808-CCF2-AA9C-9192CC3495D2}"/>
              </a:ext>
            </a:extLst>
          </p:cNvPr>
          <p:cNvGraphicFramePr>
            <a:graphicFrameLocks noGrp="1"/>
          </p:cNvGraphicFramePr>
          <p:nvPr>
            <p:extLst>
              <p:ext uri="{D42A27DB-BD31-4B8C-83A1-F6EECF244321}">
                <p14:modId xmlns:p14="http://schemas.microsoft.com/office/powerpoint/2010/main" val="1818142795"/>
              </p:ext>
            </p:extLst>
          </p:nvPr>
        </p:nvGraphicFramePr>
        <p:xfrm>
          <a:off x="407495" y="1673805"/>
          <a:ext cx="9136015" cy="4244584"/>
        </p:xfrm>
        <a:graphic>
          <a:graphicData uri="http://schemas.openxmlformats.org/drawingml/2006/table">
            <a:tbl>
              <a:tblPr firstRow="1" bandRow="1">
                <a:tableStyleId>{912C8C85-51F0-491E-9774-3900AFEF0FD7}</a:tableStyleId>
              </a:tblPr>
              <a:tblGrid>
                <a:gridCol w="1710190">
                  <a:extLst>
                    <a:ext uri="{9D8B030D-6E8A-4147-A177-3AD203B41FA5}">
                      <a16:colId xmlns:a16="http://schemas.microsoft.com/office/drawing/2014/main" val="3798560086"/>
                    </a:ext>
                  </a:extLst>
                </a:gridCol>
                <a:gridCol w="1260140">
                  <a:extLst>
                    <a:ext uri="{9D8B030D-6E8A-4147-A177-3AD203B41FA5}">
                      <a16:colId xmlns:a16="http://schemas.microsoft.com/office/drawing/2014/main" val="477562216"/>
                    </a:ext>
                  </a:extLst>
                </a:gridCol>
                <a:gridCol w="1395155">
                  <a:extLst>
                    <a:ext uri="{9D8B030D-6E8A-4147-A177-3AD203B41FA5}">
                      <a16:colId xmlns:a16="http://schemas.microsoft.com/office/drawing/2014/main" val="1777303491"/>
                    </a:ext>
                  </a:extLst>
                </a:gridCol>
                <a:gridCol w="1215135">
                  <a:extLst>
                    <a:ext uri="{9D8B030D-6E8A-4147-A177-3AD203B41FA5}">
                      <a16:colId xmlns:a16="http://schemas.microsoft.com/office/drawing/2014/main" val="4055970072"/>
                    </a:ext>
                  </a:extLst>
                </a:gridCol>
                <a:gridCol w="1170130">
                  <a:extLst>
                    <a:ext uri="{9D8B030D-6E8A-4147-A177-3AD203B41FA5}">
                      <a16:colId xmlns:a16="http://schemas.microsoft.com/office/drawing/2014/main" val="2634392098"/>
                    </a:ext>
                  </a:extLst>
                </a:gridCol>
                <a:gridCol w="1215135">
                  <a:extLst>
                    <a:ext uri="{9D8B030D-6E8A-4147-A177-3AD203B41FA5}">
                      <a16:colId xmlns:a16="http://schemas.microsoft.com/office/drawing/2014/main" val="3954452917"/>
                    </a:ext>
                  </a:extLst>
                </a:gridCol>
                <a:gridCol w="1170130">
                  <a:extLst>
                    <a:ext uri="{9D8B030D-6E8A-4147-A177-3AD203B41FA5}">
                      <a16:colId xmlns:a16="http://schemas.microsoft.com/office/drawing/2014/main" val="1328943202"/>
                    </a:ext>
                  </a:extLst>
                </a:gridCol>
              </a:tblGrid>
              <a:tr h="617464">
                <a:tc>
                  <a:txBody>
                    <a:bodyPr/>
                    <a:lstStyle/>
                    <a:p>
                      <a:r>
                        <a:rPr lang="pt-PT" sz="1200" b="1" i="0" u="none" strike="noStrike" cap="none" noProof="0" dirty="0">
                          <a:solidFill>
                            <a:schemeClr val="bg1"/>
                          </a:solidFill>
                          <a:latin typeface="+mn-lt"/>
                          <a:ea typeface="+mn-ea"/>
                          <a:cs typeface="+mn-cs"/>
                          <a:sym typeface="Arial"/>
                        </a:rPr>
                        <a:t>Date (of the 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200" b="1" i="0" u="none" strike="noStrike" cap="none" noProof="0" dirty="0">
                          <a:solidFill>
                            <a:schemeClr val="bg1"/>
                          </a:solidFill>
                          <a:latin typeface="+mn-lt"/>
                          <a:ea typeface="+mn-ea"/>
                          <a:cs typeface="+mn-cs"/>
                          <a:sym typeface="Arial"/>
                        </a:rPr>
                        <a:t>Place / 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Francisco</a:t>
                      </a:r>
                    </a:p>
                    <a:p>
                      <a:pPr algn="ctr"/>
                      <a:r>
                        <a:rPr lang="pt-PT" sz="1400" noProof="0" dirty="0"/>
                        <a:t>Vasconcelos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Gabriel</a:t>
                      </a:r>
                    </a:p>
                    <a:p>
                      <a:pPr algn="ctr"/>
                      <a:r>
                        <a:rPr lang="pt-PT" sz="1400" noProof="0" dirty="0"/>
                        <a:t>Inácio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Gonçalo</a:t>
                      </a:r>
                    </a:p>
                    <a:p>
                      <a:pPr algn="ctr"/>
                      <a:r>
                        <a:rPr lang="pt-PT" sz="1400" noProof="0" dirty="0"/>
                        <a:t>Azevedo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Maria</a:t>
                      </a:r>
                    </a:p>
                    <a:p>
                      <a:pPr algn="ctr"/>
                      <a:r>
                        <a:rPr lang="pt-PT" sz="1400" noProof="0" dirty="0"/>
                        <a:t>Pinto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Paulo</a:t>
                      </a:r>
                    </a:p>
                    <a:p>
                      <a:pPr algn="ctr"/>
                      <a:r>
                        <a:rPr lang="pt-PT" sz="1400" noProof="0" dirty="0"/>
                        <a:t>Ferreira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441046">
                <a:tc>
                  <a:txBody>
                    <a:bodyPr/>
                    <a:lstStyle/>
                    <a:p>
                      <a:r>
                        <a:rPr lang="pt-PT" noProof="0" dirty="0"/>
                        <a:t>17/10/2025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Online / </a:t>
                      </a:r>
                    </a:p>
                    <a:p>
                      <a:pPr algn="ctr"/>
                      <a:r>
                        <a:rPr lang="pt-PT" noProof="0" dirty="0"/>
                        <a:t>14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63419">
                <a:tc>
                  <a:txBody>
                    <a:bodyPr/>
                    <a:lstStyle/>
                    <a:p>
                      <a:pPr lvl="0">
                        <a:buNone/>
                      </a:pPr>
                      <a:r>
                        <a:rPr lang="pt-PT" noProof="0" dirty="0"/>
                        <a:t>20/10/2025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Online / </a:t>
                      </a:r>
                    </a:p>
                    <a:p>
                      <a:pPr algn="ctr"/>
                      <a:r>
                        <a:rPr lang="pt-PT" noProof="0" dirty="0"/>
                        <a:t>14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63419">
                <a:tc>
                  <a:txBody>
                    <a:bodyPr/>
                    <a:lstStyle/>
                    <a:p>
                      <a:pPr lvl="0">
                        <a:buNone/>
                      </a:pPr>
                      <a:r>
                        <a:rPr lang="pt-PT" noProof="0" dirty="0"/>
                        <a:t>21/10/2025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Online / </a:t>
                      </a:r>
                    </a:p>
                    <a:p>
                      <a:pPr algn="ctr"/>
                      <a:r>
                        <a:rPr lang="pt-PT" noProof="0" dirty="0"/>
                        <a:t>9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192882"/>
                  </a:ext>
                </a:extLst>
              </a:tr>
              <a:tr h="363419">
                <a:tc>
                  <a:txBody>
                    <a:bodyPr/>
                    <a:lstStyle/>
                    <a:p>
                      <a:pPr lvl="0">
                        <a:buNone/>
                      </a:pPr>
                      <a:r>
                        <a:rPr lang="pt-PT" noProof="0" dirty="0"/>
                        <a:t>22/10/2025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a:t>
                      </a:r>
                    </a:p>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13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7473310"/>
                  </a:ext>
                </a:extLst>
              </a:tr>
              <a:tr h="363419">
                <a:tc>
                  <a:txBody>
                    <a:bodyPr/>
                    <a:lstStyle/>
                    <a:p>
                      <a:pPr lvl="0">
                        <a:buNone/>
                      </a:pPr>
                      <a:r>
                        <a:rPr lang="pt-PT" noProof="0" dirty="0"/>
                        <a:t>23/10/2025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a:t>
                      </a:r>
                    </a:p>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11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756997"/>
                  </a:ext>
                </a:extLst>
              </a:tr>
              <a:tr h="363419">
                <a:tc>
                  <a:txBody>
                    <a:bodyPr/>
                    <a:lstStyle/>
                    <a:p>
                      <a:pPr lvl="0">
                        <a:buNone/>
                      </a:pPr>
                      <a:r>
                        <a:rPr lang="pt-PT" noProof="0" dirty="0"/>
                        <a:t>24/10/2025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a:t>
                      </a:r>
                    </a:p>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11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198396"/>
                  </a:ext>
                </a:extLst>
              </a:tr>
              <a:tr h="363419">
                <a:tc>
                  <a:txBody>
                    <a:bodyPr/>
                    <a:lstStyle/>
                    <a:p>
                      <a:pPr lvl="0">
                        <a:buNone/>
                      </a:pPr>
                      <a:r>
                        <a:rPr lang="pt-PT" noProof="0" dirty="0"/>
                        <a:t>25/10/2025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a:t>
                      </a:r>
                    </a:p>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2213997"/>
                  </a:ext>
                </a:extLst>
              </a:tr>
            </a:tbl>
          </a:graphicData>
        </a:graphic>
      </p:graphicFrame>
    </p:spTree>
    <p:extLst>
      <p:ext uri="{BB962C8B-B14F-4D97-AF65-F5344CB8AC3E}">
        <p14:creationId xmlns:p14="http://schemas.microsoft.com/office/powerpoint/2010/main" val="2692954701"/>
      </p:ext>
    </p:extLst>
  </p:cSld>
  <p:clrMapOvr>
    <a:masterClrMapping/>
  </p:clrMapOvr>
  <p:transition spd="med">
    <p:fade/>
  </p:transition>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CB12B-83CD-A79C-40AB-A4F8FFB78E66}"/>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072D3FC9-4165-9BE5-544E-277A081AC66F}"/>
              </a:ext>
            </a:extLst>
          </p:cNvPr>
          <p:cNvSpPr>
            <a:spLocks noGrp="1"/>
          </p:cNvSpPr>
          <p:nvPr>
            <p:ph type="title"/>
          </p:nvPr>
        </p:nvSpPr>
        <p:spPr/>
        <p:txBody>
          <a:bodyPr/>
          <a:lstStyle/>
          <a:p>
            <a:r>
              <a:rPr lang="pt-PT" sz="3200" noProof="0" dirty="0">
                <a:solidFill>
                  <a:schemeClr val="tx1"/>
                </a:solidFill>
              </a:rPr>
              <a:t>LLM</a:t>
            </a:r>
            <a:r>
              <a:rPr lang="pt-PT" sz="3200" cap="none" noProof="0" dirty="0">
                <a:solidFill>
                  <a:schemeClr val="tx1"/>
                </a:solidFill>
              </a:rPr>
              <a:t> performance assessment </a:t>
            </a:r>
            <a:r>
              <a:rPr lang="pt-PT" sz="2800" cap="none" noProof="0" dirty="0">
                <a:solidFill>
                  <a:schemeClr val="tx1"/>
                </a:solidFill>
              </a:rPr>
              <a:t>(use ChatGPT or Copilot)</a:t>
            </a:r>
            <a:endParaRPr lang="pt-PT" sz="3200" cap="none" noProof="0" dirty="0"/>
          </a:p>
        </p:txBody>
      </p:sp>
      <p:sp>
        <p:nvSpPr>
          <p:cNvPr id="2" name="Título 4">
            <a:extLst>
              <a:ext uri="{FF2B5EF4-FFF2-40B4-BE49-F238E27FC236}">
                <a16:creationId xmlns:a16="http://schemas.microsoft.com/office/drawing/2014/main" id="{7856DF50-9E5E-4610-FEB2-C4A38022FCFD}"/>
              </a:ext>
            </a:extLst>
          </p:cNvPr>
          <p:cNvSpPr txBox="1">
            <a:spLocks/>
          </p:cNvSpPr>
          <p:nvPr/>
        </p:nvSpPr>
        <p:spPr>
          <a:xfrm>
            <a:off x="448800" y="1590337"/>
            <a:ext cx="9043200" cy="4763988"/>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pt-PT" sz="2000" b="0" kern="0" noProof="0" dirty="0">
                <a:solidFill>
                  <a:schemeClr val="tx1"/>
                </a:solidFill>
              </a:rPr>
              <a:t>Source file (attach the file you have used):</a:t>
            </a:r>
          </a:p>
          <a:p>
            <a:endParaRPr lang="pt-PT" sz="2000" b="0" kern="0" noProof="0" dirty="0">
              <a:solidFill>
                <a:schemeClr val="tx1"/>
              </a:solidFill>
            </a:endParaRPr>
          </a:p>
          <a:p>
            <a:endParaRPr lang="pt-PT" sz="2000" b="0" kern="0" noProof="0" dirty="0">
              <a:solidFill>
                <a:schemeClr val="tx1"/>
              </a:solidFill>
            </a:endParaRPr>
          </a:p>
          <a:p>
            <a:r>
              <a:rPr lang="pt-PT" sz="2000" b="0" kern="0" noProof="0" dirty="0">
                <a:solidFill>
                  <a:schemeClr val="tx1"/>
                </a:solidFill>
              </a:rPr>
              <a:t>Input (write down the prompt you used to ask for the performance assessment) :</a:t>
            </a:r>
          </a:p>
          <a:p>
            <a:endParaRPr lang="pt-PT" sz="2000" b="0" kern="0" noProof="0" dirty="0">
              <a:solidFill>
                <a:schemeClr val="tx1"/>
              </a:solidFill>
            </a:endParaRPr>
          </a:p>
          <a:p>
            <a:r>
              <a:rPr lang="en-US" sz="2000" b="0" kern="0" noProof="0" dirty="0">
                <a:solidFill>
                  <a:schemeClr val="tx1"/>
                </a:solidFill>
              </a:rPr>
              <a:t>“Based on the file containing every member's updates throughout the sprint, write an individual LLM performance assessment for every member and a global one for the whole team, in order to evaluate everyone's personal and teamwork.”</a:t>
            </a:r>
            <a:endParaRPr lang="pt-PT" sz="2000" b="0" kern="0" noProof="0" dirty="0">
              <a:solidFill>
                <a:schemeClr val="tx1"/>
              </a:solidFill>
            </a:endParaRPr>
          </a:p>
        </p:txBody>
      </p:sp>
      <p:graphicFrame>
        <p:nvGraphicFramePr>
          <p:cNvPr id="6" name="Object 5">
            <a:extLst>
              <a:ext uri="{FF2B5EF4-FFF2-40B4-BE49-F238E27FC236}">
                <a16:creationId xmlns:a16="http://schemas.microsoft.com/office/drawing/2014/main" id="{6C60B9E1-77B7-C397-DEB0-3A44A75C172B}"/>
              </a:ext>
            </a:extLst>
          </p:cNvPr>
          <p:cNvGraphicFramePr>
            <a:graphicFrameLocks noChangeAspect="1"/>
          </p:cNvGraphicFramePr>
          <p:nvPr>
            <p:extLst>
              <p:ext uri="{D42A27DB-BD31-4B8C-83A1-F6EECF244321}">
                <p14:modId xmlns:p14="http://schemas.microsoft.com/office/powerpoint/2010/main" val="1578222647"/>
              </p:ext>
            </p:extLst>
          </p:nvPr>
        </p:nvGraphicFramePr>
        <p:xfrm>
          <a:off x="4973485" y="1718810"/>
          <a:ext cx="1093373" cy="675075"/>
        </p:xfrm>
        <a:graphic>
          <a:graphicData uri="http://schemas.openxmlformats.org/presentationml/2006/ole">
            <mc:AlternateContent xmlns:mc="http://schemas.openxmlformats.org/markup-compatibility/2006">
              <mc:Choice xmlns:v="urn:schemas-microsoft-com:vml" Requires="v">
                <p:oleObj name="Packager Shell Object" showAsIcon="1" r:id="rId3" imgW="838271" imgH="518081" progId="Package">
                  <p:embed/>
                </p:oleObj>
              </mc:Choice>
              <mc:Fallback>
                <p:oleObj name="Packager Shell Object" showAsIcon="1" r:id="rId3" imgW="838271" imgH="518081" progId="Package">
                  <p:embed/>
                  <p:pic>
                    <p:nvPicPr>
                      <p:cNvPr id="0" name=""/>
                      <p:cNvPicPr/>
                      <p:nvPr/>
                    </p:nvPicPr>
                    <p:blipFill>
                      <a:blip r:embed="rId4"/>
                      <a:stretch>
                        <a:fillRect/>
                      </a:stretch>
                    </p:blipFill>
                    <p:spPr>
                      <a:xfrm>
                        <a:off x="4973485" y="1718810"/>
                        <a:ext cx="1093373" cy="675075"/>
                      </a:xfrm>
                      <a:prstGeom prst="rect">
                        <a:avLst/>
                      </a:prstGeom>
                    </p:spPr>
                  </p:pic>
                </p:oleObj>
              </mc:Fallback>
            </mc:AlternateContent>
          </a:graphicData>
        </a:graphic>
      </p:graphicFrame>
    </p:spTree>
    <p:extLst>
      <p:ext uri="{BB962C8B-B14F-4D97-AF65-F5344CB8AC3E}">
        <p14:creationId xmlns:p14="http://schemas.microsoft.com/office/powerpoint/2010/main" val="413634187"/>
      </p:ext>
    </p:extLst>
  </p:cSld>
  <p:clrMapOvr>
    <a:masterClrMapping/>
  </p:clrMapOvr>
  <p:transition spd="med">
    <p:fade/>
  </p:transition>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4E430-2642-81CC-FC5F-10469D7682E5}"/>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07C477A9-425C-670A-9E07-3A102D29181D}"/>
              </a:ext>
            </a:extLst>
          </p:cNvPr>
          <p:cNvSpPr>
            <a:spLocks noGrp="1"/>
          </p:cNvSpPr>
          <p:nvPr>
            <p:ph type="title"/>
          </p:nvPr>
        </p:nvSpPr>
        <p:spPr/>
        <p:txBody>
          <a:bodyPr/>
          <a:lstStyle/>
          <a:p>
            <a:r>
              <a:rPr lang="pt-PT" sz="3200" cap="none" noProof="0" dirty="0">
                <a:solidFill>
                  <a:schemeClr val="tx1"/>
                </a:solidFill>
              </a:rPr>
              <a:t>LLM performance assessment - Output</a:t>
            </a:r>
            <a:endParaRPr lang="pt-PT" sz="3200" cap="none" noProof="0" dirty="0"/>
          </a:p>
        </p:txBody>
      </p:sp>
      <p:sp>
        <p:nvSpPr>
          <p:cNvPr id="2" name="Título 4">
            <a:extLst>
              <a:ext uri="{FF2B5EF4-FFF2-40B4-BE49-F238E27FC236}">
                <a16:creationId xmlns:a16="http://schemas.microsoft.com/office/drawing/2014/main" id="{5B8695FE-2C17-FCC1-CCC4-8717D8F253C2}"/>
              </a:ext>
            </a:extLst>
          </p:cNvPr>
          <p:cNvSpPr txBox="1">
            <a:spLocks/>
          </p:cNvSpPr>
          <p:nvPr/>
        </p:nvSpPr>
        <p:spPr>
          <a:xfrm>
            <a:off x="448800" y="1590337"/>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pt-PT" sz="2000" b="0" kern="0" noProof="0" dirty="0">
              <a:solidFill>
                <a:schemeClr val="tx1"/>
              </a:solidFill>
            </a:endParaRPr>
          </a:p>
        </p:txBody>
      </p:sp>
      <p:sp>
        <p:nvSpPr>
          <p:cNvPr id="3" name="Título 4">
            <a:extLst>
              <a:ext uri="{FF2B5EF4-FFF2-40B4-BE49-F238E27FC236}">
                <a16:creationId xmlns:a16="http://schemas.microsoft.com/office/drawing/2014/main" id="{41914A20-7452-6770-365F-62A72A9E05A5}"/>
              </a:ext>
            </a:extLst>
          </p:cNvPr>
          <p:cNvSpPr txBox="1">
            <a:spLocks/>
          </p:cNvSpPr>
          <p:nvPr/>
        </p:nvSpPr>
        <p:spPr>
          <a:xfrm>
            <a:off x="414000" y="1718810"/>
            <a:ext cx="9043200" cy="4320480"/>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pt-PT" sz="2000" kern="0" noProof="0" dirty="0">
                <a:solidFill>
                  <a:schemeClr val="tx1"/>
                </a:solidFill>
              </a:rPr>
              <a:t>Output file </a:t>
            </a:r>
            <a:r>
              <a:rPr lang="pt-PT" sz="2000" b="0" kern="0" noProof="0" dirty="0">
                <a:solidFill>
                  <a:schemeClr val="tx1"/>
                </a:solidFill>
              </a:rPr>
              <a:t>(attach the complete file extracted from the A.I. tool):</a:t>
            </a:r>
          </a:p>
          <a:p>
            <a:endParaRPr lang="pt-PT" sz="2000" kern="0" noProof="0" dirty="0">
              <a:solidFill>
                <a:schemeClr val="tx1"/>
              </a:solidFill>
            </a:endParaRPr>
          </a:p>
          <a:p>
            <a:r>
              <a:rPr lang="pt-PT" sz="2000" kern="0" noProof="0" dirty="0">
                <a:solidFill>
                  <a:schemeClr val="tx1"/>
                </a:solidFill>
              </a:rPr>
              <a:t>Output</a:t>
            </a:r>
            <a:r>
              <a:rPr lang="pt-PT" sz="2000" b="0" kern="0" noProof="0" dirty="0">
                <a:solidFill>
                  <a:schemeClr val="tx1"/>
                </a:solidFill>
              </a:rPr>
              <a:t> (write one line per team member):</a:t>
            </a:r>
          </a:p>
          <a:p>
            <a:r>
              <a:rPr lang="en-US" sz="1400" b="0" kern="0" dirty="0">
                <a:solidFill>
                  <a:schemeClr val="tx1"/>
                </a:solidFill>
              </a:rPr>
              <a:t>Francisco showed high autonomy and technical fluency, especially in backend service orchestration.</a:t>
            </a:r>
          </a:p>
          <a:p>
            <a:r>
              <a:rPr lang="en-US" sz="1400" b="0" kern="0" dirty="0">
                <a:solidFill>
                  <a:schemeClr val="tx1"/>
                </a:solidFill>
              </a:rPr>
              <a:t>Gabriel’s performance was marked by deep attention to data consistency and modularity. </a:t>
            </a:r>
          </a:p>
          <a:p>
            <a:r>
              <a:rPr lang="en-US" sz="1400" b="0" kern="0" dirty="0">
                <a:solidFill>
                  <a:schemeClr val="tx1"/>
                </a:solidFill>
              </a:rPr>
              <a:t>Gonçalo excelled in system modeling and test coverage.</a:t>
            </a:r>
            <a:endParaRPr lang="pt-PT" sz="1400" b="0" kern="0" noProof="0" dirty="0">
              <a:solidFill>
                <a:schemeClr val="tx1"/>
              </a:solidFill>
            </a:endParaRPr>
          </a:p>
          <a:p>
            <a:r>
              <a:rPr lang="en-US" sz="1400" b="0" kern="0" dirty="0">
                <a:solidFill>
                  <a:schemeClr val="tx1"/>
                </a:solidFill>
              </a:rPr>
              <a:t>Maria’s leadership in documentation and alignment was essential.</a:t>
            </a:r>
            <a:endParaRPr lang="pt-PT" sz="1400" b="0" kern="0" noProof="0" dirty="0">
              <a:solidFill>
                <a:schemeClr val="tx1"/>
              </a:solidFill>
            </a:endParaRPr>
          </a:p>
          <a:p>
            <a:r>
              <a:rPr lang="en-US" sz="1400" b="0" kern="0" dirty="0">
                <a:solidFill>
                  <a:schemeClr val="tx1"/>
                </a:solidFill>
              </a:rPr>
              <a:t>Paulo’s contributions were steady and detail-oriented.</a:t>
            </a:r>
          </a:p>
          <a:p>
            <a:endParaRPr lang="pt-PT" sz="1400" b="0" kern="0" noProof="0" dirty="0">
              <a:solidFill>
                <a:schemeClr val="tx1"/>
              </a:solidFill>
            </a:endParaRPr>
          </a:p>
          <a:p>
            <a:r>
              <a:rPr lang="pt-PT" sz="2000" kern="0" noProof="0" dirty="0">
                <a:solidFill>
                  <a:schemeClr val="tx1"/>
                </a:solidFill>
              </a:rPr>
              <a:t>Team Members’ Opinion about the A.I. output:</a:t>
            </a:r>
          </a:p>
          <a:p>
            <a:r>
              <a:rPr lang="en-US" sz="1400" b="0" kern="0" dirty="0">
                <a:solidFill>
                  <a:schemeClr val="tx1"/>
                </a:solidFill>
              </a:rPr>
              <a:t>Francisco: "Cool that it noticed my backend work." </a:t>
            </a:r>
          </a:p>
          <a:p>
            <a:r>
              <a:rPr lang="en-US" sz="1400" b="0" kern="0" dirty="0">
                <a:solidFill>
                  <a:schemeClr val="tx1"/>
                </a:solidFill>
              </a:rPr>
              <a:t>Gabriel: "Glad it saw how much I care about clean data." </a:t>
            </a:r>
          </a:p>
          <a:p>
            <a:r>
              <a:rPr lang="en-US" sz="1400" b="0" kern="0" dirty="0">
                <a:solidFill>
                  <a:schemeClr val="tx1"/>
                </a:solidFill>
              </a:rPr>
              <a:t>Gonçalo: "Nice to see my modeling and tests mentioned." </a:t>
            </a:r>
          </a:p>
          <a:p>
            <a:r>
              <a:rPr lang="en-US" sz="1400" b="0" kern="0" dirty="0">
                <a:solidFill>
                  <a:schemeClr val="tx1"/>
                </a:solidFill>
              </a:rPr>
              <a:t>Maria: "Happy it valued the docs and team alignment." </a:t>
            </a:r>
          </a:p>
          <a:p>
            <a:r>
              <a:rPr lang="en-US" sz="1400" b="0" kern="0" dirty="0">
                <a:solidFill>
                  <a:schemeClr val="tx1"/>
                </a:solidFill>
              </a:rPr>
              <a:t>Paulo: "Good to know my detailed work stood out."</a:t>
            </a:r>
            <a:endParaRPr lang="pt-PT" sz="1400" b="0" kern="0" dirty="0">
              <a:solidFill>
                <a:schemeClr val="tx1"/>
              </a:solidFill>
            </a:endParaRPr>
          </a:p>
        </p:txBody>
      </p:sp>
      <p:graphicFrame>
        <p:nvGraphicFramePr>
          <p:cNvPr id="4" name="Object 3">
            <a:extLst>
              <a:ext uri="{FF2B5EF4-FFF2-40B4-BE49-F238E27FC236}">
                <a16:creationId xmlns:a16="http://schemas.microsoft.com/office/drawing/2014/main" id="{37C1EBE7-08DA-5C34-B43F-9A46447FCB8A}"/>
              </a:ext>
            </a:extLst>
          </p:cNvPr>
          <p:cNvGraphicFramePr>
            <a:graphicFrameLocks noChangeAspect="1"/>
          </p:cNvGraphicFramePr>
          <p:nvPr>
            <p:extLst>
              <p:ext uri="{D42A27DB-BD31-4B8C-83A1-F6EECF244321}">
                <p14:modId xmlns:p14="http://schemas.microsoft.com/office/powerpoint/2010/main" val="4021886291"/>
              </p:ext>
            </p:extLst>
          </p:nvPr>
        </p:nvGraphicFramePr>
        <p:xfrm>
          <a:off x="7518285" y="1736685"/>
          <a:ext cx="1035115" cy="575849"/>
        </p:xfrm>
        <a:graphic>
          <a:graphicData uri="http://schemas.openxmlformats.org/presentationml/2006/ole">
            <mc:AlternateContent xmlns:mc="http://schemas.openxmlformats.org/markup-compatibility/2006">
              <mc:Choice xmlns:v="urn:schemas-microsoft-com:vml" Requires="v">
                <p:oleObj name="Packager Shell Object" showAsIcon="1" r:id="rId2" imgW="929711" imgH="518081" progId="Package">
                  <p:embed/>
                </p:oleObj>
              </mc:Choice>
              <mc:Fallback>
                <p:oleObj name="Packager Shell Object" showAsIcon="1" r:id="rId2" imgW="929711" imgH="518081" progId="Package">
                  <p:embed/>
                  <p:pic>
                    <p:nvPicPr>
                      <p:cNvPr id="0" name=""/>
                      <p:cNvPicPr/>
                      <p:nvPr/>
                    </p:nvPicPr>
                    <p:blipFill>
                      <a:blip r:embed="rId3"/>
                      <a:stretch>
                        <a:fillRect/>
                      </a:stretch>
                    </p:blipFill>
                    <p:spPr>
                      <a:xfrm>
                        <a:off x="7518285" y="1736685"/>
                        <a:ext cx="1035115" cy="575849"/>
                      </a:xfrm>
                      <a:prstGeom prst="rect">
                        <a:avLst/>
                      </a:prstGeom>
                    </p:spPr>
                  </p:pic>
                </p:oleObj>
              </mc:Fallback>
            </mc:AlternateContent>
          </a:graphicData>
        </a:graphic>
      </p:graphicFrame>
    </p:spTree>
    <p:extLst>
      <p:ext uri="{BB962C8B-B14F-4D97-AF65-F5344CB8AC3E}">
        <p14:creationId xmlns:p14="http://schemas.microsoft.com/office/powerpoint/2010/main" val="844410042"/>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a:xfrm>
            <a:off x="250869" y="1000108"/>
            <a:ext cx="9427656" cy="571503"/>
          </a:xfrm>
        </p:spPr>
        <p:txBody>
          <a:bodyPr/>
          <a:lstStyle/>
          <a:p>
            <a:r>
              <a:rPr lang="pt-PT" sz="3200" cap="none" noProof="0" dirty="0">
                <a:solidFill>
                  <a:schemeClr val="tx1"/>
                </a:solidFill>
              </a:rPr>
              <a:t>Sprint Retrospective                        </a:t>
            </a:r>
            <a:r>
              <a:rPr lang="pt-PT" sz="2800" b="0" cap="none" noProof="0" dirty="0">
                <a:solidFill>
                  <a:schemeClr val="tx1"/>
                </a:solidFill>
              </a:rPr>
              <a:t>Date: 27/10/2025</a:t>
            </a:r>
            <a:endParaRPr lang="pt-PT" sz="3200" b="0" cap="none" noProof="0" dirty="0">
              <a:solidFill>
                <a:schemeClr val="tx1"/>
              </a:solidFill>
            </a:endParaRPr>
          </a:p>
        </p:txBody>
      </p:sp>
      <p:sp>
        <p:nvSpPr>
          <p:cNvPr id="3" name="Rectangle 2">
            <a:extLst>
              <a:ext uri="{FF2B5EF4-FFF2-40B4-BE49-F238E27FC236}">
                <a16:creationId xmlns:a16="http://schemas.microsoft.com/office/drawing/2014/main" id="{0B46F64C-4411-4F59-B546-FCD8654F7B3C}"/>
              </a:ext>
            </a:extLst>
          </p:cNvPr>
          <p:cNvSpPr/>
          <p:nvPr/>
        </p:nvSpPr>
        <p:spPr>
          <a:xfrm>
            <a:off x="250869" y="1763815"/>
            <a:ext cx="2970330" cy="445066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u="sng" noProof="0" dirty="0">
                <a:solidFill>
                  <a:schemeClr val="tx1"/>
                </a:solidFill>
              </a:rPr>
              <a:t>What went well?</a:t>
            </a:r>
          </a:p>
          <a:p>
            <a:pPr marL="285750" indent="-285750">
              <a:buFont typeface="Arial" panose="020B0604020202020204" pitchFamily="34" charset="0"/>
              <a:buChar char="•"/>
            </a:pPr>
            <a:endParaRPr lang="pt-PT" sz="1400" noProof="0" dirty="0">
              <a:solidFill>
                <a:schemeClr val="tx1"/>
              </a:solidFill>
            </a:endParaRPr>
          </a:p>
          <a:p>
            <a:pPr marL="285750" indent="-285750">
              <a:buFont typeface="Arial" panose="020B0604020202020204" pitchFamily="34" charset="0"/>
              <a:buChar char="•"/>
            </a:pPr>
            <a:r>
              <a:rPr lang="en-US" sz="1400" dirty="0">
                <a:solidFill>
                  <a:schemeClr val="tx1"/>
                </a:solidFill>
              </a:rPr>
              <a:t>Team Coordination and Communication</a:t>
            </a:r>
          </a:p>
          <a:p>
            <a:endParaRPr lang="pt-PT" sz="1400" dirty="0">
              <a:solidFill>
                <a:schemeClr val="tx1"/>
              </a:solidFill>
            </a:endParaRPr>
          </a:p>
          <a:p>
            <a:pPr marL="285750" indent="-285750">
              <a:buFont typeface="Arial" panose="020B0604020202020204" pitchFamily="34" charset="0"/>
              <a:buChar char="•"/>
            </a:pPr>
            <a:r>
              <a:rPr lang="en-US" sz="1400" dirty="0">
                <a:solidFill>
                  <a:schemeClr val="tx1"/>
                </a:solidFill>
              </a:rPr>
              <a:t>Progressive Completion of Key Modules</a:t>
            </a:r>
          </a:p>
          <a:p>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Effective Use of SCRUM</a:t>
            </a:r>
          </a:p>
          <a:p>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Strong modular development and task ownership</a:t>
            </a:r>
          </a:p>
          <a:p>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Early and consistent use of Visual Paradigm for modeling </a:t>
            </a:r>
          </a:p>
        </p:txBody>
      </p:sp>
      <p:sp>
        <p:nvSpPr>
          <p:cNvPr id="7" name="Rectangle 6">
            <a:extLst>
              <a:ext uri="{FF2B5EF4-FFF2-40B4-BE49-F238E27FC236}">
                <a16:creationId xmlns:a16="http://schemas.microsoft.com/office/drawing/2014/main" id="{73B9FD58-6876-4E87-998E-ACA36985B86E}"/>
              </a:ext>
            </a:extLst>
          </p:cNvPr>
          <p:cNvSpPr/>
          <p:nvPr/>
        </p:nvSpPr>
        <p:spPr>
          <a:xfrm>
            <a:off x="3480763" y="1763815"/>
            <a:ext cx="2970330" cy="445066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u="sng" noProof="0" dirty="0">
                <a:solidFill>
                  <a:schemeClr val="tx1"/>
                </a:solidFill>
              </a:rPr>
              <a:t>What went wrong?</a:t>
            </a:r>
          </a:p>
          <a:p>
            <a:pPr marL="285750" indent="-285750">
              <a:buFont typeface="Arial" panose="020B0604020202020204" pitchFamily="34" charset="0"/>
              <a:buChar char="•"/>
            </a:pPr>
            <a:endParaRPr lang="pt-PT" sz="1400" noProof="0" dirty="0">
              <a:solidFill>
                <a:schemeClr val="tx1"/>
              </a:solidFill>
            </a:endParaRPr>
          </a:p>
          <a:p>
            <a:pPr marL="285750" indent="-285750">
              <a:buFont typeface="Arial" panose="020B0604020202020204" pitchFamily="34" charset="0"/>
              <a:buChar char="•"/>
            </a:pPr>
            <a:r>
              <a:rPr lang="en-US" sz="1400" dirty="0">
                <a:solidFill>
                  <a:schemeClr val="tx1"/>
                </a:solidFill>
              </a:rPr>
              <a:t>Glossary Delays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Data Inconsistencies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Ambiguities in Requirements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Lack of Answers in the Forum</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Late Complexity in Returns &amp; Inspection </a:t>
            </a:r>
            <a:endParaRPr lang="pt-PT" sz="1400" dirty="0">
              <a:solidFill>
                <a:schemeClr val="tx1"/>
              </a:solidFill>
            </a:endParaRPr>
          </a:p>
        </p:txBody>
      </p:sp>
      <p:sp>
        <p:nvSpPr>
          <p:cNvPr id="8" name="Rectangle 7">
            <a:extLst>
              <a:ext uri="{FF2B5EF4-FFF2-40B4-BE49-F238E27FC236}">
                <a16:creationId xmlns:a16="http://schemas.microsoft.com/office/drawing/2014/main" id="{39B8E455-F8DD-4DEF-9E49-A26421870FC1}"/>
              </a:ext>
            </a:extLst>
          </p:cNvPr>
          <p:cNvSpPr/>
          <p:nvPr/>
        </p:nvSpPr>
        <p:spPr>
          <a:xfrm>
            <a:off x="6708195" y="1763814"/>
            <a:ext cx="2970330" cy="445066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u="sng" noProof="0" dirty="0">
                <a:solidFill>
                  <a:schemeClr val="tx1"/>
                </a:solidFill>
              </a:rPr>
              <a:t>What we learned?</a:t>
            </a:r>
          </a:p>
          <a:p>
            <a:pPr marL="285750" indent="-285750">
              <a:buFont typeface="Arial" panose="020B0604020202020204" pitchFamily="34" charset="0"/>
              <a:buChar char="•"/>
            </a:pPr>
            <a:endParaRPr lang="pt-PT" sz="1400" noProof="0" dirty="0">
              <a:solidFill>
                <a:schemeClr val="tx1"/>
              </a:solidFill>
            </a:endParaRPr>
          </a:p>
          <a:p>
            <a:pPr marL="285750" indent="-285750">
              <a:buFont typeface="Arial" panose="020B0604020202020204" pitchFamily="34" charset="0"/>
              <a:buChar char="•"/>
            </a:pPr>
            <a:r>
              <a:rPr lang="en-US" sz="1400" dirty="0">
                <a:solidFill>
                  <a:schemeClr val="tx1"/>
                </a:solidFill>
              </a:rPr>
              <a:t>Importance of Early Glossary Alignment</a:t>
            </a:r>
          </a:p>
          <a:p>
            <a:pPr marL="285750" indent="-285750">
              <a:buFont typeface="Arial" panose="020B0604020202020204" pitchFamily="34" charset="0"/>
              <a:buChar char="•"/>
            </a:pPr>
            <a:endParaRPr lang="en-US" sz="1400" noProof="0" dirty="0">
              <a:solidFill>
                <a:schemeClr val="tx1"/>
              </a:solidFill>
            </a:endParaRPr>
          </a:p>
          <a:p>
            <a:pPr marL="285750" indent="-285750">
              <a:buFont typeface="Arial" panose="020B0604020202020204" pitchFamily="34" charset="0"/>
              <a:buChar char="•"/>
            </a:pPr>
            <a:r>
              <a:rPr lang="pt-PT" sz="1400" dirty="0">
                <a:solidFill>
                  <a:schemeClr val="tx1"/>
                </a:solidFill>
              </a:rPr>
              <a:t>FEFO/FIFO Logic Requires Rigorous Validation</a:t>
            </a:r>
          </a:p>
          <a:p>
            <a:pPr marL="285750" indent="-285750">
              <a:buFont typeface="Arial" panose="020B0604020202020204" pitchFamily="34" charset="0"/>
              <a:buChar char="•"/>
            </a:pPr>
            <a:endParaRPr lang="pt-PT" sz="1400" noProof="0" dirty="0">
              <a:solidFill>
                <a:schemeClr val="tx1"/>
              </a:solidFill>
            </a:endParaRPr>
          </a:p>
          <a:p>
            <a:pPr marL="285750" indent="-285750">
              <a:buFont typeface="Arial" panose="020B0604020202020204" pitchFamily="34" charset="0"/>
              <a:buChar char="•"/>
            </a:pPr>
            <a:r>
              <a:rPr lang="pt-PT" sz="1400" dirty="0">
                <a:solidFill>
                  <a:schemeClr val="tx1"/>
                </a:solidFill>
              </a:rPr>
              <a:t>Test-Driven Development Enhances Stability</a:t>
            </a:r>
          </a:p>
          <a:p>
            <a:pPr marL="285750" indent="-285750">
              <a:buFont typeface="Arial" panose="020B0604020202020204" pitchFamily="34" charset="0"/>
              <a:buChar char="•"/>
            </a:pPr>
            <a:endParaRPr lang="pt-PT" sz="1400" noProof="0" dirty="0">
              <a:solidFill>
                <a:schemeClr val="tx1"/>
              </a:solidFill>
            </a:endParaRPr>
          </a:p>
          <a:p>
            <a:pPr marL="285750" indent="-285750">
              <a:buFont typeface="Arial" panose="020B0604020202020204" pitchFamily="34" charset="0"/>
              <a:buChar char="•"/>
            </a:pPr>
            <a:r>
              <a:rPr lang="en-US" sz="1400" dirty="0">
                <a:solidFill>
                  <a:schemeClr val="tx1"/>
                </a:solidFill>
              </a:rPr>
              <a:t>Collaboration Across Roles Is Key</a:t>
            </a:r>
          </a:p>
          <a:p>
            <a:pPr marL="285750" indent="-285750">
              <a:buFont typeface="Arial" panose="020B0604020202020204" pitchFamily="34" charset="0"/>
              <a:buChar char="•"/>
            </a:pPr>
            <a:endParaRPr lang="pt-PT" sz="1400" noProof="0" dirty="0">
              <a:solidFill>
                <a:schemeClr val="tx1"/>
              </a:solidFill>
            </a:endParaRPr>
          </a:p>
          <a:p>
            <a:pPr marL="285750" indent="-285750">
              <a:buFont typeface="Arial" panose="020B0604020202020204" pitchFamily="34" charset="0"/>
              <a:buChar char="•"/>
            </a:pPr>
            <a:r>
              <a:rPr lang="en-US" sz="1400" dirty="0">
                <a:solidFill>
                  <a:schemeClr val="tx1"/>
                </a:solidFill>
              </a:rPr>
              <a:t>Clear Task Status Tracking </a:t>
            </a:r>
            <a:r>
              <a:rPr lang="en-US" sz="1400" dirty="0" err="1">
                <a:solidFill>
                  <a:schemeClr val="tx1"/>
                </a:solidFill>
              </a:rPr>
              <a:t>ccelerates</a:t>
            </a:r>
            <a:r>
              <a:rPr lang="en-US" sz="1400" dirty="0">
                <a:solidFill>
                  <a:schemeClr val="tx1"/>
                </a:solidFill>
              </a:rPr>
              <a:t> Sprint Momentum</a:t>
            </a:r>
            <a:endParaRPr lang="pt-PT" sz="1400" noProof="0" dirty="0">
              <a:solidFill>
                <a:schemeClr val="tx1"/>
              </a:solidFill>
            </a:endParaRPr>
          </a:p>
        </p:txBody>
      </p:sp>
    </p:spTree>
    <p:extLst>
      <p:ext uri="{BB962C8B-B14F-4D97-AF65-F5344CB8AC3E}">
        <p14:creationId xmlns:p14="http://schemas.microsoft.com/office/powerpoint/2010/main" val="3250254882"/>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60AF2-FD58-E72D-83EF-8D677D3A41E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6416E1C-4950-D71D-123A-F724531983DC}"/>
              </a:ext>
            </a:extLst>
          </p:cNvPr>
          <p:cNvSpPr/>
          <p:nvPr/>
        </p:nvSpPr>
        <p:spPr>
          <a:xfrm>
            <a:off x="317484" y="1718809"/>
            <a:ext cx="9226025" cy="454550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u="sng" noProof="0" dirty="0">
                <a:solidFill>
                  <a:schemeClr val="tx1"/>
                </a:solidFill>
              </a:rPr>
              <a:t>Action items:</a:t>
            </a:r>
          </a:p>
          <a:p>
            <a:pPr marL="285750" indent="-285750">
              <a:buFont typeface="Arial" panose="020B0604020202020204" pitchFamily="34" charset="0"/>
              <a:buChar char="•"/>
            </a:pPr>
            <a:endParaRPr lang="pt-PT" sz="1400" noProof="0" dirty="0">
              <a:solidFill>
                <a:schemeClr val="tx1"/>
              </a:solidFill>
            </a:endParaRPr>
          </a:p>
          <a:p>
            <a:pPr marL="285750" indent="-285750">
              <a:buFont typeface="Arial" panose="020B0604020202020204" pitchFamily="34" charset="0"/>
              <a:buChar char="•"/>
            </a:pPr>
            <a:r>
              <a:rPr lang="en-US" sz="1400" dirty="0">
                <a:solidFill>
                  <a:schemeClr val="tx1"/>
                </a:solidFill>
              </a:rPr>
              <a:t>Expand automated tests for dispatch, picking, and return modules to catch logic flaws earlier and improve confidence in integration.</a:t>
            </a:r>
          </a:p>
          <a:p>
            <a:pPr marL="285750" indent="-285750">
              <a:buFont typeface="Arial" panose="020B0604020202020204" pitchFamily="34" charset="0"/>
              <a:buChar char="•"/>
            </a:pPr>
            <a:endParaRPr lang="en-US" sz="1400" noProof="0" dirty="0">
              <a:solidFill>
                <a:schemeClr val="tx1"/>
              </a:solidFill>
            </a:endParaRPr>
          </a:p>
          <a:p>
            <a:pPr marL="285750" indent="-285750">
              <a:buFont typeface="Arial" panose="020B0604020202020204" pitchFamily="34" charset="0"/>
              <a:buChar char="•"/>
            </a:pPr>
            <a:r>
              <a:rPr lang="en-US" sz="1400" dirty="0">
                <a:solidFill>
                  <a:schemeClr val="tx1"/>
                </a:solidFill>
              </a:rPr>
              <a:t>Ensure glossary, diagrams, and SQL scripts are fully synchronized across modules and reflect the latest implementation logic.</a:t>
            </a:r>
          </a:p>
          <a:p>
            <a:pPr marL="285750" indent="-285750">
              <a:buFont typeface="Arial" panose="020B0604020202020204" pitchFamily="34" charset="0"/>
              <a:buChar char="•"/>
            </a:pPr>
            <a:endParaRPr lang="en-US" sz="1400" noProof="0" dirty="0">
              <a:solidFill>
                <a:schemeClr val="tx1"/>
              </a:solidFill>
            </a:endParaRPr>
          </a:p>
          <a:p>
            <a:pPr marL="285750" indent="-285750">
              <a:buFont typeface="Arial" panose="020B0604020202020204" pitchFamily="34" charset="0"/>
              <a:buChar char="•"/>
            </a:pPr>
            <a:r>
              <a:rPr lang="en-US" sz="1400" dirty="0">
                <a:solidFill>
                  <a:schemeClr val="tx1"/>
                </a:solidFill>
              </a:rPr>
              <a:t>Proactively review upcoming user stories with the team and instructors to avoid mid-sprint blockers due to unclear specifications.</a:t>
            </a:r>
          </a:p>
          <a:p>
            <a:pPr marL="285750" indent="-285750">
              <a:buFont typeface="Arial" panose="020B0604020202020204" pitchFamily="34" charset="0"/>
              <a:buChar char="•"/>
            </a:pPr>
            <a:endParaRPr lang="en-US" sz="1400" noProof="0" dirty="0">
              <a:solidFill>
                <a:schemeClr val="tx1"/>
              </a:solidFill>
            </a:endParaRPr>
          </a:p>
          <a:p>
            <a:pPr marL="285750" indent="-285750">
              <a:buFont typeface="Arial" panose="020B0604020202020204" pitchFamily="34" charset="0"/>
              <a:buChar char="•"/>
            </a:pPr>
            <a:r>
              <a:rPr lang="en-US" sz="1400" dirty="0">
                <a:solidFill>
                  <a:schemeClr val="tx1"/>
                </a:solidFill>
              </a:rPr>
              <a:t>Refine task estimation and distribution to balance workload and avoid bottlenecks, especially in modules with overlapping dependencies.</a:t>
            </a:r>
          </a:p>
          <a:p>
            <a:pPr marL="285750" indent="-285750">
              <a:buFont typeface="Arial" panose="020B0604020202020204" pitchFamily="34" charset="0"/>
              <a:buChar char="•"/>
            </a:pPr>
            <a:endParaRPr lang="en-US" sz="1400" noProof="0" dirty="0">
              <a:solidFill>
                <a:schemeClr val="tx1"/>
              </a:solidFill>
            </a:endParaRPr>
          </a:p>
          <a:p>
            <a:pPr marL="285750" indent="-285750">
              <a:buFont typeface="Arial" panose="020B0604020202020204" pitchFamily="34" charset="0"/>
              <a:buChar char="•"/>
            </a:pPr>
            <a:r>
              <a:rPr lang="en-US" sz="1400" dirty="0">
                <a:solidFill>
                  <a:schemeClr val="tx1"/>
                </a:solidFill>
              </a:rPr>
              <a:t>While each member has shown strong ownership of their modules, some delays suggest that a deeper understanding of how different components interact could improve overall cohesion.</a:t>
            </a:r>
            <a:endParaRPr lang="pt-PT" sz="1400" noProof="0" dirty="0">
              <a:solidFill>
                <a:schemeClr val="tx1"/>
              </a:solidFill>
            </a:endParaRPr>
          </a:p>
        </p:txBody>
      </p:sp>
      <p:sp>
        <p:nvSpPr>
          <p:cNvPr id="7" name="Título 4">
            <a:extLst>
              <a:ext uri="{FF2B5EF4-FFF2-40B4-BE49-F238E27FC236}">
                <a16:creationId xmlns:a16="http://schemas.microsoft.com/office/drawing/2014/main" id="{15D1BD0F-42E6-8626-2941-D327B367F339}"/>
              </a:ext>
            </a:extLst>
          </p:cNvPr>
          <p:cNvSpPr>
            <a:spLocks noGrp="1"/>
          </p:cNvSpPr>
          <p:nvPr>
            <p:ph type="title"/>
          </p:nvPr>
        </p:nvSpPr>
        <p:spPr>
          <a:xfrm>
            <a:off x="414000" y="1000108"/>
            <a:ext cx="9043200" cy="571503"/>
          </a:xfrm>
        </p:spPr>
        <p:txBody>
          <a:bodyPr/>
          <a:lstStyle/>
          <a:p>
            <a:r>
              <a:rPr lang="pt-PT" sz="3200" cap="none" noProof="0" dirty="0">
                <a:solidFill>
                  <a:schemeClr val="tx1"/>
                </a:solidFill>
              </a:rPr>
              <a:t>Sprint Retrospective                        </a:t>
            </a:r>
            <a:r>
              <a:rPr lang="pt-PT" sz="2800" b="0" cap="none" noProof="0" dirty="0">
                <a:solidFill>
                  <a:schemeClr val="tx1"/>
                </a:solidFill>
              </a:rPr>
              <a:t>Date: </a:t>
            </a:r>
            <a:r>
              <a:rPr lang="pt-PT" sz="3200" b="0" dirty="0">
                <a:solidFill>
                  <a:schemeClr val="tx1"/>
                </a:solidFill>
              </a:rPr>
              <a:t>27/10/2025</a:t>
            </a:r>
            <a:endParaRPr lang="pt-PT" sz="3200" b="0" cap="none" noProof="0" dirty="0">
              <a:solidFill>
                <a:schemeClr val="tx1"/>
              </a:solidFill>
            </a:endParaRPr>
          </a:p>
        </p:txBody>
      </p:sp>
    </p:spTree>
    <p:extLst>
      <p:ext uri="{BB962C8B-B14F-4D97-AF65-F5344CB8AC3E}">
        <p14:creationId xmlns:p14="http://schemas.microsoft.com/office/powerpoint/2010/main" val="3789479183"/>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pt-PT" sz="3200" cap="none" noProof="0" dirty="0">
                <a:solidFill>
                  <a:schemeClr val="tx1"/>
                </a:solidFill>
              </a:rPr>
              <a:t>Overall Project performance:</a:t>
            </a:r>
          </a:p>
        </p:txBody>
      </p:sp>
      <p:sp>
        <p:nvSpPr>
          <p:cNvPr id="2" name="Marcador de Posição do Texto 1">
            <a:extLst>
              <a:ext uri="{FF2B5EF4-FFF2-40B4-BE49-F238E27FC236}">
                <a16:creationId xmlns:a16="http://schemas.microsoft.com/office/drawing/2014/main" id="{EEE97808-B786-5C10-6A83-416F88B5C6D2}"/>
              </a:ext>
            </a:extLst>
          </p:cNvPr>
          <p:cNvSpPr>
            <a:spLocks noGrp="1"/>
          </p:cNvSpPr>
          <p:nvPr>
            <p:ph type="body" idx="1"/>
          </p:nvPr>
        </p:nvSpPr>
        <p:spPr/>
        <p:txBody>
          <a:bodyPr/>
          <a:lstStyle/>
          <a:p>
            <a:r>
              <a:rPr lang="pt-PT" noProof="0" dirty="0">
                <a:solidFill>
                  <a:schemeClr val="tx1"/>
                </a:solidFill>
              </a:rPr>
              <a:t>Comments: </a:t>
            </a:r>
            <a:r>
              <a:rPr lang="pt-PT" sz="1800" noProof="0" dirty="0">
                <a:solidFill>
                  <a:schemeClr val="tx1"/>
                </a:solidFill>
              </a:rPr>
              <a:t>We are happy with everything we developed this Sprint, and we are focused on continuing the great work in the next Sprint.</a:t>
            </a:r>
            <a:endParaRPr lang="pt-PT" noProof="0" dirty="0">
              <a:solidFill>
                <a:schemeClr val="tx1"/>
              </a:solidFill>
            </a:endParaRPr>
          </a:p>
          <a:p>
            <a:r>
              <a:rPr lang="pt-PT" noProof="0" dirty="0">
                <a:solidFill>
                  <a:schemeClr val="tx1"/>
                </a:solidFill>
              </a:rPr>
              <a:t>LLM evaluation: </a:t>
            </a:r>
            <a:r>
              <a:rPr lang="pt-PT" sz="1800" noProof="0" dirty="0">
                <a:solidFill>
                  <a:schemeClr val="tx1"/>
                </a:solidFill>
              </a:rPr>
              <a:t>“</a:t>
            </a:r>
            <a:r>
              <a:rPr lang="en-US" sz="1800" dirty="0">
                <a:solidFill>
                  <a:schemeClr val="tx1"/>
                </a:solidFill>
              </a:rPr>
              <a:t>The team operated with high synergy and technical maturity. Their sprint output reflects a well-structured, glossary-aligned, and thoroughly tested system. The balance between individual ownership and collaborative refinement was exemplary.”</a:t>
            </a:r>
            <a:endParaRPr lang="pt-PT" noProof="0" dirty="0">
              <a:solidFill>
                <a:schemeClr val="tx1"/>
              </a:solidFill>
            </a:endParaRPr>
          </a:p>
          <a:p>
            <a:r>
              <a:rPr lang="pt-PT" noProof="0" dirty="0">
                <a:solidFill>
                  <a:schemeClr val="tx1"/>
                </a:solidFill>
              </a:rPr>
              <a:t>How do you grade your performance (0-5): 5</a:t>
            </a:r>
          </a:p>
          <a:p>
            <a:r>
              <a:rPr lang="pt-PT" noProof="0" dirty="0">
                <a:solidFill>
                  <a:schemeClr val="tx1"/>
                </a:solidFill>
              </a:rPr>
              <a:t>How do you grade your results (0-5): 5</a:t>
            </a:r>
          </a:p>
        </p:txBody>
      </p:sp>
      <p:pic>
        <p:nvPicPr>
          <p:cNvPr id="7" name="Imagem 6">
            <a:extLst>
              <a:ext uri="{FF2B5EF4-FFF2-40B4-BE49-F238E27FC236}">
                <a16:creationId xmlns:a16="http://schemas.microsoft.com/office/drawing/2014/main" id="{6417797C-1297-547E-D29B-35BF35D93259}"/>
              </a:ext>
            </a:extLst>
          </p:cNvPr>
          <p:cNvPicPr>
            <a:picLocks noChangeAspect="1"/>
          </p:cNvPicPr>
          <p:nvPr/>
        </p:nvPicPr>
        <p:blipFill>
          <a:blip r:embed="rId2"/>
          <a:stretch>
            <a:fillRect/>
          </a:stretch>
        </p:blipFill>
        <p:spPr>
          <a:xfrm>
            <a:off x="2702750" y="4470501"/>
            <a:ext cx="4500500" cy="1833984"/>
          </a:xfrm>
          <a:prstGeom prst="rect">
            <a:avLst/>
          </a:prstGeom>
        </p:spPr>
      </p:pic>
    </p:spTree>
    <p:extLst>
      <p:ext uri="{BB962C8B-B14F-4D97-AF65-F5344CB8AC3E}">
        <p14:creationId xmlns:p14="http://schemas.microsoft.com/office/powerpoint/2010/main" val="81955380"/>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eam work">
            <a:extLst>
              <a:ext uri="{FF2B5EF4-FFF2-40B4-BE49-F238E27FC236}">
                <a16:creationId xmlns:a16="http://schemas.microsoft.com/office/drawing/2014/main" id="{63305713-9999-B782-17EA-DC85021DE3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719"/>
          <a:stretch/>
        </p:blipFill>
        <p:spPr bwMode="auto">
          <a:xfrm>
            <a:off x="0" y="947824"/>
            <a:ext cx="9906000" cy="5910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theme/theme1.xml><?xml version="1.0" encoding="utf-8"?>
<a:theme xmlns:a="http://schemas.openxmlformats.org/drawingml/2006/main" name="1_ISEP">
  <a:themeElements>
    <a:clrScheme name="Laranja-avermelhado">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A52B1E44048D8469E872E4EAE2C3404" ma:contentTypeVersion="11" ma:contentTypeDescription="Create a new document." ma:contentTypeScope="" ma:versionID="18c252975d92f01196e9d85a00ffa512">
  <xsd:schema xmlns:xsd="http://www.w3.org/2001/XMLSchema" xmlns:xs="http://www.w3.org/2001/XMLSchema" xmlns:p="http://schemas.microsoft.com/office/2006/metadata/properties" xmlns:ns2="ed04904d-c619-4467-a32f-09812827fd8e" xmlns:ns3="b4fdeaeb-cd21-48a0-91d3-a71b662e0a05" targetNamespace="http://schemas.microsoft.com/office/2006/metadata/properties" ma:root="true" ma:fieldsID="f718ae11af6cc9f6b424d07c4f0a834d" ns2:_="" ns3:_="">
    <xsd:import namespace="ed04904d-c619-4467-a32f-09812827fd8e"/>
    <xsd:import namespace="b4fdeaeb-cd21-48a0-91d3-a71b662e0a0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04904d-c619-4467-a32f-09812827fd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d39c20-4416-4a86-a41d-df69d8f2de9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fdeaeb-cd21-48a0-91d3-a71b662e0a0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915ae7b-29a8-45ec-b859-842c81a716b0}" ma:internalName="TaxCatchAll" ma:showField="CatchAllData" ma:web="b4fdeaeb-cd21-48a0-91d3-a71b662e0a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d04904d-c619-4467-a32f-09812827fd8e">
      <Terms xmlns="http://schemas.microsoft.com/office/infopath/2007/PartnerControls"/>
    </lcf76f155ced4ddcb4097134ff3c332f>
    <TaxCatchAll xmlns="b4fdeaeb-cd21-48a0-91d3-a71b662e0a05" xsi:nil="true"/>
  </documentManagement>
</p:properties>
</file>

<file path=customXml/itemProps1.xml><?xml version="1.0" encoding="utf-8"?>
<ds:datastoreItem xmlns:ds="http://schemas.openxmlformats.org/officeDocument/2006/customXml" ds:itemID="{4F984168-AABC-4753-B4EC-59CA9D08839F}">
  <ds:schemaRefs>
    <ds:schemaRef ds:uri="http://schemas.microsoft.com/sharepoint/v3/contenttype/forms"/>
  </ds:schemaRefs>
</ds:datastoreItem>
</file>

<file path=customXml/itemProps2.xml><?xml version="1.0" encoding="utf-8"?>
<ds:datastoreItem xmlns:ds="http://schemas.openxmlformats.org/officeDocument/2006/customXml" ds:itemID="{39A15032-0E44-4145-B204-E342EE6C36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04904d-c619-4467-a32f-09812827fd8e"/>
    <ds:schemaRef ds:uri="b4fdeaeb-cd21-48a0-91d3-a71b662e0a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9B87164-EF5F-43C8-917E-48B38ACAFD1E}">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a1e3ca88-8ae5-4fd0-ba37-40ce669fcbb0"/>
    <ds:schemaRef ds:uri="http://www.w3.org/XML/1998/namespace"/>
    <ds:schemaRef ds:uri="ed04904d-c619-4467-a32f-09812827fd8e"/>
    <ds:schemaRef ds:uri="b4fdeaeb-cd21-48a0-91d3-a71b662e0a05"/>
  </ds:schemaRefs>
</ds:datastoreItem>
</file>

<file path=docProps/app.xml><?xml version="1.0" encoding="utf-8"?>
<Properties xmlns="http://schemas.openxmlformats.org/officeDocument/2006/extended-properties" xmlns:vt="http://schemas.openxmlformats.org/officeDocument/2006/docPropsVTypes">
  <Template/>
  <TotalTime>5386</TotalTime>
  <Words>1083</Words>
  <Application>Microsoft Office PowerPoint</Application>
  <PresentationFormat>A4 Paper (210x297 mm)</PresentationFormat>
  <Paragraphs>343</Paragraphs>
  <Slides>16</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1" baseType="lpstr">
      <vt:lpstr>Arial</vt:lpstr>
      <vt:lpstr>Calibri</vt:lpstr>
      <vt:lpstr>Kozuka Gothic Pro M</vt:lpstr>
      <vt:lpstr>1_ISEP</vt:lpstr>
      <vt:lpstr>Package</vt:lpstr>
      <vt:lpstr>Logistics On Rails - SPRINT 1  G052</vt:lpstr>
      <vt:lpstr>Sprint planning – Sprint 1</vt:lpstr>
      <vt:lpstr>Sprint 1 planning</vt:lpstr>
      <vt:lpstr>Sprint 1 planning</vt:lpstr>
      <vt:lpstr>Sprint 1 planning</vt:lpstr>
      <vt:lpstr>Work assigned by team member</vt:lpstr>
      <vt:lpstr> Work assigned by type (componente)</vt:lpstr>
      <vt:lpstr>Issues / Assumptions / unanswered questions</vt:lpstr>
      <vt:lpstr>Daily Meetings</vt:lpstr>
      <vt:lpstr>Daily Meetings</vt:lpstr>
      <vt:lpstr>LLM performance assessment (use ChatGPT or Copilot)</vt:lpstr>
      <vt:lpstr>LLM performance assessment - Output</vt:lpstr>
      <vt:lpstr>Sprint Retrospective                        Date: 27/10/2025</vt:lpstr>
      <vt:lpstr>Sprint Retrospective                        Date: 27/10/2025</vt:lpstr>
      <vt:lpstr>Overall Project performance: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Diapositivo 1</dc:title>
  <dc:creator>FlavioRamos</dc:creator>
  <cp:lastModifiedBy>Maria Teixeira Pinto</cp:lastModifiedBy>
  <cp:revision>498</cp:revision>
  <dcterms:created xsi:type="dcterms:W3CDTF">2010-10-20T15:48:12Z</dcterms:created>
  <dcterms:modified xsi:type="dcterms:W3CDTF">2025-10-26T15:12:16Z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0x010100BA52B1E44048D8469E872E4EAE2C3404</vt:lpwstr>
  </property>
  <property fmtid="{D5CDD505-2E9C-101B-9397-08002B2CF9AE}" pid="3" name="MediaServiceImageTags">
    <vt:lpwstr/>
  </property>
</Properties>
</file>