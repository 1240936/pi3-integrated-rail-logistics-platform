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A0_0.xml" ContentType="application/vnd.ms-powerpoint.comments+xml"/>
  <Override PartName="/ppt/comments/modernComment_199_E8DB507.xml" ContentType="application/vnd.ms-powerpoint.comments+xml"/>
  <Override PartName="/ppt/comments/modernComment_194_F8C0A913.xml" ContentType="application/vnd.ms-powerpoint.comments+xml"/>
  <Override PartName="/ppt/comments/modernComment_1A3_CB3FE931.xml" ContentType="application/vnd.ms-powerpoint.comments+xml"/>
  <Override PartName="/ppt/comments/modernComment_1A4_5CED822B.xml" ContentType="application/vnd.ms-powerpoint.comments+xml"/>
  <Override PartName="/ppt/comments/modernComment_1A5_E7662A9A.xml" ContentType="application/vnd.ms-powerpoint.comments+xml"/>
  <Override PartName="/ppt/comments/modernComment_1A6_5BEBB0EA.xml" ContentType="application/vnd.ms-powerpoint.comments+xml"/>
  <Override PartName="/ppt/comments/modernComment_196_73C95D57.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97_300F0B25.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19B_4BDE2BB0.xml" ContentType="application/vnd.ms-powerpoint.comments+xml"/>
  <Override PartName="/ppt/comments/modernComment_1A1_736CE856.xml" ContentType="application/vnd.ms-powerpoint.comments+xml"/>
  <Override PartName="/ppt/comments/modernComment_19A_18A78E8B.xml" ContentType="application/vnd.ms-powerpoint.comments+xml"/>
  <Override PartName="/ppt/comments/modernComment_19C_3254ACBA.xml" ContentType="application/vnd.ms-powerpoint.comments+xml"/>
  <Override PartName="/ppt/comments/modernComment_19E_492D5C77.xml" ContentType="application/vnd.ms-powerpoint.comments+xml"/>
  <Override PartName="/ppt/comments/modernComment_18E_C1BAF422.xml" ContentType="application/vnd.ms-powerpoint.comments+xml"/>
  <Override PartName="/ppt/comments/modernComment_19D_E1DEDD0F.xml" ContentType="application/vnd.ms-powerpoint.comments+xml"/>
  <Override PartName="/ppt/notesSlides/notesSlide2.xml" ContentType="application/vnd.openxmlformats-officedocument.presentationml.notesSlide+xml"/>
  <Override PartName="/ppt/comments/modernComment_195_4E28A34.xml" ContentType="application/vnd.ms-powerpoint.comments+xml"/>
  <Override PartName="/ppt/notesSlides/notesSlide3.xml" ContentType="application/vnd.openxmlformats-officedocument.presentationml.notesSlide+xml"/>
  <Override PartName="/ppt/comments/modernComment_19F_B6F37B8.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25"/>
  </p:notesMasterIdLst>
  <p:sldIdLst>
    <p:sldId id="416" r:id="rId5"/>
    <p:sldId id="409" r:id="rId6"/>
    <p:sldId id="404" r:id="rId7"/>
    <p:sldId id="419" r:id="rId8"/>
    <p:sldId id="420" r:id="rId9"/>
    <p:sldId id="421" r:id="rId10"/>
    <p:sldId id="422" r:id="rId11"/>
    <p:sldId id="406" r:id="rId12"/>
    <p:sldId id="407" r:id="rId13"/>
    <p:sldId id="408" r:id="rId14"/>
    <p:sldId id="411" r:id="rId15"/>
    <p:sldId id="417" r:id="rId16"/>
    <p:sldId id="410" r:id="rId17"/>
    <p:sldId id="412" r:id="rId18"/>
    <p:sldId id="414" r:id="rId19"/>
    <p:sldId id="398" r:id="rId20"/>
    <p:sldId id="413" r:id="rId21"/>
    <p:sldId id="405" r:id="rId22"/>
    <p:sldId id="415" r:id="rId23"/>
    <p:sldId id="387" r:id="rId24"/>
  </p:sldIdLst>
  <p:sldSz cx="9906000" cy="6858000" type="A4"/>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1A558A-D303-65E2-8988-E9D20194D4E8}" name="Ana Barata" initials="AB" userId="S::abt@isep.ipp.pt::5b353bcc-9c20-4dd6-9ceb-f15a7e5b32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A85432"/>
    <a:srgbClr val="404040"/>
    <a:srgbClr val="7F7F7F"/>
    <a:srgbClr val="FF8600"/>
    <a:srgbClr val="5B5B5B"/>
    <a:srgbClr val="7F7F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Estilo Claro 2 - Destaqu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Estilo Claro 1 - Destaqu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38B1855-1B75-4FBE-930C-398BA8C253C6}" styleName="Estilo com Tema 2 - Destaque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Estilo Claro 2 - Destaqu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Estilo Médio 2 - Destaqu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71" autoAdjust="0"/>
    <p:restoredTop sz="94737" autoAdjust="0"/>
  </p:normalViewPr>
  <p:slideViewPr>
    <p:cSldViewPr>
      <p:cViewPr varScale="1">
        <p:scale>
          <a:sx n="76" d="100"/>
          <a:sy n="76" d="100"/>
        </p:scale>
        <p:origin x="90" y="726"/>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dirty="0"/>
              <a:t>Number</a:t>
            </a:r>
            <a:r>
              <a:rPr lang="pt-PT" baseline="0" dirty="0"/>
              <a:t> of</a:t>
            </a:r>
            <a:r>
              <a:rPr lang="pt-PT" dirty="0"/>
              <a:t> Tasks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PT"/>
        </a:p>
      </c:txPr>
    </c:title>
    <c:autoTitleDeleted val="0"/>
    <c:plotArea>
      <c:layout/>
      <c:barChart>
        <c:barDir val="col"/>
        <c:grouping val="clustered"/>
        <c:varyColors val="0"/>
        <c:ser>
          <c:idx val="0"/>
          <c:order val="0"/>
          <c:tx>
            <c:strRef>
              <c:f>Folha1!$B$1</c:f>
              <c:strCache>
                <c:ptCount val="1"/>
                <c:pt idx="0">
                  <c:v>Horas / tarefas</c:v>
                </c:pt>
              </c:strCache>
            </c:strRef>
          </c:tx>
          <c:spPr>
            <a:solidFill>
              <a:srgbClr val="C00000"/>
            </a:solidFill>
            <a:ln>
              <a:noFill/>
            </a:ln>
            <a:effectLst/>
          </c:spPr>
          <c:invertIfNegative val="0"/>
          <c:cat>
            <c:strRef>
              <c:f>Folha1!$A$2:$A$6</c:f>
              <c:strCache>
                <c:ptCount val="5"/>
                <c:pt idx="0">
                  <c:v>Francisco Vasconcelos</c:v>
                </c:pt>
                <c:pt idx="1">
                  <c:v>Maria Pinto</c:v>
                </c:pt>
                <c:pt idx="2">
                  <c:v>Gonçalo Azevedo</c:v>
                </c:pt>
                <c:pt idx="3">
                  <c:v>Gabriel Inácio</c:v>
                </c:pt>
                <c:pt idx="4">
                  <c:v>Paulo Ferreira</c:v>
                </c:pt>
              </c:strCache>
            </c:strRef>
          </c:cat>
          <c:val>
            <c:numRef>
              <c:f>Folha1!$B$2:$B$6</c:f>
              <c:numCache>
                <c:formatCode>General</c:formatCode>
                <c:ptCount val="5"/>
                <c:pt idx="0">
                  <c:v>40</c:v>
                </c:pt>
                <c:pt idx="1">
                  <c:v>38</c:v>
                </c:pt>
                <c:pt idx="2">
                  <c:v>53</c:v>
                </c:pt>
                <c:pt idx="3">
                  <c:v>35</c:v>
                </c:pt>
                <c:pt idx="4">
                  <c:v>35</c:v>
                </c:pt>
              </c:numCache>
            </c:numRef>
          </c:val>
          <c:extLst>
            <c:ext xmlns:c16="http://schemas.microsoft.com/office/drawing/2014/chart" uri="{C3380CC4-5D6E-409C-BE32-E72D297353CC}">
              <c16:uniqueId val="{00000000-0486-4A64-B307-80E9A3590427}"/>
            </c:ext>
          </c:extLst>
        </c:ser>
        <c:dLbls>
          <c:showLegendKey val="0"/>
          <c:showVal val="0"/>
          <c:showCatName val="0"/>
          <c:showSerName val="0"/>
          <c:showPercent val="0"/>
          <c:showBubbleSize val="0"/>
        </c:dLbls>
        <c:gapWidth val="219"/>
        <c:overlap val="-27"/>
        <c:axId val="691907944"/>
        <c:axId val="691902368"/>
      </c:barChart>
      <c:catAx>
        <c:axId val="691907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2368"/>
        <c:crosses val="autoZero"/>
        <c:auto val="1"/>
        <c:lblAlgn val="ctr"/>
        <c:lblOffset val="100"/>
        <c:noMultiLvlLbl val="0"/>
      </c:catAx>
      <c:valAx>
        <c:axId val="691902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1907944"/>
        <c:crosses val="autoZero"/>
        <c:crossBetween val="between"/>
      </c:valAx>
      <c:spPr>
        <a:solidFill>
          <a:schemeClr val="bg1"/>
        </a:soli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pt-PT" dirty="0" err="1"/>
              <a:t>Epic</a:t>
            </a:r>
            <a:r>
              <a:rPr lang="pt-PT" dirty="0"/>
              <a:t> </a:t>
            </a:r>
            <a:r>
              <a:rPr lang="pt-PT" dirty="0" err="1"/>
              <a:t>or</a:t>
            </a:r>
            <a:r>
              <a:rPr lang="pt-PT" dirty="0"/>
              <a:t> </a:t>
            </a:r>
            <a:r>
              <a:rPr lang="pt-PT" dirty="0" err="1"/>
              <a:t>Component</a:t>
            </a:r>
            <a:r>
              <a:rPr lang="pt-PT" dirty="0"/>
              <a:t> </a:t>
            </a:r>
            <a:r>
              <a:rPr lang="pt-PT" dirty="0" err="1"/>
              <a:t>or</a:t>
            </a:r>
            <a:r>
              <a:rPr lang="pt-PT" dirty="0"/>
              <a:t> UC</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Folha1!$B$1</c:f>
              <c:strCache>
                <c:ptCount val="1"/>
                <c:pt idx="0">
                  <c:v>Componente</c:v>
                </c:pt>
              </c:strCache>
            </c:strRef>
          </c:tx>
          <c:spPr>
            <a:solidFill>
              <a:schemeClr val="tx2"/>
            </a:solidFill>
          </c:spPr>
          <c:dPt>
            <c:idx val="0"/>
            <c:bubble3D val="0"/>
            <c:spPr>
              <a:solidFill>
                <a:schemeClr val="accent2">
                  <a:lumMod val="40000"/>
                  <a:lumOff val="60000"/>
                </a:schemeClr>
              </a:solidFill>
              <a:ln w="19050">
                <a:solidFill>
                  <a:schemeClr val="lt1"/>
                </a:solidFill>
              </a:ln>
              <a:effectLst/>
            </c:spPr>
            <c:extLst>
              <c:ext xmlns:c16="http://schemas.microsoft.com/office/drawing/2014/chart" uri="{C3380CC4-5D6E-409C-BE32-E72D297353CC}">
                <c16:uniqueId val="{00000001-0D5E-44D3-AE05-D0CC3596364F}"/>
              </c:ext>
            </c:extLst>
          </c:dPt>
          <c:dPt>
            <c:idx val="1"/>
            <c:bubble3D val="0"/>
            <c:spPr>
              <a:solidFill>
                <a:srgbClr val="FF6600"/>
              </a:solidFill>
              <a:ln w="19050">
                <a:solidFill>
                  <a:schemeClr val="lt1"/>
                </a:solidFill>
              </a:ln>
              <a:effectLst/>
            </c:spPr>
            <c:extLst>
              <c:ext xmlns:c16="http://schemas.microsoft.com/office/drawing/2014/chart" uri="{C3380CC4-5D6E-409C-BE32-E72D297353CC}">
                <c16:uniqueId val="{00000003-0D5E-44D3-AE05-D0CC3596364F}"/>
              </c:ext>
            </c:extLst>
          </c:dPt>
          <c:dPt>
            <c:idx val="2"/>
            <c:bubble3D val="0"/>
            <c:spPr>
              <a:solidFill>
                <a:schemeClr val="tx2">
                  <a:lumMod val="50000"/>
                </a:schemeClr>
              </a:solidFill>
              <a:ln w="19050">
                <a:solidFill>
                  <a:schemeClr val="lt1"/>
                </a:solidFill>
              </a:ln>
              <a:effectLst/>
            </c:spPr>
            <c:extLst>
              <c:ext xmlns:c16="http://schemas.microsoft.com/office/drawing/2014/chart" uri="{C3380CC4-5D6E-409C-BE32-E72D297353CC}">
                <c16:uniqueId val="{00000005-0D5E-44D3-AE05-D0CC3596364F}"/>
              </c:ext>
            </c:extLst>
          </c:dPt>
          <c:dPt>
            <c:idx val="3"/>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7-0D5E-44D3-AE05-D0CC3596364F}"/>
              </c:ext>
            </c:extLst>
          </c:dPt>
          <c:cat>
            <c:strRef>
              <c:f>Folha1!$A$2:$A$5</c:f>
              <c:strCache>
                <c:ptCount val="4"/>
                <c:pt idx="0">
                  <c:v>ESINF</c:v>
                </c:pt>
                <c:pt idx="1">
                  <c:v>ARQCP</c:v>
                </c:pt>
                <c:pt idx="2">
                  <c:v>LAPR3</c:v>
                </c:pt>
                <c:pt idx="3">
                  <c:v>BDDAD</c:v>
                </c:pt>
              </c:strCache>
            </c:strRef>
          </c:cat>
          <c:val>
            <c:numRef>
              <c:f>Folha1!$B$2:$B$5</c:f>
              <c:numCache>
                <c:formatCode>General</c:formatCode>
                <c:ptCount val="4"/>
                <c:pt idx="0">
                  <c:v>36</c:v>
                </c:pt>
                <c:pt idx="1">
                  <c:v>37</c:v>
                </c:pt>
                <c:pt idx="2">
                  <c:v>28</c:v>
                </c:pt>
                <c:pt idx="3">
                  <c:v>79</c:v>
                </c:pt>
              </c:numCache>
            </c:numRef>
          </c:val>
          <c:extLst>
            <c:ext xmlns:c16="http://schemas.microsoft.com/office/drawing/2014/chart" uri="{C3380CC4-5D6E-409C-BE32-E72D297353CC}">
              <c16:uniqueId val="{00000000-A2C6-47B5-9769-0633602DAAC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A0_0.xml><?xml version="1.0" encoding="utf-8"?>
<p188:cmLst xmlns:a="http://schemas.openxmlformats.org/drawingml/2006/main" xmlns:r="http://schemas.openxmlformats.org/officeDocument/2006/relationships" xmlns:p188="http://schemas.microsoft.com/office/powerpoint/2018/8/main">
  <p188:cm id="{5A05288D-53D7-4485-9EC0-C6B72816DB2A}" authorId="{6C1A558A-D303-65E2-8988-E9D20194D4E8}" created="2024-10-22T15:29:55.765">
    <pc:sldMkLst xmlns:pc="http://schemas.microsoft.com/office/powerpoint/2013/main/command">
      <pc:docMk/>
      <pc:sldMk cId="0" sldId="295"/>
    </pc:sldMkLst>
    <p188:txBody>
      <a:bodyPr/>
      <a:lstStyle/>
      <a:p>
        <a:r>
          <a:rPr lang="en-US"/>
          <a:t>Team and SPrint identification</a:t>
        </a:r>
      </a:p>
    </p188:txBody>
  </p188:cm>
</p188:cmLst>
</file>

<file path=ppt/comments/modernComment_1A1_736CE856.xml><?xml version="1.0" encoding="utf-8"?>
<p188:cmLst xmlns:a="http://schemas.openxmlformats.org/drawingml/2006/main" xmlns:r="http://schemas.openxmlformats.org/officeDocument/2006/relationships" xmlns:p188="http://schemas.microsoft.com/office/powerpoint/2018/8/main">
  <p188:cm id="{835C5CE2-2DFC-4A32-B946-F8FEC9C1F0AE}" authorId="{6C1A558A-D303-65E2-8988-E9D20194D4E8}" created="2024-10-22T15:31:18.767">
    <pc:sldMkLst xmlns:pc="http://schemas.microsoft.com/office/powerpoint/2013/main/command">
      <pc:docMk/>
      <pc:sldMk cId="1272851376" sldId="411"/>
    </pc:sldMkLst>
    <p188:txBody>
      <a:bodyPr/>
      <a:lstStyle/>
      <a:p>
        <a:r>
          <a:rPr lang="en-GB"/>
          <a:t>Register the dates of each daily and the attendees</a:t>
        </a:r>
      </a:p>
    </p188:txBody>
  </p188:cm>
</p188:cmLst>
</file>

<file path=ppt/comments/modernComment_1A3_CB3FE931.xml><?xml version="1.0" encoding="utf-8"?>
<p188:cmLst xmlns:a="http://schemas.openxmlformats.org/drawingml/2006/main" xmlns:r="http://schemas.openxmlformats.org/officeDocument/2006/relationships" xmlns:p188="http://schemas.microsoft.com/office/powerpoint/2018/8/main">
  <p188:cm id="{870B9441-A753-4E35-A9EF-A557C9564A10}"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A4_5CED822B.xml><?xml version="1.0" encoding="utf-8"?>
<p188:cmLst xmlns:a="http://schemas.openxmlformats.org/drawingml/2006/main" xmlns:r="http://schemas.openxmlformats.org/officeDocument/2006/relationships" xmlns:p188="http://schemas.microsoft.com/office/powerpoint/2018/8/main">
  <p188:cm id="{88BB1E7A-93C7-4D36-BC5F-ADBB535A30F9}"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A5_E7662A9A.xml><?xml version="1.0" encoding="utf-8"?>
<p188:cmLst xmlns:a="http://schemas.openxmlformats.org/drawingml/2006/main" xmlns:r="http://schemas.openxmlformats.org/officeDocument/2006/relationships" xmlns:p188="http://schemas.microsoft.com/office/powerpoint/2018/8/main">
  <p188:cm id="{C3A1A363-B4D9-460B-B256-62DC7FF64827}"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A6_5BEBB0EA.xml><?xml version="1.0" encoding="utf-8"?>
<p188:cmLst xmlns:a="http://schemas.openxmlformats.org/drawingml/2006/main" xmlns:r="http://schemas.openxmlformats.org/officeDocument/2006/relationships" xmlns:p188="http://schemas.microsoft.com/office/powerpoint/2018/8/main">
  <p188:cm id="{9AC89194-7678-483B-B478-4854BEB26452}"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8E_C1BAF422.xml><?xml version="1.0" encoding="utf-8"?>
<p188:cmLst xmlns:a="http://schemas.openxmlformats.org/drawingml/2006/main" xmlns:r="http://schemas.openxmlformats.org/officeDocument/2006/relationships" xmlns:p188="http://schemas.microsoft.com/office/powerpoint/2018/8/main">
  <p188:cm id="{4607405B-E940-4B98-95CF-CA4CDB891EB4}" authorId="{6C1A558A-D303-65E2-8988-E9D20194D4E8}" created="2025-11-18T14:25:17.707">
    <pc:sldMkLst xmlns:pc="http://schemas.microsoft.com/office/powerpoint/2013/main/command">
      <pc:docMk/>
      <pc:sldMk cId="3250254882" sldId="398"/>
    </pc:sldMkLst>
    <p188:txBody>
      <a:bodyPr/>
      <a:lstStyle/>
      <a:p>
        <a:r>
          <a:rPr lang="en-GB"/>
          <a:t>Team perspective.</a:t>
        </a:r>
      </a:p>
    </p188:txBody>
  </p188:cm>
</p188:cmLst>
</file>

<file path=ppt/comments/modernComment_19A_18A78E8B.xml><?xml version="1.0" encoding="utf-8"?>
<p188:cmLst xmlns:a="http://schemas.openxmlformats.org/drawingml/2006/main" xmlns:r="http://schemas.openxmlformats.org/officeDocument/2006/relationships" xmlns:p188="http://schemas.microsoft.com/office/powerpoint/2018/8/main">
  <p188:cm id="{C8F11B5E-A96B-481B-8CB0-A7B8AF14F672}" authorId="{6C1A558A-D303-65E2-8988-E9D20194D4E8}" created="2024-10-22T15:32:15.800">
    <pc:sldMkLst xmlns:pc="http://schemas.microsoft.com/office/powerpoint/2013/main/command">
      <pc:docMk/>
      <pc:sldMk cId="413634187" sldId="410"/>
    </pc:sldMkLst>
    <p188:txBody>
      <a:bodyPr/>
      <a:lstStyle/>
      <a:p>
        <a:r>
          <a:rPr lang="en-GB"/>
          <a:t>To analyse the information registered on the board, from issues to daily meetings, and each team member's performance, and compare it with your own perspective.</a:t>
        </a:r>
      </a:p>
    </p188:txBody>
  </p188:cm>
  <p188:cm id="{04799842-737E-4B2F-88FC-09EA045D1B06}" authorId="{6C1A558A-D303-65E2-8988-E9D20194D4E8}" created="2025-11-18T14:11:19.118">
    <ac:txMkLst xmlns:ac="http://schemas.microsoft.com/office/drawing/2013/main/command">
      <pc:docMk xmlns:pc="http://schemas.microsoft.com/office/powerpoint/2013/main/command"/>
      <pc:sldMk xmlns:pc="http://schemas.microsoft.com/office/powerpoint/2013/main/command" cId="413634187" sldId="410"/>
      <ac:spMk id="2" creationId="{7856DF50-9E5E-4610-FEB2-C4A38022FCFD}"/>
      <ac:txMk cp="0" len="44">
        <ac:context len="337" hash="1187965136"/>
      </ac:txMk>
    </ac:txMkLst>
    <p188:pos x="4527646" y="300009"/>
    <p188:replyLst>
      <p188:reply id="{7C358038-2EFE-4FD9-AACE-A16B19CFCAEA}" authorId="{6C1A558A-D303-65E2-8988-E9D20194D4E8}" created="2025-11-18T14:13:29.820">
        <p188:txBody>
          <a:bodyPr/>
          <a:lstStyle/>
          <a:p>
            <a:r>
              <a:rPr lang="en-GB"/>
              <a:t>Include the source file(s) for all the prompts as an attachment or write down the prompt you used.</a:t>
            </a:r>
          </a:p>
        </p188:txBody>
      </p188:reply>
    </p188:replyLst>
    <p188:txBody>
      <a:bodyPr/>
      <a:lstStyle/>
      <a:p>
        <a:r>
          <a:rPr lang="en-GB"/>
          <a:t>Ask LLM to analyse the daily meetings, and to write a summary evaluating each team member, and for the overall group performance.</a:t>
        </a:r>
      </a:p>
    </p188:txBody>
  </p188:cm>
</p188:cmLst>
</file>

<file path=ppt/comments/modernComment_19B_4BDE2BB0.xml><?xml version="1.0" encoding="utf-8"?>
<p188:cmLst xmlns:a="http://schemas.openxmlformats.org/drawingml/2006/main" xmlns:r="http://schemas.openxmlformats.org/officeDocument/2006/relationships" xmlns:p188="http://schemas.microsoft.com/office/powerpoint/2018/8/main">
  <p188:cm id="{A070780B-DB84-4A97-8599-8F8407629B8F}" authorId="{6C1A558A-D303-65E2-8988-E9D20194D4E8}" created="2024-10-22T15:31:18.767">
    <pc:sldMkLst xmlns:pc="http://schemas.microsoft.com/office/powerpoint/2013/main/command">
      <pc:docMk/>
      <pc:sldMk cId="1272851376" sldId="411"/>
    </pc:sldMkLst>
    <p188:txBody>
      <a:bodyPr/>
      <a:lstStyle/>
      <a:p>
        <a:r>
          <a:rPr lang="en-GB"/>
          <a:t>Register the dates of each daily and the attendees</a:t>
        </a:r>
      </a:p>
    </p188:txBody>
  </p188:cm>
</p188:cmLst>
</file>

<file path=ppt/comments/modernComment_19C_3254ACBA.xml><?xml version="1.0" encoding="utf-8"?>
<p188:cmLst xmlns:a="http://schemas.openxmlformats.org/drawingml/2006/main" xmlns:r="http://schemas.openxmlformats.org/officeDocument/2006/relationships" xmlns:p188="http://schemas.microsoft.com/office/powerpoint/2018/8/main">
  <p188:cm id="{42E0F32F-B25D-47AC-9887-88A5AA729FD1}" authorId="{6C1A558A-D303-65E2-8988-E9D20194D4E8}" created="2025-11-18T14:15:36.188">
    <ac:txMkLst xmlns:ac="http://schemas.microsoft.com/office/drawing/2013/main/command">
      <pc:docMk xmlns:pc="http://schemas.microsoft.com/office/powerpoint/2013/main/command"/>
      <pc:sldMk xmlns:pc="http://schemas.microsoft.com/office/powerpoint/2013/main/command" cId="844410042" sldId="412"/>
      <ac:spMk id="3" creationId="{41914A20-7452-6770-365F-62A72A9E05A5}"/>
      <ac:txMk cp="0" len="12">
        <ac:context len="804" hash="4033396962"/>
      </ac:txMk>
    </ac:txMkLst>
    <p188:pos x="1326877" y="294628"/>
    <p188:txBody>
      <a:bodyPr/>
      <a:lstStyle/>
      <a:p>
        <a:r>
          <a:rPr lang="en-GB"/>
          <a:t>Include the complete file generated by the A.I. attached to the Report.</a:t>
        </a:r>
      </a:p>
    </p188:txBody>
  </p188:cm>
  <p188:cm id="{15F74BEC-7A85-4342-BC2E-63549E73A1F1}" authorId="{6C1A558A-D303-65E2-8988-E9D20194D4E8}" created="2025-11-18T14:16:43.107">
    <ac:txMkLst xmlns:ac="http://schemas.microsoft.com/office/drawing/2013/main/command">
      <pc:docMk xmlns:pc="http://schemas.microsoft.com/office/powerpoint/2013/main/command"/>
      <pc:sldMk xmlns:pc="http://schemas.microsoft.com/office/powerpoint/2013/main/command" cId="844410042" sldId="412"/>
      <ac:spMk id="3" creationId="{41914A20-7452-6770-365F-62A72A9E05A5}"/>
      <ac:txMk cp="72" len="6">
        <ac:context len="804" hash="4033396962"/>
      </ac:txMk>
    </ac:txMkLst>
    <p188:pos x="878469" y="1209028"/>
    <p188:txBody>
      <a:bodyPr/>
      <a:lstStyle/>
      <a:p>
        <a:r>
          <a:rPr lang="en-GB"/>
          <a:t>Considering the A.I. output, write one or two sentences for each team member.</a:t>
        </a:r>
      </a:p>
    </p188:txBody>
  </p188:cm>
</p188:cmLst>
</file>

<file path=ppt/comments/modernComment_19D_E1DEDD0F.xml><?xml version="1.0" encoding="utf-8"?>
<p188:cmLst xmlns:a="http://schemas.openxmlformats.org/drawingml/2006/main" xmlns:r="http://schemas.openxmlformats.org/officeDocument/2006/relationships" xmlns:p188="http://schemas.microsoft.com/office/powerpoint/2018/8/main">
  <p188:cm id="{A0A5048C-38B4-4DBB-A2CD-9FD4AECDF942}" authorId="{6C1A558A-D303-65E2-8988-E9D20194D4E8}" created="2025-11-18T14:27:50.665">
    <pc:sldMkLst xmlns:pc="http://schemas.microsoft.com/office/powerpoint/2013/main/command">
      <pc:docMk/>
      <pc:sldMk cId="3789479183" sldId="413"/>
    </pc:sldMkLst>
    <p188:txBody>
      <a:bodyPr/>
      <a:lstStyle/>
      <a:p>
        <a:r>
          <a:rPr lang="en-GB"/>
          <a:t>Team decisions regarding management-and-performance-related actions to implement in the following sprint - what the team decides to do to improve the work and performance.</a:t>
        </a:r>
      </a:p>
    </p188:txBody>
  </p188:cm>
</p188:cmLst>
</file>

<file path=ppt/comments/modernComment_19E_492D5C77.xml><?xml version="1.0" encoding="utf-8"?>
<p188:cmLst xmlns:a="http://schemas.openxmlformats.org/drawingml/2006/main" xmlns:r="http://schemas.openxmlformats.org/officeDocument/2006/relationships" xmlns:p188="http://schemas.microsoft.com/office/powerpoint/2018/8/main">
  <p188:cm id="{41EFBD6F-9E35-4A08-A4A7-AC9DA9DBE287}" authorId="{6C1A558A-D303-65E2-8988-E9D20194D4E8}" created="2025-11-18T14:20:38.039">
    <ac:txMkLst xmlns:ac="http://schemas.microsoft.com/office/drawing/2013/main/command">
      <pc:docMk xmlns:pc="http://schemas.microsoft.com/office/powerpoint/2013/main/command"/>
      <pc:sldMk xmlns:pc="http://schemas.microsoft.com/office/powerpoint/2013/main/command" cId="1227709559" sldId="414"/>
      <ac:spMk id="3" creationId="{26E8AA96-E4FE-2D1F-50B5-1C90B137D285}"/>
      <ac:txMk cp="0" len="43">
        <ac:context len="1311" hash="2973692461"/>
      </ac:txMk>
    </ac:txMkLst>
    <p188:pos x="5151531" y="294628"/>
    <p188:replyLst>
      <p188:reply id="{84D0B6DB-D87B-4307-83DB-AA9FFBDC45C5}" authorId="{6C1A558A-D303-65E2-8988-E9D20194D4E8}" created="2025-11-18T14:20:56.202">
        <p188:txBody>
          <a:bodyPr/>
          <a:lstStyle/>
          <a:p>
            <a:r>
              <a:rPr lang="en-GB"/>
              <a:t>Be honest, straightforward, clear.</a:t>
            </a:r>
          </a:p>
        </p188:txBody>
      </p188:reply>
    </p188:replyLst>
    <p188:txBody>
      <a:bodyPr/>
      <a:lstStyle/>
      <a:p>
        <a:r>
          <a:rPr lang="en-GB"/>
          <a:t>Comment(s) from the team about the LLM assessment.</a:t>
        </a:r>
      </a:p>
    </p188:txBody>
  </p188:cm>
  <p188:cm id="{A05D0E2E-F0A3-468E-9252-5D486B8205B7}" authorId="{6C1A558A-D303-65E2-8988-E9D20194D4E8}" created="2025-11-18T14:24:44.211">
    <ac:deMkLst xmlns:ac="http://schemas.microsoft.com/office/drawing/2013/main/command">
      <pc:docMk xmlns:pc="http://schemas.microsoft.com/office/powerpoint/2013/main/command"/>
      <pc:sldMk xmlns:pc="http://schemas.microsoft.com/office/powerpoint/2013/main/command" cId="1227709559" sldId="414"/>
      <ac:spMk id="3" creationId="{26E8AA96-E4FE-2D1F-50B5-1C90B137D285}"/>
    </ac:deMkLst>
    <p188:txBody>
      <a:bodyPr/>
      <a:lstStyle/>
      <a:p>
        <a:r>
          <a:rPr lang="en-GB"/>
          <a:t>Ask the LLM to suggest ways to improve team performance.
Register the input.</a:t>
        </a:r>
      </a:p>
    </p188:txBody>
  </p188:cm>
</p188:cmLst>
</file>

<file path=ppt/comments/modernComment_19F_B6F37B8.xml><?xml version="1.0" encoding="utf-8"?>
<p188:cmLst xmlns:a="http://schemas.openxmlformats.org/drawingml/2006/main" xmlns:r="http://schemas.openxmlformats.org/officeDocument/2006/relationships" xmlns:p188="http://schemas.microsoft.com/office/powerpoint/2018/8/main">
  <p188:cm id="{EA7EA0F8-E014-49D5-9982-388C0CE28969}" authorId="{6C1A558A-D303-65E2-8988-E9D20194D4E8}" created="2025-11-18T18:37:51.459">
    <pc:sldMkLst xmlns:pc="http://schemas.microsoft.com/office/powerpoint/2013/main/command">
      <pc:docMk/>
      <pc:sldMk cId="191838136" sldId="415"/>
    </pc:sldMkLst>
    <p188:txBody>
      <a:bodyPr/>
      <a:lstStyle/>
      <a:p>
        <a:r>
          <a:rPr lang="en-GB"/>
          <a:t>This slide is only a checklist. Delete it in your final report version before delivering it.</a:t>
        </a:r>
      </a:p>
    </p188:txBody>
  </p188:cm>
</p188:cmLst>
</file>

<file path=ppt/comments/modernComment_194_F8C0A913.xml><?xml version="1.0" encoding="utf-8"?>
<p188:cmLst xmlns:a="http://schemas.openxmlformats.org/drawingml/2006/main" xmlns:r="http://schemas.openxmlformats.org/officeDocument/2006/relationships" xmlns:p188="http://schemas.microsoft.com/office/powerpoint/2018/8/main">
  <p188:cm id="{0B49A45F-1BB2-4EE9-9AC3-E3FE75BDA40D}" authorId="{6C1A558A-D303-65E2-8988-E9D20194D4E8}" created="2024-10-22T15:29:00.575">
    <pc:sldMkLst xmlns:pc="http://schemas.microsoft.com/office/powerpoint/2013/main/command">
      <pc:docMk/>
      <pc:sldMk cId="4173375763" sldId="404"/>
    </pc:sldMkLst>
    <p188:txBody>
      <a:bodyPr/>
      <a:lstStyle/>
      <a:p>
        <a:r>
          <a:rPr lang="en-GB"/>
          <a:t>Duplicate this slide as many times as you need. This information must be taken from the Project Board and correspond to the  real number of assigned US.</a:t>
        </a:r>
      </a:p>
    </p188:txBody>
  </p188:cm>
</p188:cmLst>
</file>

<file path=ppt/comments/modernComment_195_4E28A34.xml><?xml version="1.0" encoding="utf-8"?>
<p188:cmLst xmlns:a="http://schemas.openxmlformats.org/drawingml/2006/main" xmlns:r="http://schemas.openxmlformats.org/officeDocument/2006/relationships" xmlns:p188="http://schemas.microsoft.com/office/powerpoint/2018/8/main">
  <p188:cm id="{C03E0C3C-4021-4A5B-BC00-32E823C80B52}" authorId="{6C1A558A-D303-65E2-8988-E9D20194D4E8}" created="2025-11-18T14:37:56.861">
    <ac:txMkLst xmlns:ac="http://schemas.microsoft.com/office/drawing/2013/main/command">
      <pc:docMk xmlns:pc="http://schemas.microsoft.com/office/powerpoint/2013/main/command"/>
      <pc:sldMk xmlns:pc="http://schemas.microsoft.com/office/powerpoint/2013/main/command" cId="81955380" sldId="405"/>
      <ac:spMk id="2" creationId="{EEE97808-B786-5C10-6A83-416F88B5C6D2}"/>
      <ac:txMk cp="0" len="15">
        <ac:context len="222" hash="3636637294"/>
      </ac:txMk>
    </ac:txMkLst>
    <p188:pos x="1990524" y="665277"/>
    <p188:txBody>
      <a:bodyPr/>
      <a:lstStyle/>
      <a:p>
        <a:r>
          <a:rPr lang="en-GB"/>
          <a:t>Ask the LLM to evaluate the team performance, considering a value from 0 to 5, using intermediate values (e.g., 4.3), and to write a sentence commenting on the evaluation.</a:t>
        </a:r>
      </a:p>
    </p188:txBody>
  </p188:cm>
  <p188:cm id="{F17D478A-07EA-497A-B66D-2884170B6418}" authorId="{6C1A558A-D303-65E2-8988-E9D20194D4E8}" created="2025-11-18T14:40:06.286">
    <ac:txMkLst xmlns:ac="http://schemas.microsoft.com/office/drawing/2013/main/command">
      <pc:docMk xmlns:pc="http://schemas.microsoft.com/office/powerpoint/2013/main/command"/>
      <pc:sldMk xmlns:pc="http://schemas.microsoft.com/office/powerpoint/2013/main/command" cId="81955380" sldId="405"/>
      <ac:spMk id="2" creationId="{EEE97808-B786-5C10-6A83-416F88B5C6D2}"/>
      <ac:txMk cp="184" len="10">
        <ac:context len="222" hash="3636637294"/>
      </ac:txMk>
    </ac:txMkLst>
    <p188:pos x="1968900" y="1362958"/>
    <p188:txBody>
      <a:bodyPr/>
      <a:lstStyle/>
      <a:p>
        <a:r>
          <a:rPr lang="en-GB"/>
          <a:t>Include your team evaluation average. Use the team and self-assessment file information for this item.</a:t>
        </a:r>
      </a:p>
    </p188:txBody>
  </p188:cm>
</p188:cmLst>
</file>

<file path=ppt/comments/modernComment_196_73C95D57.xml><?xml version="1.0" encoding="utf-8"?>
<p188:cmLst xmlns:a="http://schemas.openxmlformats.org/drawingml/2006/main" xmlns:r="http://schemas.openxmlformats.org/officeDocument/2006/relationships" xmlns:p188="http://schemas.microsoft.com/office/powerpoint/2018/8/main">
  <p188:cm id="{33B10A50-E342-46B1-8A21-69A1F6A00AA6}" authorId="{6C1A558A-D303-65E2-8988-E9D20194D4E8}" created="2024-10-22T15:28:37.653">
    <pc:sldMkLst xmlns:pc="http://schemas.microsoft.com/office/powerpoint/2013/main/command">
      <pc:docMk/>
      <pc:sldMk cId="1942576471" sldId="406"/>
    </pc:sldMkLst>
    <p188:txBody>
      <a:bodyPr/>
      <a:lstStyle/>
      <a:p>
        <a:r>
          <a:rPr lang="en-GB"/>
          <a:t>Este gráfico é apenas um exemplo. 
Devem retirar a informação a partir do menu "insights" no vosso repositório.
Formatem um tipo de gráfico que permita expor o número de tarefas atribuídas e executadas por cada elemento da equipa. Podem incluir todos os elementos, mesmo os que não estão em LAPR3.</a:t>
        </a:r>
      </a:p>
    </p188:txBody>
  </p188:cm>
</p188:cmLst>
</file>

<file path=ppt/comments/modernComment_197_300F0B25.xml><?xml version="1.0" encoding="utf-8"?>
<p188:cmLst xmlns:a="http://schemas.openxmlformats.org/drawingml/2006/main" xmlns:r="http://schemas.openxmlformats.org/officeDocument/2006/relationships" xmlns:p188="http://schemas.microsoft.com/office/powerpoint/2018/8/main">
  <p188:cm id="{98DB55F9-AD37-4F54-B79F-128CDD8B7F4B}" authorId="{6C1A558A-D303-65E2-8988-E9D20194D4E8}" created="2024-10-22T15:30:53.219">
    <pc:sldMkLst xmlns:pc="http://schemas.microsoft.com/office/powerpoint/2013/main/command">
      <pc:docMk/>
      <pc:sldMk cId="806292261" sldId="407"/>
    </pc:sldMkLst>
    <p188:txBody>
      <a:bodyPr/>
      <a:lstStyle/>
      <a:p>
        <a:r>
          <a:rPr lang="en-US"/>
          <a:t>May be created using the data from the board - workoad in each component from each team member.</a:t>
        </a:r>
      </a:p>
    </p188:txBody>
  </p188:cm>
</p188:cmLst>
</file>

<file path=ppt/comments/modernComment_199_E8DB507.xml><?xml version="1.0" encoding="utf-8"?>
<p188:cmLst xmlns:a="http://schemas.openxmlformats.org/drawingml/2006/main" xmlns:r="http://schemas.openxmlformats.org/officeDocument/2006/relationships" xmlns:p188="http://schemas.microsoft.com/office/powerpoint/2018/8/main">
  <p188:cm id="{43E5A7E4-8301-4D04-B856-08C35D122170}" authorId="{6C1A558A-D303-65E2-8988-E9D20194D4E8}" created="2024-10-22T15:29:25.154">
    <pc:sldMkLst xmlns:pc="http://schemas.microsoft.com/office/powerpoint/2013/main/command">
      <pc:docMk/>
      <pc:sldMk cId="244167943" sldId="409"/>
    </pc:sldMkLst>
    <p188:txBody>
      <a:bodyPr/>
      <a:lstStyle/>
      <a:p>
        <a:r>
          <a:rPr lang="en-US"/>
          <a:t>According to the information in the board/repository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AA918-AAAF-A948-AD9D-7282A6CA6554}" type="datetimeFigureOut">
              <a:rPr lang="en-US" smtClean="0"/>
              <a:pPr/>
              <a:t>01/03/26</a:t>
            </a:fld>
            <a:endParaRPr lang="pt-PT"/>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PT"/>
              <a:t>Click to edit Master text styles</a:t>
            </a:r>
          </a:p>
          <a:p>
            <a:pPr lvl="1"/>
            <a:r>
              <a:rPr lang="pt-PT"/>
              <a:t>Second level</a:t>
            </a:r>
          </a:p>
          <a:p>
            <a:pPr lvl="2"/>
            <a:r>
              <a:rPr lang="pt-PT"/>
              <a:t>Third level</a:t>
            </a:r>
          </a:p>
          <a:p>
            <a:pPr lvl="3"/>
            <a:r>
              <a:rPr lang="pt-PT"/>
              <a:t>Fourth level</a:t>
            </a:r>
          </a:p>
          <a:p>
            <a:pPr lvl="4"/>
            <a:r>
              <a:rPr lang="pt-PT"/>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1B708B-99F0-4F4A-8995-6044E0FFF0C7}" type="slidenum">
              <a:rPr lang="pt-PT" smtClean="0"/>
              <a:pPr/>
              <a:t>‹#›</a:t>
            </a:fld>
            <a:endParaRPr lang="pt-PT"/>
          </a:p>
        </p:txBody>
      </p:sp>
    </p:spTree>
    <p:extLst>
      <p:ext uri="{BB962C8B-B14F-4D97-AF65-F5344CB8AC3E}">
        <p14:creationId xmlns:p14="http://schemas.microsoft.com/office/powerpoint/2010/main" val="256420930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1B708B-99F0-4F4A-8995-6044E0FFF0C7}" type="slidenum">
              <a:rPr lang="pt-PT" smtClean="0"/>
              <a:pPr/>
              <a:t>1</a:t>
            </a:fld>
            <a:endParaRPr lang="pt-PT"/>
          </a:p>
        </p:txBody>
      </p:sp>
    </p:spTree>
    <p:extLst>
      <p:ext uri="{BB962C8B-B14F-4D97-AF65-F5344CB8AC3E}">
        <p14:creationId xmlns:p14="http://schemas.microsoft.com/office/powerpoint/2010/main" val="1974827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PT" dirty="0" err="1"/>
              <a:t>Add</a:t>
            </a:r>
            <a:r>
              <a:rPr lang="pt-PT" dirty="0"/>
              <a:t> </a:t>
            </a:r>
            <a:r>
              <a:rPr lang="pt-PT" dirty="0" err="1"/>
              <a:t>any</a:t>
            </a:r>
            <a:r>
              <a:rPr lang="pt-PT" dirty="0"/>
              <a:t> slide </a:t>
            </a:r>
            <a:r>
              <a:rPr lang="pt-PT" dirty="0" err="1"/>
              <a:t>you</a:t>
            </a:r>
            <a:r>
              <a:rPr lang="pt-PT" dirty="0"/>
              <a:t> </a:t>
            </a:r>
            <a:r>
              <a:rPr lang="pt-PT" dirty="0" err="1"/>
              <a:t>consider</a:t>
            </a:r>
            <a:r>
              <a:rPr lang="pt-PT" dirty="0"/>
              <a:t> </a:t>
            </a:r>
            <a:r>
              <a:rPr lang="pt-PT" dirty="0" err="1"/>
              <a:t>relevant</a:t>
            </a:r>
            <a:r>
              <a:rPr lang="pt-PT"/>
              <a:t>.</a:t>
            </a:r>
            <a:endParaRPr lang="en-GB" dirty="0"/>
          </a:p>
        </p:txBody>
      </p:sp>
      <p:sp>
        <p:nvSpPr>
          <p:cNvPr id="4" name="Slide Number Placeholder 3"/>
          <p:cNvSpPr>
            <a:spLocks noGrp="1"/>
          </p:cNvSpPr>
          <p:nvPr>
            <p:ph type="sldNum" sz="quarter" idx="5"/>
          </p:nvPr>
        </p:nvSpPr>
        <p:spPr/>
        <p:txBody>
          <a:bodyPr/>
          <a:lstStyle/>
          <a:p>
            <a:fld id="{FC1B708B-99F0-4F4A-8995-6044E0FFF0C7}" type="slidenum">
              <a:rPr lang="pt-PT" smtClean="0"/>
              <a:pPr/>
              <a:t>18</a:t>
            </a:fld>
            <a:endParaRPr lang="pt-PT"/>
          </a:p>
        </p:txBody>
      </p:sp>
    </p:spTree>
    <p:extLst>
      <p:ext uri="{BB962C8B-B14F-4D97-AF65-F5344CB8AC3E}">
        <p14:creationId xmlns:p14="http://schemas.microsoft.com/office/powerpoint/2010/main" val="2027193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1B708B-99F0-4F4A-8995-6044E0FFF0C7}" type="slidenum">
              <a:rPr lang="pt-PT" smtClean="0"/>
              <a:pPr/>
              <a:t>19</a:t>
            </a:fld>
            <a:endParaRPr lang="pt-PT"/>
          </a:p>
        </p:txBody>
      </p:sp>
    </p:spTree>
    <p:extLst>
      <p:ext uri="{BB962C8B-B14F-4D97-AF65-F5344CB8AC3E}">
        <p14:creationId xmlns:p14="http://schemas.microsoft.com/office/powerpoint/2010/main" val="2235202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Shape 14"/>
        <p:cNvGrpSpPr/>
        <p:nvPr/>
      </p:nvGrpSpPr>
      <p:grpSpPr>
        <a:xfrm>
          <a:off x="0" y="0"/>
          <a:ext cx="0" cy="0"/>
          <a:chOff x="0" y="0"/>
          <a:chExt cx="0" cy="0"/>
        </a:xfrm>
      </p:grpSpPr>
      <p:sp>
        <p:nvSpPr>
          <p:cNvPr id="2" name="Retângulo 1">
            <a:extLst>
              <a:ext uri="{FF2B5EF4-FFF2-40B4-BE49-F238E27FC236}">
                <a16:creationId xmlns:a16="http://schemas.microsoft.com/office/drawing/2014/main" id="{E3986928-2F1A-05D5-49A7-ECF44F7E6983}"/>
              </a:ext>
            </a:extLst>
          </p:cNvPr>
          <p:cNvSpPr/>
          <p:nvPr userDrawn="1"/>
        </p:nvSpPr>
        <p:spPr>
          <a:xfrm>
            <a:off x="1" y="1093304"/>
            <a:ext cx="9906000" cy="5764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15" name="Shape 15"/>
          <p:cNvSpPr txBox="1">
            <a:spLocks noGrp="1"/>
          </p:cNvSpPr>
          <p:nvPr>
            <p:ph type="title"/>
          </p:nvPr>
        </p:nvSpPr>
        <p:spPr>
          <a:xfrm>
            <a:off x="414000" y="4000503"/>
            <a:ext cx="8182338"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Shape 1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871060492"/>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Em branco">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685800" y="1066800"/>
            <a:ext cx="8534399" cy="571503"/>
          </a:xfrm>
          <a:prstGeom prst="rect">
            <a:avLst/>
          </a:prstGeom>
          <a:noFill/>
          <a:ln>
            <a:noFill/>
          </a:ln>
        </p:spPr>
        <p:txBody>
          <a:bodyPr wrap="square" lIns="91425" tIns="91425" rIns="91425" bIns="91425" anchor="t" anchorCtr="0"/>
          <a:lstStyle>
            <a:lvl1pPr marL="0" marR="0" lvl="0" indent="0" algn="l" rtl="0">
              <a:spcBef>
                <a:spcPts val="0"/>
              </a:spcBef>
              <a:buClr>
                <a:srgbClr val="000000"/>
              </a:buClr>
              <a:buFont typeface="Calibri"/>
              <a:buNone/>
              <a:defRPr sz="3200" b="1" i="0" u="none" strike="noStrike" cap="none">
                <a:solidFill>
                  <a:srgbClr val="00000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9" name="Shape 19"/>
          <p:cNvSpPr txBox="1">
            <a:spLocks noGrp="1"/>
          </p:cNvSpPr>
          <p:nvPr>
            <p:ph type="body" idx="1"/>
          </p:nvPr>
        </p:nvSpPr>
        <p:spPr>
          <a:xfrm>
            <a:off x="685800" y="1714488"/>
            <a:ext cx="8534399" cy="4305312"/>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SzPct val="100000"/>
              <a:buFont typeface="Arial"/>
              <a:buChar char="•"/>
              <a:defRPr sz="1800" b="0" i="0" u="none" strike="noStrike" cap="none">
                <a:latin typeface="Calibri"/>
                <a:ea typeface="Calibri"/>
                <a:cs typeface="Calibri"/>
                <a:sym typeface="Calibri"/>
              </a:defRPr>
            </a:lvl1pPr>
            <a:lvl2pPr marL="742950" marR="0" lvl="1" indent="-171450" algn="l" rtl="0">
              <a:spcBef>
                <a:spcPts val="0"/>
              </a:spcBef>
              <a:spcAft>
                <a:spcPts val="400"/>
              </a:spcAft>
              <a:buSzPct val="100000"/>
              <a:buFont typeface="Arial"/>
              <a:buChar char="–"/>
              <a:defRPr sz="1800" b="0" i="0" u="none" strike="noStrike" cap="none">
                <a:latin typeface="Calibri"/>
                <a:ea typeface="Calibri"/>
                <a:cs typeface="Calibri"/>
                <a:sym typeface="Calibri"/>
              </a:defRPr>
            </a:lvl2pPr>
            <a:lvl3pPr marL="1143000" marR="0" lvl="2" indent="-228600" algn="l" rtl="0">
              <a:spcBef>
                <a:spcPts val="0"/>
              </a:spcBef>
              <a:spcAft>
                <a:spcPts val="400"/>
              </a:spcAft>
              <a:buFont typeface="Arial"/>
              <a:buChar char="■"/>
              <a:defRPr sz="1800" b="0" i="0" u="none" strike="noStrike" cap="none">
                <a:latin typeface="Calibri"/>
                <a:ea typeface="Calibri"/>
                <a:cs typeface="Calibri"/>
                <a:sym typeface="Calibri"/>
              </a:defRPr>
            </a:lvl3pPr>
            <a:lvl4pPr marL="1600200" marR="0" lvl="3"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4pPr>
            <a:lvl5pPr marL="2057400" marR="0" lvl="4" indent="-114300" algn="l" rtl="0">
              <a:spcBef>
                <a:spcPts val="0"/>
              </a:spcBef>
              <a:spcAft>
                <a:spcPts val="400"/>
              </a:spcAft>
              <a:buSzPct val="100000"/>
              <a:buFont typeface="Arial"/>
              <a:buChar char="»"/>
              <a:defRPr sz="1800" b="0" i="0" u="none" strike="noStrike" cap="none">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dirty="0"/>
          </a:p>
        </p:txBody>
      </p:sp>
      <p:sp>
        <p:nvSpPr>
          <p:cNvPr id="2" name="Retângulo 1">
            <a:extLst>
              <a:ext uri="{FF2B5EF4-FFF2-40B4-BE49-F238E27FC236}">
                <a16:creationId xmlns:a16="http://schemas.microsoft.com/office/drawing/2014/main" id="{761D1FC4-6243-41CD-9D5B-A6553C84873C}"/>
              </a:ext>
            </a:extLst>
          </p:cNvPr>
          <p:cNvSpPr/>
          <p:nvPr userDrawn="1"/>
        </p:nvSpPr>
        <p:spPr>
          <a:xfrm>
            <a:off x="579188" y="6525785"/>
            <a:ext cx="1451038" cy="276999"/>
          </a:xfrm>
          <a:prstGeom prst="rect">
            <a:avLst/>
          </a:prstGeom>
        </p:spPr>
        <p:txBody>
          <a:bodyPr wrap="none">
            <a:spAutoFit/>
          </a:bodyPr>
          <a:lstStyle/>
          <a:p>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Internal</a:t>
            </a:r>
            <a:r>
              <a:rPr lang="pt-PT" sz="1200" b="1"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 Use </a:t>
            </a:r>
            <a:r>
              <a:rPr lang="pt-PT" sz="1200" b="1" i="1" err="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rPr>
              <a:t>Only</a:t>
            </a:r>
            <a:endParaRPr lang="pt-PT" sz="1200" i="1">
              <a:solidFill>
                <a:schemeClr val="bg1"/>
              </a:solidFill>
              <a:latin typeface="Kozuka Gothic Pro M" panose="020B0700000000000000" pitchFamily="34" charset="-128"/>
              <a:ea typeface="Kozuka Gothic Pro M" panose="020B0700000000000000" pitchFamily="34" charset="-128"/>
              <a:cs typeface="Calibri" panose="020F0502020204030204" pitchFamily="34" charset="0"/>
            </a:endParaRPr>
          </a:p>
        </p:txBody>
      </p:sp>
    </p:spTree>
    <p:extLst>
      <p:ext uri="{BB962C8B-B14F-4D97-AF65-F5344CB8AC3E}">
        <p14:creationId xmlns:p14="http://schemas.microsoft.com/office/powerpoint/2010/main" val="273965312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380967" y="4000503"/>
            <a:ext cx="821537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0"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3" name="Shape 23"/>
          <p:cNvSpPr txBox="1">
            <a:spLocks noGrp="1"/>
          </p:cNvSpPr>
          <p:nvPr>
            <p:ph type="body" idx="1"/>
          </p:nvPr>
        </p:nvSpPr>
        <p:spPr>
          <a:xfrm>
            <a:off x="390552" y="4808553"/>
            <a:ext cx="6848464" cy="406396"/>
          </a:xfrm>
          <a:prstGeom prst="rect">
            <a:avLst/>
          </a:prstGeom>
          <a:noFill/>
          <a:ln>
            <a:noFill/>
          </a:ln>
        </p:spPr>
        <p:txBody>
          <a:bodyPr wrap="square" lIns="91425" tIns="91425" rIns="91425" bIns="91425" anchor="b" anchorCtr="0"/>
          <a:lstStyle>
            <a:lvl1pPr marL="0" marR="0" lvl="0" indent="0" algn="l" rtl="0">
              <a:spcBef>
                <a:spcPts val="0"/>
              </a:spcBef>
              <a:spcAft>
                <a:spcPts val="400"/>
              </a:spcAft>
              <a:buClr>
                <a:srgbClr val="888888"/>
              </a:buClr>
              <a:buFont typeface="Arial"/>
              <a:buChar char="●"/>
              <a:defRPr sz="2000" b="0" i="0" u="none" strike="noStrike" cap="none">
                <a:solidFill>
                  <a:srgbClr val="888888"/>
                </a:solidFill>
                <a:latin typeface="Calibri"/>
                <a:ea typeface="Calibri"/>
                <a:cs typeface="Calibri"/>
                <a:sym typeface="Calibri"/>
              </a:defRPr>
            </a:lvl1pPr>
            <a:lvl2pPr marL="457200" marR="0" lvl="1" indent="0" algn="l" rtl="0">
              <a:spcBef>
                <a:spcPts val="0"/>
              </a:spcBef>
              <a:spcAft>
                <a:spcPts val="400"/>
              </a:spcAft>
              <a:buClr>
                <a:srgbClr val="888888"/>
              </a:buClr>
              <a:buFont typeface="Arial"/>
              <a:buChar char="○"/>
              <a:defRPr sz="1800" b="0" i="0" u="none" strike="noStrike" cap="none">
                <a:solidFill>
                  <a:srgbClr val="888888"/>
                </a:solidFill>
                <a:latin typeface="Calibri"/>
                <a:ea typeface="Calibri"/>
                <a:cs typeface="Calibri"/>
                <a:sym typeface="Calibri"/>
              </a:defRPr>
            </a:lvl2pPr>
            <a:lvl3pPr marL="914400" marR="0" lvl="2" indent="0" algn="l" rtl="0">
              <a:spcBef>
                <a:spcPts val="0"/>
              </a:spcBef>
              <a:spcAft>
                <a:spcPts val="400"/>
              </a:spcAft>
              <a:buClr>
                <a:srgbClr val="888888"/>
              </a:buClr>
              <a:buFont typeface="Arial"/>
              <a:buChar char="■"/>
              <a:defRPr sz="1600" b="0" i="0" u="none" strike="noStrike" cap="none">
                <a:solidFill>
                  <a:srgbClr val="888888"/>
                </a:solidFill>
                <a:latin typeface="Calibri"/>
                <a:ea typeface="Calibri"/>
                <a:cs typeface="Calibri"/>
                <a:sym typeface="Calibri"/>
              </a:defRPr>
            </a:lvl3pPr>
            <a:lvl4pPr marL="1371600" marR="0" lvl="3"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4pPr>
            <a:lvl5pPr marL="1828800" marR="0" lvl="4" indent="0" algn="l" rtl="0">
              <a:spcBef>
                <a:spcPts val="0"/>
              </a:spcBef>
              <a:spcAft>
                <a:spcPts val="400"/>
              </a:spcAft>
              <a:buClr>
                <a:srgbClr val="888888"/>
              </a:buClr>
              <a:buFont typeface="Arial"/>
              <a:buChar char="○"/>
              <a:defRPr sz="1400" b="0" i="0" u="none" strike="noStrike" cap="none">
                <a:solidFill>
                  <a:srgbClr val="888888"/>
                </a:solidFill>
                <a:latin typeface="Calibri"/>
                <a:ea typeface="Calibri"/>
                <a:cs typeface="Calibri"/>
                <a:sym typeface="Calibri"/>
              </a:defRPr>
            </a:lvl5pPr>
            <a:lvl6pPr marL="2286000" marR="0" lvl="5"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6pPr>
            <a:lvl7pPr marL="2743200" marR="0" lvl="6"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7pPr>
            <a:lvl8pPr marL="3200400" marR="0" lvl="7"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8pPr>
            <a:lvl9pPr marL="3657600" marR="0" lvl="8" indent="0" algn="l" rtl="0">
              <a:spcBef>
                <a:spcPts val="280"/>
              </a:spcBef>
              <a:buClr>
                <a:srgbClr val="888888"/>
              </a:buClr>
              <a:buFont typeface="Arial"/>
              <a:buChar char="■"/>
              <a:defRPr sz="1400" b="0" i="0" u="none" strike="noStrike" cap="none">
                <a:solidFill>
                  <a:srgbClr val="888888"/>
                </a:solidFill>
                <a:latin typeface="Arial"/>
                <a:ea typeface="Arial"/>
                <a:cs typeface="Arial"/>
                <a:sym typeface="Arial"/>
              </a:defRPr>
            </a:lvl9pPr>
          </a:lstStyle>
          <a:p>
            <a:endParaRPr dirty="0"/>
          </a:p>
        </p:txBody>
      </p:sp>
      <p:sp>
        <p:nvSpPr>
          <p:cNvPr id="24" name="Shape 24"/>
          <p:cNvSpPr txBox="1">
            <a:spLocks noGrp="1"/>
          </p:cNvSpPr>
          <p:nvPr>
            <p:ph type="dt" idx="10"/>
          </p:nvPr>
        </p:nvSpPr>
        <p:spPr>
          <a:xfrm>
            <a:off x="452406"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518983840"/>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414000" y="1000108"/>
            <a:ext cx="9043200"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414000" y="1714486"/>
            <a:ext cx="90432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0" name="Shape 30"/>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379991936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údo Duplo">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414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4" name="Shape 34"/>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
        <p:nvSpPr>
          <p:cNvPr id="37" name="Shape 37"/>
          <p:cNvSpPr txBox="1">
            <a:spLocks noGrp="1"/>
          </p:cNvSpPr>
          <p:nvPr>
            <p:ph type="body" idx="2"/>
          </p:nvPr>
        </p:nvSpPr>
        <p:spPr>
          <a:xfrm>
            <a:off x="4968000" y="1696519"/>
            <a:ext cx="4500000" cy="4589999"/>
          </a:xfrm>
          <a:prstGeom prst="rect">
            <a:avLst/>
          </a:prstGeom>
          <a:noFill/>
          <a:ln>
            <a:noFill/>
          </a:ln>
        </p:spPr>
        <p:txBody>
          <a:bodyPr wrap="square" lIns="91425" tIns="91425" rIns="91425" bIns="91425" anchor="t" anchorCtr="0"/>
          <a:lstStyle>
            <a:lvl1pPr marL="342900" marR="0" lvl="0" indent="-215900" algn="l" rtl="0">
              <a:spcBef>
                <a:spcPts val="0"/>
              </a:spcBef>
              <a:spcAft>
                <a:spcPts val="400"/>
              </a:spcAft>
              <a:buClr>
                <a:srgbClr val="D8D8D8"/>
              </a:buClr>
              <a:buSzPct val="100000"/>
              <a:buFont typeface="Arial"/>
              <a:buChar char="•"/>
              <a:defRPr sz="20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600" b="0" i="0" u="none" strike="noStrike" cap="none">
                <a:solidFill>
                  <a:srgbClr val="D8D8D8"/>
                </a:solidFill>
                <a:latin typeface="Calibri"/>
                <a:ea typeface="Calibri"/>
                <a:cs typeface="Calibri"/>
                <a:sym typeface="Calibri"/>
              </a:defRPr>
            </a:lvl3pPr>
            <a:lvl4pPr marL="1600200" marR="0" lvl="3" indent="-139700" algn="l" rtl="0">
              <a:spcBef>
                <a:spcPts val="0"/>
              </a:spcBef>
              <a:spcAft>
                <a:spcPts val="400"/>
              </a:spcAft>
              <a:buClr>
                <a:srgbClr val="D8D8D8"/>
              </a:buClr>
              <a:buSzPct val="100000"/>
              <a:buFont typeface="Arial"/>
              <a:buChar char="–"/>
              <a:defRPr sz="1400" b="0" i="0" u="none" strike="noStrike" cap="none">
                <a:solidFill>
                  <a:srgbClr val="D8D8D8"/>
                </a:solidFill>
                <a:latin typeface="Calibri"/>
                <a:ea typeface="Calibri"/>
                <a:cs typeface="Calibri"/>
                <a:sym typeface="Calibri"/>
              </a:defRPr>
            </a:lvl4pPr>
            <a:lvl5pPr marL="2057400" marR="0" lvl="4" indent="-152400" algn="l" rtl="0">
              <a:spcBef>
                <a:spcPts val="0"/>
              </a:spcBef>
              <a:spcAft>
                <a:spcPts val="400"/>
              </a:spcAft>
              <a:buClr>
                <a:srgbClr val="D8D8D8"/>
              </a:buClr>
              <a:buSzPct val="100000"/>
              <a:buFont typeface="Arial"/>
              <a:buChar char="»"/>
              <a:defRPr sz="1200" b="0" i="0" u="none" strike="noStrike" cap="none">
                <a:solidFill>
                  <a:srgbClr val="D8D8D8"/>
                </a:solidFill>
                <a:latin typeface="Calibri"/>
                <a:ea typeface="Calibri"/>
                <a:cs typeface="Calibri"/>
                <a:sym typeface="Calibri"/>
              </a:defRPr>
            </a:lvl5pPr>
            <a:lvl6pPr marL="2514600" marR="0" lvl="5"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6pPr>
            <a:lvl7pPr marL="2971800" marR="0" lvl="6"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7pPr>
            <a:lvl8pPr marL="3429000" marR="0" lvl="7"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8pPr>
            <a:lvl9pPr marL="3886200" marR="0" lvl="8" indent="-114300" algn="l" rtl="0">
              <a:spcBef>
                <a:spcPts val="360"/>
              </a:spcBef>
              <a:buClr>
                <a:schemeClr val="dk1"/>
              </a:buClr>
              <a:buSzPct val="1000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64908252"/>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Shape 38"/>
        <p:cNvGrpSpPr/>
        <p:nvPr/>
      </p:nvGrpSpPr>
      <p:grpSpPr>
        <a:xfrm>
          <a:off x="0" y="0"/>
          <a:ext cx="0" cy="0"/>
          <a:chOff x="0" y="0"/>
          <a:chExt cx="0" cy="0"/>
        </a:xfrm>
      </p:grpSpPr>
      <p:sp>
        <p:nvSpPr>
          <p:cNvPr id="39" name="Shape 39"/>
          <p:cNvSpPr>
            <a:spLocks noGrp="1"/>
          </p:cNvSpPr>
          <p:nvPr>
            <p:ph type="pic" idx="2"/>
          </p:nvPr>
        </p:nvSpPr>
        <p:spPr>
          <a:xfrm>
            <a:off x="414000" y="1004400"/>
            <a:ext cx="9043200" cy="5309999"/>
          </a:xfrm>
          <a:prstGeom prst="rect">
            <a:avLst/>
          </a:prstGeom>
          <a:no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None/>
              <a:defRPr sz="32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None/>
              <a:defRPr sz="28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None/>
              <a:defRPr sz="24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None/>
              <a:defRPr sz="2000" b="0" i="0" u="none" strike="noStrike" cap="none">
                <a:solidFill>
                  <a:srgbClr val="D8D8D8"/>
                </a:solidFill>
                <a:latin typeface="Calibri"/>
                <a:ea typeface="Calibri"/>
                <a:cs typeface="Calibri"/>
                <a:sym typeface="Calibri"/>
              </a:defRPr>
            </a:lvl5pPr>
            <a:lvl6pPr marL="2286000" marR="0" lvl="5"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6pPr>
            <a:lvl7pPr marL="2743200" marR="0" lvl="6"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7pPr>
            <a:lvl8pPr marL="3200400" marR="0" lvl="7"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8pPr>
            <a:lvl9pPr marL="3657600" marR="0" lvl="8" indent="0" algn="l" rtl="0">
              <a:spcBef>
                <a:spcPts val="400"/>
              </a:spcBef>
              <a:buClr>
                <a:schemeClr val="dk1"/>
              </a:buClr>
              <a:buFont typeface="Arial"/>
              <a:buNone/>
              <a:defRPr sz="2000" b="0" i="0" u="none" strike="noStrike" cap="none">
                <a:solidFill>
                  <a:schemeClr val="dk1"/>
                </a:solidFill>
                <a:latin typeface="Arial"/>
                <a:ea typeface="Arial"/>
                <a:cs typeface="Arial"/>
                <a:sym typeface="Arial"/>
              </a:defRPr>
            </a:lvl9pPr>
          </a:lstStyle>
          <a:p>
            <a:endParaRPr/>
          </a:p>
        </p:txBody>
      </p:sp>
      <p:sp>
        <p:nvSpPr>
          <p:cNvPr id="40" name="Shape 40"/>
          <p:cNvSpPr txBox="1">
            <a:spLocks noGrp="1"/>
          </p:cNvSpPr>
          <p:nvPr>
            <p:ph type="title"/>
          </p:nvPr>
        </p:nvSpPr>
        <p:spPr>
          <a:xfrm>
            <a:off x="523843" y="5505467"/>
            <a:ext cx="5943599" cy="352424"/>
          </a:xfrm>
          <a:prstGeom prst="rect">
            <a:avLst/>
          </a:prstGeom>
          <a:solidFill>
            <a:schemeClr val="lt1"/>
          </a:solidFill>
          <a:ln>
            <a:noFill/>
          </a:ln>
        </p:spPr>
        <p:txBody>
          <a:bodyPr wrap="square" lIns="91425" tIns="91425" rIns="91425" bIns="91425" anchor="b" anchorCtr="0"/>
          <a:lstStyle>
            <a:lvl1pPr marL="0" marR="0" lvl="0" indent="0" algn="l" rtl="0">
              <a:spcBef>
                <a:spcPts val="0"/>
              </a:spcBef>
              <a:buClr>
                <a:schemeClr val="lt1"/>
              </a:buClr>
              <a:buFont typeface="Calibri"/>
              <a:buNone/>
              <a:defRPr sz="2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1" name="Shape 41"/>
          <p:cNvSpPr txBox="1">
            <a:spLocks noGrp="1"/>
          </p:cNvSpPr>
          <p:nvPr>
            <p:ph type="body" idx="1"/>
          </p:nvPr>
        </p:nvSpPr>
        <p:spPr>
          <a:xfrm>
            <a:off x="523843" y="5929330"/>
            <a:ext cx="8858312" cy="276239"/>
          </a:xfrm>
          <a:prstGeom prst="rect">
            <a:avLst/>
          </a:prstGeom>
          <a:solidFill>
            <a:schemeClr val="lt1"/>
          </a:solidFill>
          <a:ln>
            <a:noFill/>
          </a:ln>
        </p:spPr>
        <p:txBody>
          <a:bodyPr wrap="square" lIns="91425" tIns="91425" rIns="91425" bIns="91425" anchor="t" anchorCtr="0"/>
          <a:lstStyle>
            <a:lvl1pPr marL="0" marR="0" lvl="0" indent="0" algn="l" rtl="0">
              <a:spcBef>
                <a:spcPts val="0"/>
              </a:spcBef>
              <a:spcAft>
                <a:spcPts val="400"/>
              </a:spcAft>
              <a:buClr>
                <a:srgbClr val="D8D8D8"/>
              </a:buClr>
              <a:buFont typeface="Arial"/>
              <a:buChar char="●"/>
              <a:defRPr sz="1400" b="0" i="0" u="none" strike="noStrike" cap="none">
                <a:solidFill>
                  <a:srgbClr val="D8D8D8"/>
                </a:solidFill>
                <a:latin typeface="Calibri"/>
                <a:ea typeface="Calibri"/>
                <a:cs typeface="Calibri"/>
                <a:sym typeface="Calibri"/>
              </a:defRPr>
            </a:lvl1pPr>
            <a:lvl2pPr marL="457200" marR="0" lvl="1" indent="0" algn="l" rtl="0">
              <a:spcBef>
                <a:spcPts val="0"/>
              </a:spcBef>
              <a:spcAft>
                <a:spcPts val="400"/>
              </a:spcAft>
              <a:buClr>
                <a:srgbClr val="D8D8D8"/>
              </a:buClr>
              <a:buFont typeface="Arial"/>
              <a:buChar char="○"/>
              <a:defRPr sz="1200" b="0" i="0" u="none" strike="noStrike" cap="none">
                <a:solidFill>
                  <a:srgbClr val="D8D8D8"/>
                </a:solidFill>
                <a:latin typeface="Calibri"/>
                <a:ea typeface="Calibri"/>
                <a:cs typeface="Calibri"/>
                <a:sym typeface="Calibri"/>
              </a:defRPr>
            </a:lvl2pPr>
            <a:lvl3pPr marL="914400" marR="0" lvl="2" indent="0" algn="l" rtl="0">
              <a:spcBef>
                <a:spcPts val="0"/>
              </a:spcBef>
              <a:spcAft>
                <a:spcPts val="400"/>
              </a:spcAft>
              <a:buClr>
                <a:srgbClr val="D8D8D8"/>
              </a:buClr>
              <a:buFont typeface="Arial"/>
              <a:buChar char="■"/>
              <a:defRPr sz="1000" b="0" i="0" u="none" strike="noStrike" cap="none">
                <a:solidFill>
                  <a:srgbClr val="D8D8D8"/>
                </a:solidFill>
                <a:latin typeface="Calibri"/>
                <a:ea typeface="Calibri"/>
                <a:cs typeface="Calibri"/>
                <a:sym typeface="Calibri"/>
              </a:defRPr>
            </a:lvl3pPr>
            <a:lvl4pPr marL="1371600" marR="0" lvl="3"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4pPr>
            <a:lvl5pPr marL="1828800" marR="0" lvl="4" indent="0" algn="l" rtl="0">
              <a:spcBef>
                <a:spcPts val="0"/>
              </a:spcBef>
              <a:spcAft>
                <a:spcPts val="400"/>
              </a:spcAft>
              <a:buClr>
                <a:srgbClr val="D8D8D8"/>
              </a:buClr>
              <a:buFont typeface="Arial"/>
              <a:buChar char="○"/>
              <a:defRPr sz="900" b="0" i="0" u="none" strike="noStrike" cap="none">
                <a:solidFill>
                  <a:srgbClr val="D8D8D8"/>
                </a:solidFill>
                <a:latin typeface="Calibri"/>
                <a:ea typeface="Calibri"/>
                <a:cs typeface="Calibri"/>
                <a:sym typeface="Calibri"/>
              </a:defRPr>
            </a:lvl5pPr>
            <a:lvl6pPr marL="2286000" marR="0" lvl="5"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6pPr>
            <a:lvl7pPr marL="2743200" marR="0" lvl="6"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7pPr>
            <a:lvl8pPr marL="3200400" marR="0" lvl="7"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8pPr>
            <a:lvl9pPr marL="3657600" marR="0" lvl="8" indent="0" algn="l" rtl="0">
              <a:spcBef>
                <a:spcPts val="180"/>
              </a:spcBef>
              <a:buClr>
                <a:schemeClr val="dk1"/>
              </a:buClr>
              <a:buFont typeface="Arial"/>
              <a:buChar char="■"/>
              <a:defRPr sz="9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Tree>
    <p:extLst>
      <p:ext uri="{BB962C8B-B14F-4D97-AF65-F5344CB8AC3E}">
        <p14:creationId xmlns:p14="http://schemas.microsoft.com/office/powerpoint/2010/main" val="104761556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 branco">
    <p:spTree>
      <p:nvGrpSpPr>
        <p:cNvPr id="1" name="Shape 45"/>
        <p:cNvGrpSpPr/>
        <p:nvPr/>
      </p:nvGrpSpPr>
      <p:grpSpPr>
        <a:xfrm>
          <a:off x="0" y="0"/>
          <a:ext cx="0" cy="0"/>
          <a:chOff x="0" y="0"/>
          <a:chExt cx="0" cy="0"/>
        </a:xfrm>
      </p:grpSpPr>
      <p:sp>
        <p:nvSpPr>
          <p:cNvPr id="46" name="Shape 46"/>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7" name="Shape 47"/>
          <p:cNvSpPr txBox="1">
            <a:spLocks noGrp="1"/>
          </p:cNvSpPr>
          <p:nvPr>
            <p:ph type="ftr" idx="11"/>
          </p:nvPr>
        </p:nvSpPr>
        <p:spPr>
          <a:xfrm>
            <a:off x="1666851" y="6492898"/>
            <a:ext cx="5786477"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8" name="Shape 48"/>
          <p:cNvSpPr txBox="1">
            <a:spLocks noGrp="1"/>
          </p:cNvSpPr>
          <p:nvPr>
            <p:ph type="sldNum" idx="12"/>
          </p:nvPr>
        </p:nvSpPr>
        <p:spPr>
          <a:xfrm>
            <a:off x="7596206" y="6492898"/>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a:solidFill>
                <a:srgbClr val="888888"/>
              </a:solidFill>
              <a:latin typeface="Arial"/>
              <a:ea typeface="Arial"/>
              <a:cs typeface="Arial"/>
              <a:sym typeface="Arial"/>
            </a:endParaRPr>
          </a:p>
        </p:txBody>
      </p:sp>
      <p:sp>
        <p:nvSpPr>
          <p:cNvPr id="49" name="Shape 49"/>
          <p:cNvSpPr txBox="1">
            <a:spLocks noGrp="1"/>
          </p:cNvSpPr>
          <p:nvPr>
            <p:ph type="title"/>
          </p:nvPr>
        </p:nvSpPr>
        <p:spPr>
          <a:xfrm>
            <a:off x="685800" y="1066800"/>
            <a:ext cx="86105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0" name="Shape 50"/>
          <p:cNvSpPr txBox="1">
            <a:spLocks noGrp="1"/>
          </p:cNvSpPr>
          <p:nvPr>
            <p:ph type="body" idx="1"/>
          </p:nvPr>
        </p:nvSpPr>
        <p:spPr>
          <a:xfrm>
            <a:off x="685800" y="1714488"/>
            <a:ext cx="8610599" cy="4572031"/>
          </a:xfrm>
          <a:prstGeom prst="rect">
            <a:avLst/>
          </a:prstGeom>
          <a:noFill/>
          <a:ln>
            <a:noFill/>
          </a:ln>
        </p:spPr>
        <p:txBody>
          <a:bodyPr wrap="square" lIns="91425" tIns="91425" rIns="91425" bIns="91425" anchor="t" anchorCtr="0"/>
          <a:lstStyle>
            <a:lvl1pPr marL="342900" marR="0" lvl="0" indent="-2286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1pPr>
            <a:lvl2pPr marL="742950" marR="0" lvl="1" indent="-17145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2pPr>
            <a:lvl3pPr marL="1143000" marR="0" lvl="2" indent="-228600" algn="l" rtl="0">
              <a:spcBef>
                <a:spcPts val="0"/>
              </a:spcBef>
              <a:spcAft>
                <a:spcPts val="400"/>
              </a:spcAft>
              <a:buClr>
                <a:srgbClr val="D8D8D8"/>
              </a:buClr>
              <a:buFont typeface="Arial"/>
              <a:buChar char="■"/>
              <a:defRPr sz="1800" b="0" i="0" u="none" strike="noStrike" cap="none">
                <a:solidFill>
                  <a:srgbClr val="D8D8D8"/>
                </a:solidFill>
                <a:latin typeface="Calibri"/>
                <a:ea typeface="Calibri"/>
                <a:cs typeface="Calibri"/>
                <a:sym typeface="Calibri"/>
              </a:defRPr>
            </a:lvl3pPr>
            <a:lvl4pPr marL="1600200" marR="0" lvl="3"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4pPr>
            <a:lvl5pPr marL="2057400" marR="0" lvl="4" indent="-114300" algn="l" rtl="0">
              <a:spcBef>
                <a:spcPts val="0"/>
              </a:spcBef>
              <a:spcAft>
                <a:spcPts val="400"/>
              </a:spcAft>
              <a:buClr>
                <a:srgbClr val="D8D8D8"/>
              </a:buClr>
              <a:buSzPct val="100000"/>
              <a:buFont typeface="Arial"/>
              <a:buChar char="»"/>
              <a:defRPr sz="1800" b="0" i="0" u="none" strike="noStrike" cap="none">
                <a:solidFill>
                  <a:srgbClr val="D8D8D8"/>
                </a:solidFill>
                <a:latin typeface="Calibri"/>
                <a:ea typeface="Calibri"/>
                <a:cs typeface="Calibri"/>
                <a:sym typeface="Calibri"/>
              </a:defRPr>
            </a:lvl5pPr>
            <a:lvl6pPr marL="2514600" marR="0" lvl="5"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6pPr>
            <a:lvl7pPr marL="2971800" marR="0" lvl="6"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7pPr>
            <a:lvl8pPr marL="3429000" marR="0" lvl="7"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8pPr>
            <a:lvl9pPr marL="3886200" marR="0" lvl="8" indent="-101600" algn="l" rtl="0">
              <a:spcBef>
                <a:spcPts val="400"/>
              </a:spcBef>
              <a:buClr>
                <a:schemeClr val="dk1"/>
              </a:buClr>
              <a:buSzPct val="100000"/>
              <a:buFont typeface="Arial"/>
              <a:buChar char="•"/>
              <a:defRPr sz="20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09187231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trada">
    <p:spTree>
      <p:nvGrpSpPr>
        <p:cNvPr id="1" name="Shape 51"/>
        <p:cNvGrpSpPr/>
        <p:nvPr/>
      </p:nvGrpSpPr>
      <p:grpSpPr>
        <a:xfrm>
          <a:off x="0" y="0"/>
          <a:ext cx="0" cy="0"/>
          <a:chOff x="0" y="0"/>
          <a:chExt cx="0" cy="0"/>
        </a:xfrm>
      </p:grpSpPr>
      <p:sp>
        <p:nvSpPr>
          <p:cNvPr id="52" name="Shape 52"/>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3" name="Shape 53"/>
          <p:cNvSpPr txBox="1"/>
          <p:nvPr/>
        </p:nvSpPr>
        <p:spPr>
          <a:xfrm flipH="1">
            <a:off x="6764158" y="4953000"/>
            <a:ext cx="182741" cy="374710"/>
          </a:xfrm>
          <a:prstGeom prst="rect">
            <a:avLst/>
          </a:prstGeom>
          <a:solidFill>
            <a:schemeClr val="lt1">
              <a:alpha val="69803"/>
            </a:schemeClr>
          </a:solidFill>
          <a:ln>
            <a:noFill/>
          </a:ln>
        </p:spPr>
        <p:txBody>
          <a:bodyPr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Arial"/>
              <a:buNone/>
            </a:pPr>
            <a:endParaRPr sz="2000" b="0" i="0" u="none" strike="noStrike" cap="none">
              <a:solidFill>
                <a:srgbClr val="00CAEF"/>
              </a:solidFill>
              <a:latin typeface="Arial"/>
              <a:ea typeface="Arial"/>
              <a:cs typeface="Arial"/>
              <a:sym typeface="Arial"/>
            </a:endParaRPr>
          </a:p>
        </p:txBody>
      </p:sp>
    </p:spTree>
    <p:extLst>
      <p:ext uri="{BB962C8B-B14F-4D97-AF65-F5344CB8AC3E}">
        <p14:creationId xmlns:p14="http://schemas.microsoft.com/office/powerpoint/2010/main" val="267651278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entrada">
    <p:spTree>
      <p:nvGrpSpPr>
        <p:cNvPr id="1" name="Shape 54"/>
        <p:cNvGrpSpPr/>
        <p:nvPr/>
      </p:nvGrpSpPr>
      <p:grpSpPr>
        <a:xfrm>
          <a:off x="0" y="0"/>
          <a:ext cx="0" cy="0"/>
          <a:chOff x="0" y="0"/>
          <a:chExt cx="0" cy="0"/>
        </a:xfrm>
      </p:grpSpPr>
      <p:sp>
        <p:nvSpPr>
          <p:cNvPr id="55" name="Shape 55"/>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291598524"/>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squema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4650209"/>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03/01/2026</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21517040"/>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03/01/2026</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2694208087"/>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extLst>
      <p:ext uri="{BB962C8B-B14F-4D97-AF65-F5344CB8AC3E}">
        <p14:creationId xmlns:p14="http://schemas.microsoft.com/office/powerpoint/2010/main" val="792648683"/>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nteúdo Duplo">
    <p:spTree>
      <p:nvGrpSpPr>
        <p:cNvPr id="1" name=""/>
        <p:cNvGrpSpPr/>
        <p:nvPr/>
      </p:nvGrpSpPr>
      <p:grpSpPr>
        <a:xfrm>
          <a:off x="0" y="0"/>
          <a:ext cx="0" cy="0"/>
          <a:chOff x="0" y="0"/>
          <a:chExt cx="0" cy="0"/>
        </a:xfrm>
      </p:grpSpPr>
      <p:sp>
        <p:nvSpPr>
          <p:cNvPr id="2" name="Título 1"/>
          <p:cNvSpPr>
            <a:spLocks noGrp="1"/>
          </p:cNvSpPr>
          <p:nvPr>
            <p:ph type="title" hasCustomPrompt="1"/>
          </p:nvPr>
        </p:nvSpPr>
        <p:spPr/>
        <p:txBody>
          <a:bodyPr>
            <a:noAutofit/>
          </a:bodyPr>
          <a:lstStyle>
            <a:lvl1pPr>
              <a:defRPr sz="4000" b="1" cap="all" baseline="0"/>
            </a:lvl1pPr>
          </a:lstStyle>
          <a:p>
            <a:r>
              <a:rPr lang="pt-PT" dirty="0"/>
              <a:t>Clique para editar o estilo »</a:t>
            </a:r>
          </a:p>
        </p:txBody>
      </p:sp>
      <p:sp>
        <p:nvSpPr>
          <p:cNvPr id="3" name="Marcador de Posição de Conteúdo 2"/>
          <p:cNvSpPr>
            <a:spLocks noGrp="1"/>
          </p:cNvSpPr>
          <p:nvPr>
            <p:ph sz="half" idx="1"/>
          </p:nvPr>
        </p:nvSpPr>
        <p:spPr>
          <a:xfrm>
            <a:off x="414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
        <p:nvSpPr>
          <p:cNvPr id="5" name="Marcador de Posição da Data 4"/>
          <p:cNvSpPr>
            <a:spLocks noGrp="1"/>
          </p:cNvSpPr>
          <p:nvPr>
            <p:ph type="dt" sz="half" idx="10"/>
          </p:nvPr>
        </p:nvSpPr>
        <p:spPr/>
        <p:txBody>
          <a:bodyPr/>
          <a:lstStyle/>
          <a:p>
            <a:fld id="{44B11A7A-C2E1-40A3-A304-BADFC0305F97}" type="datetimeFigureOut">
              <a:rPr lang="pt-PT" smtClean="0"/>
              <a:pPr/>
              <a:t>03/01/2026</a:t>
            </a:fld>
            <a:endParaRPr lang="pt-PT"/>
          </a:p>
        </p:txBody>
      </p:sp>
      <p:sp>
        <p:nvSpPr>
          <p:cNvPr id="6" name="Marcador de Posição do Rodapé 5"/>
          <p:cNvSpPr>
            <a:spLocks noGrp="1"/>
          </p:cNvSpPr>
          <p:nvPr>
            <p:ph type="ftr" sz="quarter" idx="11"/>
          </p:nvPr>
        </p:nvSpPr>
        <p:spPr/>
        <p:txBody>
          <a:bodyPr/>
          <a:lstStyle/>
          <a:p>
            <a:endParaRPr lang="pt-PT"/>
          </a:p>
        </p:txBody>
      </p:sp>
      <p:sp>
        <p:nvSpPr>
          <p:cNvPr id="7" name="Marcador de Posição do Número do Diapositivo 6"/>
          <p:cNvSpPr>
            <a:spLocks noGrp="1"/>
          </p:cNvSpPr>
          <p:nvPr>
            <p:ph type="sldNum" sz="quarter" idx="12"/>
          </p:nvPr>
        </p:nvSpPr>
        <p:spPr/>
        <p:txBody>
          <a:bodyPr/>
          <a:lstStyle/>
          <a:p>
            <a:fld id="{9F46AC24-9121-4D27-8FE4-0595B5E1EC6D}" type="slidenum">
              <a:rPr lang="pt-PT" smtClean="0"/>
              <a:pPr/>
              <a:t>‹#›</a:t>
            </a:fld>
            <a:endParaRPr lang="pt-PT"/>
          </a:p>
        </p:txBody>
      </p:sp>
      <p:sp>
        <p:nvSpPr>
          <p:cNvPr id="8" name="Marcador de Posição de Conteúdo 2"/>
          <p:cNvSpPr>
            <a:spLocks noGrp="1"/>
          </p:cNvSpPr>
          <p:nvPr>
            <p:ph sz="half" idx="13"/>
          </p:nvPr>
        </p:nvSpPr>
        <p:spPr>
          <a:xfrm>
            <a:off x="4968000" y="1696520"/>
            <a:ext cx="4500000" cy="4590000"/>
          </a:xfrm>
          <a:prstGeom prst="rect">
            <a:avLst/>
          </a:prstGeo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44B11A7A-C2E1-40A3-A304-BADFC0305F97}" type="datetimeFigureOut">
              <a:rPr lang="pt-PT" smtClean="0"/>
              <a:pPr/>
              <a:t>03/01/2026</a:t>
            </a:fld>
            <a:endParaRPr lang="pt-PT"/>
          </a:p>
        </p:txBody>
      </p:sp>
      <p:sp>
        <p:nvSpPr>
          <p:cNvPr id="3" name="Marcador de Posição do Rodapé 2"/>
          <p:cNvSpPr>
            <a:spLocks noGrp="1"/>
          </p:cNvSpPr>
          <p:nvPr>
            <p:ph type="ftr" sz="quarter" idx="11"/>
          </p:nvPr>
        </p:nvSpPr>
        <p:spPr/>
        <p:txBody>
          <a:bodyPr/>
          <a:lstStyle/>
          <a:p>
            <a:endParaRPr lang="pt-PT"/>
          </a:p>
        </p:txBody>
      </p:sp>
      <p:sp>
        <p:nvSpPr>
          <p:cNvPr id="4" name="Marcador de Posição do Número do Diapositivo 3"/>
          <p:cNvSpPr>
            <a:spLocks noGrp="1"/>
          </p:cNvSpPr>
          <p:nvPr>
            <p:ph type="sldNum" sz="quarter" idx="12"/>
          </p:nvPr>
        </p:nvSpPr>
        <p:spPr/>
        <p:txBody>
          <a:bodyPr/>
          <a:lstStyle/>
          <a:p>
            <a:fld id="{9F46AC24-9121-4D27-8FE4-0595B5E1EC6D}" type="slidenum">
              <a:rPr lang="pt-PT" smtClean="0"/>
              <a:pPr/>
              <a:t>‹#›</a:t>
            </a:fld>
            <a:endParaRPr lang="pt-PT"/>
          </a:p>
        </p:txBody>
      </p:sp>
      <p:sp>
        <p:nvSpPr>
          <p:cNvPr id="5" name="Marcador de Posição do Título 1"/>
          <p:cNvSpPr>
            <a:spLocks noGrp="1"/>
          </p:cNvSpPr>
          <p:nvPr>
            <p:ph type="title"/>
          </p:nvPr>
        </p:nvSpPr>
        <p:spPr>
          <a:xfrm>
            <a:off x="685800" y="1066800"/>
            <a:ext cx="86106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hasCustomPrompt="1"/>
          </p:nvPr>
        </p:nvSpPr>
        <p:spPr>
          <a:xfrm>
            <a:off x="685800" y="1714488"/>
            <a:ext cx="8610600" cy="4572032"/>
          </a:xfrm>
          <a:prstGeom prst="rect">
            <a:avLst/>
          </a:prstGeom>
        </p:spPr>
        <p:txBody>
          <a:bodyPr vert="horz" lIns="91440" tIns="45720" rIns="91440" bIns="45720" rtlCol="0">
            <a:normAutofit/>
          </a:bodyPr>
          <a:lstStyle/>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Em branco">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Marcador de Posição do Título 1"/>
          <p:cNvSpPr>
            <a:spLocks noGrp="1"/>
          </p:cNvSpPr>
          <p:nvPr>
            <p:ph type="title"/>
          </p:nvPr>
        </p:nvSpPr>
        <p:spPr>
          <a:xfrm>
            <a:off x="685800" y="1066800"/>
            <a:ext cx="8534400" cy="571504"/>
          </a:xfrm>
          <a:prstGeom prst="rect">
            <a:avLst/>
          </a:prstGeom>
        </p:spPr>
        <p:txBody>
          <a:bodyPr vert="horz" lIns="90000" tIns="45720" rIns="91440" bIns="45720" rtlCol="0" anchor="t" anchorCtr="0">
            <a:noAutofit/>
          </a:bodyPr>
          <a:lstStyle/>
          <a:p>
            <a:r>
              <a:rPr lang="pt-PT" dirty="0"/>
              <a:t>TÍTULO</a:t>
            </a:r>
          </a:p>
        </p:txBody>
      </p:sp>
      <p:sp>
        <p:nvSpPr>
          <p:cNvPr id="6" name="Marcador de Posição do Texto 2"/>
          <p:cNvSpPr>
            <a:spLocks noGrp="1"/>
          </p:cNvSpPr>
          <p:nvPr>
            <p:ph idx="1"/>
          </p:nvPr>
        </p:nvSpPr>
        <p:spPr>
          <a:xfrm>
            <a:off x="685800" y="1714488"/>
            <a:ext cx="8534400" cy="4305312"/>
          </a:xfrm>
          <a:prstGeom prst="rect">
            <a:avLst/>
          </a:prstGeom>
        </p:spPr>
        <p:txBody>
          <a:bodyPr vert="horz" lIns="91440" tIns="45720" rIns="91440" bIns="45720" rtlCol="0">
            <a:normAutofit/>
          </a:bodyPr>
          <a:lstStyle>
            <a:lvl1pPr>
              <a:defRPr sz="1800">
                <a:solidFill>
                  <a:srgbClr val="D9D9D9"/>
                </a:solidFill>
              </a:defRPr>
            </a:lvl1pPr>
            <a:lvl2pPr>
              <a:defRPr sz="1800">
                <a:solidFill>
                  <a:srgbClr val="D9D9D9"/>
                </a:solidFill>
              </a:defRPr>
            </a:lvl2pPr>
            <a:lvl3pPr>
              <a:defRPr sz="1800">
                <a:solidFill>
                  <a:srgbClr val="D9D9D9"/>
                </a:solidFill>
              </a:defRPr>
            </a:lvl3pPr>
            <a:lvl4pPr>
              <a:defRPr sz="1800">
                <a:solidFill>
                  <a:srgbClr val="D9D9D9"/>
                </a:solidFill>
              </a:defRPr>
            </a:lvl4pPr>
            <a:lvl5pPr>
              <a:defRPr sz="1800">
                <a:solidFill>
                  <a:srgbClr val="D9D9D9"/>
                </a:solidFill>
              </a:defRPr>
            </a:lvl5pPr>
          </a:lstStyle>
          <a:p>
            <a:pPr lvl="0"/>
            <a:r>
              <a:rPr lang="pt-PT" dirty="0"/>
              <a:t>Clique para editar os estilos</a:t>
            </a:r>
          </a:p>
          <a:p>
            <a:pPr lvl="1"/>
            <a:r>
              <a:rPr lang="pt-PT" dirty="0"/>
              <a:t>Segundo nível</a:t>
            </a:r>
          </a:p>
          <a:p>
            <a:pPr lvl="2"/>
            <a:r>
              <a:rPr lang="pt-PT" dirty="0"/>
              <a:t>Terceiro nível</a:t>
            </a:r>
          </a:p>
          <a:p>
            <a:pPr lvl="3"/>
            <a:r>
              <a:rPr lang="pt-PT" dirty="0"/>
              <a:t>Quarto nível</a:t>
            </a:r>
          </a:p>
          <a:p>
            <a:pPr lvl="4"/>
            <a:r>
              <a:rPr lang="pt-PT" dirty="0"/>
              <a:t>Quinto nível</a:t>
            </a: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9"/>
        <p:cNvGrpSpPr/>
        <p:nvPr/>
      </p:nvGrpSpPr>
      <p:grpSpPr>
        <a:xfrm>
          <a:off x="0" y="0"/>
          <a:ext cx="0" cy="0"/>
          <a:chOff x="0" y="0"/>
          <a:chExt cx="0" cy="0"/>
        </a:xfrm>
      </p:grpSpPr>
      <p:sp>
        <p:nvSpPr>
          <p:cNvPr id="4" name="Retângulo: Cantos Arredondados 3">
            <a:extLst>
              <a:ext uri="{FF2B5EF4-FFF2-40B4-BE49-F238E27FC236}">
                <a16:creationId xmlns:a16="http://schemas.microsoft.com/office/drawing/2014/main" id="{CD0DF30C-F77B-4F2F-9EB1-3B93EBB0DB99}"/>
              </a:ext>
            </a:extLst>
          </p:cNvPr>
          <p:cNvSpPr/>
          <p:nvPr userDrawn="1"/>
        </p:nvSpPr>
        <p:spPr>
          <a:xfrm>
            <a:off x="324908" y="6390861"/>
            <a:ext cx="9214886" cy="467139"/>
          </a:xfrm>
          <a:prstGeom prst="roundRect">
            <a:avLst>
              <a:gd name="adj" fmla="val 6170"/>
            </a:avLst>
          </a:prstGeom>
          <a:solidFill>
            <a:srgbClr val="9A1A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9A1A24"/>
              </a:solidFill>
            </a:endParaRPr>
          </a:p>
        </p:txBody>
      </p:sp>
      <p:sp>
        <p:nvSpPr>
          <p:cNvPr id="10" name="Shape 10"/>
          <p:cNvSpPr txBox="1">
            <a:spLocks noGrp="1"/>
          </p:cNvSpPr>
          <p:nvPr>
            <p:ph type="dt" idx="10"/>
          </p:nvPr>
        </p:nvSpPr>
        <p:spPr>
          <a:xfrm>
            <a:off x="495300" y="6492898"/>
            <a:ext cx="1028675" cy="365125"/>
          </a:xfrm>
          <a:prstGeom prst="rect">
            <a:avLst/>
          </a:prstGeom>
          <a:noFill/>
          <a:ln>
            <a:noFill/>
          </a:ln>
        </p:spPr>
        <p:txBody>
          <a:bodyPr wrap="square" lIns="91425" tIns="91425" rIns="91425" bIns="91425" anchor="ctr" anchorCtr="0"/>
          <a:lstStyle>
            <a:lvl1pPr marL="0" marR="0" lvl="0" indent="0" algn="l" rtl="0">
              <a:spcBef>
                <a:spcPts val="0"/>
              </a:spcBef>
              <a:buNone/>
              <a:defRPr sz="1200" b="0" i="0" u="none" strike="noStrike" cap="none">
                <a:solidFill>
                  <a:srgbClr val="888888"/>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1" name="Shape 11"/>
          <p:cNvSpPr txBox="1">
            <a:spLocks noGrp="1"/>
          </p:cNvSpPr>
          <p:nvPr>
            <p:ph type="ftr" idx="11"/>
          </p:nvPr>
        </p:nvSpPr>
        <p:spPr>
          <a:xfrm>
            <a:off x="1666851" y="6492898"/>
            <a:ext cx="6831106" cy="365125"/>
          </a:xfrm>
          <a:prstGeom prst="rect">
            <a:avLst/>
          </a:prstGeom>
          <a:noFill/>
          <a:ln>
            <a:noFill/>
          </a:ln>
        </p:spPr>
        <p:txBody>
          <a:bodyPr wrap="square" lIns="91425" tIns="91425" rIns="91425" bIns="91425" anchor="ctr" anchorCtr="0"/>
          <a:lstStyle>
            <a:lvl1pPr marL="0" marR="0" lvl="0" indent="0" algn="ctr" rtl="0">
              <a:spcBef>
                <a:spcPts val="0"/>
              </a:spcBef>
              <a:buNone/>
              <a:defRPr sz="1200" b="0" i="1" u="none" strike="noStrike" cap="none">
                <a:solidFill>
                  <a:srgbClr val="888888"/>
                </a:solidFill>
                <a:latin typeface="Kozuka Gothic Pro M" panose="020B0700000000000000" pitchFamily="34" charset="-128"/>
                <a:ea typeface="Kozuka Gothic Pro M" panose="020B0700000000000000" pitchFamily="34" charset="-128"/>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pt-PT" dirty="0"/>
          </a:p>
        </p:txBody>
      </p:sp>
      <p:sp>
        <p:nvSpPr>
          <p:cNvPr id="12" name="Shape 12"/>
          <p:cNvSpPr txBox="1">
            <a:spLocks noGrp="1"/>
          </p:cNvSpPr>
          <p:nvPr>
            <p:ph type="sldNum" idx="12"/>
          </p:nvPr>
        </p:nvSpPr>
        <p:spPr>
          <a:xfrm>
            <a:off x="8632453" y="6492875"/>
            <a:ext cx="857255" cy="365125"/>
          </a:xfrm>
          <a:prstGeom prst="rect">
            <a:avLst/>
          </a:prstGeom>
          <a:noFill/>
          <a:ln>
            <a:noFill/>
          </a:ln>
        </p:spPr>
        <p:txBody>
          <a:bodyPr wrap="square" lIns="91425" tIns="45700" rIns="91425" bIns="45700" anchor="ctr" anchorCtr="0">
            <a:noAutofit/>
          </a:bodyPr>
          <a:lstStyle/>
          <a:p>
            <a:pPr marL="0" marR="0" lvl="0" indent="0" algn="r" rtl="0">
              <a:spcBef>
                <a:spcPts val="0"/>
              </a:spcBef>
              <a:buSzPct val="25000"/>
              <a:buNone/>
            </a:pPr>
            <a:fld id="{00000000-1234-1234-1234-123412341234}" type="slidenum">
              <a:rPr lang="pt-PT" sz="1200" b="0" i="0" u="none" strike="noStrike" cap="none">
                <a:solidFill>
                  <a:srgbClr val="888888"/>
                </a:solidFill>
                <a:latin typeface="Arial"/>
                <a:ea typeface="Arial"/>
                <a:cs typeface="Arial"/>
                <a:sym typeface="Arial"/>
              </a:rPr>
              <a:t>‹#›</a:t>
            </a:fld>
            <a:endParaRPr lang="pt-PT" sz="1200" b="0" i="0" u="none" strike="noStrike" cap="none" dirty="0">
              <a:solidFill>
                <a:srgbClr val="888888"/>
              </a:solidFill>
              <a:latin typeface="Arial"/>
              <a:ea typeface="Arial"/>
              <a:cs typeface="Arial"/>
              <a:sym typeface="Arial"/>
            </a:endParaRPr>
          </a:p>
        </p:txBody>
      </p:sp>
      <p:sp>
        <p:nvSpPr>
          <p:cNvPr id="13" name="Shape 13"/>
          <p:cNvSpPr txBox="1">
            <a:spLocks noGrp="1"/>
          </p:cNvSpPr>
          <p:nvPr>
            <p:ph type="title"/>
          </p:nvPr>
        </p:nvSpPr>
        <p:spPr>
          <a:xfrm>
            <a:off x="685800" y="1066800"/>
            <a:ext cx="8771399" cy="571503"/>
          </a:xfrm>
          <a:prstGeom prst="rect">
            <a:avLst/>
          </a:prstGeom>
          <a:noFill/>
          <a:ln>
            <a:noFill/>
          </a:ln>
        </p:spPr>
        <p:txBody>
          <a:bodyPr wrap="square" lIns="91425" tIns="91425" rIns="91425" bIns="91425" anchor="t" anchorCtr="0"/>
          <a:lstStyle>
            <a:lvl1pPr marL="0" marR="0" lvl="0" indent="0" algn="l" rtl="0">
              <a:spcBef>
                <a:spcPts val="0"/>
              </a:spcBef>
              <a:buClr>
                <a:schemeClr val="lt1"/>
              </a:buClr>
              <a:buFont typeface="Calibri"/>
              <a:buNone/>
              <a:defRPr sz="32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pic>
        <p:nvPicPr>
          <p:cNvPr id="15" name="Imagem 14">
            <a:extLst>
              <a:ext uri="{FF2B5EF4-FFF2-40B4-BE49-F238E27FC236}">
                <a16:creationId xmlns:a16="http://schemas.microsoft.com/office/drawing/2014/main" id="{D3441222-7DC4-AAA3-4880-5CB78D81CC04}"/>
              </a:ext>
            </a:extLst>
          </p:cNvPr>
          <p:cNvPicPr>
            <a:picLocks noChangeAspect="1"/>
          </p:cNvPicPr>
          <p:nvPr userDrawn="1"/>
        </p:nvPicPr>
        <p:blipFill>
          <a:blip r:embed="rId18"/>
          <a:stretch>
            <a:fillRect/>
          </a:stretch>
        </p:blipFill>
        <p:spPr>
          <a:xfrm>
            <a:off x="0" y="-10536"/>
            <a:ext cx="9906000" cy="996500"/>
          </a:xfrm>
          <a:prstGeom prst="rect">
            <a:avLst/>
          </a:prstGeom>
        </p:spPr>
      </p:pic>
    </p:spTree>
    <p:extLst>
      <p:ext uri="{BB962C8B-B14F-4D97-AF65-F5344CB8AC3E}">
        <p14:creationId xmlns:p14="http://schemas.microsoft.com/office/powerpoint/2010/main" val="2703164409"/>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52" r:id="rId14"/>
    <p:sldLayoutId id="2147483655" r:id="rId15"/>
    <p:sldLayoutId id="2147483661" r:id="rId16"/>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18/10/relationships/comments" Target="../comments/modernComment_1A0_0.xml"/><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microsoft.com/office/2018/10/relationships/comments" Target="../comments/modernComment_199_E8DB507.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94_F8C0A91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A3_CB3FE93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A4_5CED822B.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A5_E7662A9A.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A6_5BEBB0EA.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196_73C95D5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microsoft.com/office/2018/10/relationships/comments" Target="../comments/modernComment_197_300F0B2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9B_4BDE2BB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A1_736CE85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8/10/relationships/comments" Target="../comments/modernComment_19A_18A78E8B.xml"/><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microsoft.com/office/2018/10/relationships/comments" Target="../comments/modernComment_19C_3254ACBA.xml"/><Relationship Id="rId1" Type="http://schemas.openxmlformats.org/officeDocument/2006/relationships/slideLayout" Target="../slideLayouts/slideLayout4.xml"/><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2" Type="http://schemas.microsoft.com/office/2018/10/relationships/comments" Target="../comments/modernComment_19E_492D5C7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8E_C1BAF42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19D_E1DEDD0F.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95_4E28A34.xm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9F_B6F37B8.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A20BB2CE-AD20-4EB4-9198-1AB0990B2FB7}"/>
              </a:ext>
            </a:extLst>
          </p:cNvPr>
          <p:cNvSpPr>
            <a:spLocks noGrp="1"/>
          </p:cNvSpPr>
          <p:nvPr>
            <p:ph type="title"/>
          </p:nvPr>
        </p:nvSpPr>
        <p:spPr>
          <a:xfrm>
            <a:off x="699002" y="2326395"/>
            <a:ext cx="8505945" cy="571503"/>
          </a:xfrm>
        </p:spPr>
        <p:txBody>
          <a:bodyPr/>
          <a:lstStyle/>
          <a:p>
            <a:pPr algn="ctr"/>
            <a:r>
              <a:rPr lang="pt-PT" sz="3200" b="1" kern="1200" noProof="0" dirty="0">
                <a:solidFill>
                  <a:schemeClr val="tx1"/>
                </a:solidFill>
              </a:rPr>
              <a:t>Logistics On Rails - SPRINT 3</a:t>
            </a:r>
            <a:br>
              <a:rPr lang="pt-PT" sz="3200" kern="1200" noProof="0" dirty="0">
                <a:solidFill>
                  <a:schemeClr val="tx1"/>
                </a:solidFill>
                <a:latin typeface="+mn-lt"/>
                <a:ea typeface="+mn-ea"/>
                <a:cs typeface="+mn-cs"/>
              </a:rPr>
            </a:br>
            <a:br>
              <a:rPr lang="pt-PT" sz="3200" kern="1200" noProof="0" dirty="0">
                <a:solidFill>
                  <a:schemeClr val="tx1"/>
                </a:solidFill>
                <a:latin typeface="+mn-lt"/>
                <a:ea typeface="+mn-ea"/>
                <a:cs typeface="+mn-cs"/>
              </a:rPr>
            </a:br>
            <a:r>
              <a:rPr lang="pt-PT" sz="3200" kern="1200" noProof="0" dirty="0">
                <a:solidFill>
                  <a:schemeClr val="tx1"/>
                </a:solidFill>
                <a:latin typeface="+mn-lt"/>
                <a:ea typeface="+mn-ea"/>
                <a:cs typeface="+mn-cs"/>
              </a:rPr>
              <a:t>G052</a:t>
            </a:r>
            <a:endParaRPr lang="pt-PT" sz="3200" b="1" noProof="0" dirty="0">
              <a:solidFill>
                <a:schemeClr val="tx1"/>
              </a:solidFill>
            </a:endParaRPr>
          </a:p>
        </p:txBody>
      </p:sp>
      <p:sp>
        <p:nvSpPr>
          <p:cNvPr id="4" name="Título 2">
            <a:extLst>
              <a:ext uri="{FF2B5EF4-FFF2-40B4-BE49-F238E27FC236}">
                <a16:creationId xmlns:a16="http://schemas.microsoft.com/office/drawing/2014/main" id="{DB1D8FD1-20D5-4B6F-506E-F430DA26CEBA}"/>
              </a:ext>
            </a:extLst>
          </p:cNvPr>
          <p:cNvSpPr txBox="1">
            <a:spLocks/>
          </p:cNvSpPr>
          <p:nvPr/>
        </p:nvSpPr>
        <p:spPr>
          <a:xfrm>
            <a:off x="857221" y="1536660"/>
            <a:ext cx="8182338" cy="571503"/>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0" i="0" u="none" strike="noStrike" cap="none">
                <a:solidFill>
                  <a:srgbClr val="A5ABB0"/>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pPr algn="ctr"/>
            <a:r>
              <a:rPr lang="pt-PT" sz="3200" kern="0" noProof="0" dirty="0">
                <a:solidFill>
                  <a:schemeClr val="tx1"/>
                </a:solidFill>
                <a:latin typeface="+mn-lt"/>
                <a:ea typeface="+mn-ea"/>
                <a:cs typeface="+mn-cs"/>
              </a:rPr>
              <a:t>LAPR3 2025/2026</a:t>
            </a:r>
            <a:endParaRPr lang="pt-PT" sz="3200" kern="0" noProof="0" dirty="0">
              <a:solidFill>
                <a:schemeClr val="tx1"/>
              </a:solidFill>
            </a:endParaRPr>
          </a:p>
        </p:txBody>
      </p:sp>
      <p:graphicFrame>
        <p:nvGraphicFramePr>
          <p:cNvPr id="5" name="Tabela 4">
            <a:extLst>
              <a:ext uri="{FF2B5EF4-FFF2-40B4-BE49-F238E27FC236}">
                <a16:creationId xmlns:a16="http://schemas.microsoft.com/office/drawing/2014/main" id="{A7A502EE-944E-4A2F-52C8-1234A7F9536C}"/>
              </a:ext>
            </a:extLst>
          </p:cNvPr>
          <p:cNvGraphicFramePr>
            <a:graphicFrameLocks noGrp="1"/>
          </p:cNvGraphicFramePr>
          <p:nvPr/>
        </p:nvGraphicFramePr>
        <p:xfrm>
          <a:off x="339645" y="3944771"/>
          <a:ext cx="9228475" cy="2058843"/>
        </p:xfrm>
        <a:graphic>
          <a:graphicData uri="http://schemas.openxmlformats.org/drawingml/2006/table">
            <a:tbl>
              <a:tblPr firstRow="1" bandRow="1">
                <a:tableStyleId>{93296810-A885-4BE3-A3E7-6D5BEEA58F35}</a:tableStyleId>
              </a:tblPr>
              <a:tblGrid>
                <a:gridCol w="1845695">
                  <a:extLst>
                    <a:ext uri="{9D8B030D-6E8A-4147-A177-3AD203B41FA5}">
                      <a16:colId xmlns:a16="http://schemas.microsoft.com/office/drawing/2014/main" val="1786404924"/>
                    </a:ext>
                  </a:extLst>
                </a:gridCol>
                <a:gridCol w="1845695">
                  <a:extLst>
                    <a:ext uri="{9D8B030D-6E8A-4147-A177-3AD203B41FA5}">
                      <a16:colId xmlns:a16="http://schemas.microsoft.com/office/drawing/2014/main" val="3388003712"/>
                    </a:ext>
                  </a:extLst>
                </a:gridCol>
                <a:gridCol w="1845695">
                  <a:extLst>
                    <a:ext uri="{9D8B030D-6E8A-4147-A177-3AD203B41FA5}">
                      <a16:colId xmlns:a16="http://schemas.microsoft.com/office/drawing/2014/main" val="3217887647"/>
                    </a:ext>
                  </a:extLst>
                </a:gridCol>
                <a:gridCol w="1845695">
                  <a:extLst>
                    <a:ext uri="{9D8B030D-6E8A-4147-A177-3AD203B41FA5}">
                      <a16:colId xmlns:a16="http://schemas.microsoft.com/office/drawing/2014/main" val="2465101990"/>
                    </a:ext>
                  </a:extLst>
                </a:gridCol>
                <a:gridCol w="1845695">
                  <a:extLst>
                    <a:ext uri="{9D8B030D-6E8A-4147-A177-3AD203B41FA5}">
                      <a16:colId xmlns:a16="http://schemas.microsoft.com/office/drawing/2014/main" val="1554615450"/>
                    </a:ext>
                  </a:extLst>
                </a:gridCol>
              </a:tblGrid>
              <a:tr h="652897">
                <a:tc>
                  <a:txBody>
                    <a:bodyPr/>
                    <a:lstStyle/>
                    <a:p>
                      <a:pPr algn="ctr"/>
                      <a:r>
                        <a:rPr lang="pt-PT" noProof="0" dirty="0"/>
                        <a:t>Francisco Vasconcelos</a:t>
                      </a:r>
                    </a:p>
                    <a:p>
                      <a:pPr algn="ctr"/>
                      <a:r>
                        <a:rPr lang="pt-PT" noProof="0" dirty="0"/>
                        <a:t>(1240934)</a:t>
                      </a:r>
                    </a:p>
                  </a:txBody>
                  <a:tcPr/>
                </a:tc>
                <a:tc>
                  <a:txBody>
                    <a:bodyPr/>
                    <a:lstStyle/>
                    <a:p>
                      <a:pPr algn="ctr"/>
                      <a:r>
                        <a:rPr lang="pt-PT" noProof="0" dirty="0"/>
                        <a:t>Gabriel </a:t>
                      </a:r>
                    </a:p>
                    <a:p>
                      <a:pPr algn="ctr"/>
                      <a:r>
                        <a:rPr lang="pt-PT" noProof="0" dirty="0"/>
                        <a:t>Inácio </a:t>
                      </a:r>
                    </a:p>
                    <a:p>
                      <a:pPr algn="ctr"/>
                      <a:r>
                        <a:rPr lang="pt-PT" noProof="0" dirty="0"/>
                        <a:t>(1240935)</a:t>
                      </a:r>
                    </a:p>
                  </a:txBody>
                  <a:tcPr/>
                </a:tc>
                <a:tc>
                  <a:txBody>
                    <a:bodyPr/>
                    <a:lstStyle/>
                    <a:p>
                      <a:pPr algn="ctr"/>
                      <a:r>
                        <a:rPr lang="pt-PT" noProof="0" dirty="0"/>
                        <a:t>Gonçalo </a:t>
                      </a:r>
                    </a:p>
                    <a:p>
                      <a:pPr algn="ctr"/>
                      <a:r>
                        <a:rPr lang="pt-PT" noProof="0" dirty="0"/>
                        <a:t>Azevedo</a:t>
                      </a:r>
                    </a:p>
                    <a:p>
                      <a:pPr algn="ctr"/>
                      <a:r>
                        <a:rPr lang="pt-PT" noProof="0" dirty="0"/>
                        <a:t>(1240936)</a:t>
                      </a:r>
                    </a:p>
                  </a:txBody>
                  <a:tcPr/>
                </a:tc>
                <a:tc>
                  <a:txBody>
                    <a:bodyPr/>
                    <a:lstStyle/>
                    <a:p>
                      <a:pPr algn="ctr"/>
                      <a:r>
                        <a:rPr lang="pt-PT" noProof="0" dirty="0"/>
                        <a:t>Maria</a:t>
                      </a:r>
                    </a:p>
                    <a:p>
                      <a:pPr algn="ctr"/>
                      <a:r>
                        <a:rPr lang="pt-PT" noProof="0" dirty="0"/>
                        <a:t>Pinto</a:t>
                      </a:r>
                    </a:p>
                    <a:p>
                      <a:pPr algn="ctr"/>
                      <a:r>
                        <a:rPr lang="pt-PT" noProof="0" dirty="0"/>
                        <a:t>(1240892)</a:t>
                      </a:r>
                    </a:p>
                  </a:txBody>
                  <a:tcPr/>
                </a:tc>
                <a:tc>
                  <a:txBody>
                    <a:bodyPr/>
                    <a:lstStyle/>
                    <a:p>
                      <a:pPr algn="ctr"/>
                      <a:r>
                        <a:rPr lang="pt-PT" noProof="0" dirty="0"/>
                        <a:t>Paulo </a:t>
                      </a:r>
                    </a:p>
                    <a:p>
                      <a:pPr algn="ctr"/>
                      <a:r>
                        <a:rPr lang="pt-PT" noProof="0" dirty="0"/>
                        <a:t>Ferreira </a:t>
                      </a:r>
                    </a:p>
                    <a:p>
                      <a:pPr algn="ctr"/>
                      <a:r>
                        <a:rPr lang="pt-PT" noProof="0" dirty="0"/>
                        <a:t>(1240941)</a:t>
                      </a:r>
                    </a:p>
                  </a:txBody>
                  <a:tcPr/>
                </a:tc>
                <a:extLst>
                  <a:ext uri="{0D108BD9-81ED-4DB2-BD59-A6C34878D82A}">
                    <a16:rowId xmlns:a16="http://schemas.microsoft.com/office/drawing/2014/main" val="2471333584"/>
                  </a:ext>
                </a:extLst>
              </a:tr>
              <a:tr h="1327323">
                <a:tc>
                  <a:txBody>
                    <a:bodyPr/>
                    <a:lstStyle/>
                    <a:p>
                      <a:pPr algn="ctr"/>
                      <a:endParaRPr lang="pt-PT" noProof="0" dirty="0"/>
                    </a:p>
                    <a:p>
                      <a:pPr algn="ctr"/>
                      <a:endParaRPr lang="pt-PT" noProof="0" dirty="0"/>
                    </a:p>
                  </a:txBody>
                  <a:tcPr>
                    <a:solidFill>
                      <a:schemeClr val="bg1">
                        <a:lumMod val="95000"/>
                      </a:schemeClr>
                    </a:solidFill>
                  </a:tcPr>
                </a:tc>
                <a:tc>
                  <a:txBody>
                    <a:bodyPr/>
                    <a:lstStyle/>
                    <a:p>
                      <a:endParaRPr lang="pt-PT" noProof="0" dirty="0"/>
                    </a:p>
                    <a:p>
                      <a:endParaRPr lang="pt-PT" noProof="0" dirty="0"/>
                    </a:p>
                  </a:txBody>
                  <a:tcPr>
                    <a:solidFill>
                      <a:schemeClr val="bg1">
                        <a:lumMod val="95000"/>
                      </a:schemeClr>
                    </a:solidFill>
                  </a:tcPr>
                </a:tc>
                <a:tc>
                  <a:txBody>
                    <a:bodyPr/>
                    <a:lstStyle/>
                    <a:p>
                      <a:endParaRPr lang="pt-PT" noProof="0" dirty="0"/>
                    </a:p>
                  </a:txBody>
                  <a:tcPr>
                    <a:solidFill>
                      <a:schemeClr val="bg1">
                        <a:lumMod val="95000"/>
                      </a:schemeClr>
                    </a:solidFill>
                  </a:tcPr>
                </a:tc>
                <a:tc>
                  <a:txBody>
                    <a:bodyPr/>
                    <a:lstStyle/>
                    <a:p>
                      <a:endParaRPr lang="pt-PT" noProof="0" dirty="0"/>
                    </a:p>
                  </a:txBody>
                  <a:tcPr>
                    <a:solidFill>
                      <a:schemeClr val="bg1">
                        <a:lumMod val="95000"/>
                      </a:schemeClr>
                    </a:solidFill>
                  </a:tcPr>
                </a:tc>
                <a:tc>
                  <a:txBody>
                    <a:bodyPr/>
                    <a:lstStyle/>
                    <a:p>
                      <a:endParaRPr lang="pt-PT" noProof="0" dirty="0"/>
                    </a:p>
                  </a:txBody>
                  <a:tcPr>
                    <a:solidFill>
                      <a:schemeClr val="bg1">
                        <a:lumMod val="95000"/>
                      </a:schemeClr>
                    </a:solidFill>
                  </a:tcPr>
                </a:tc>
                <a:extLst>
                  <a:ext uri="{0D108BD9-81ED-4DB2-BD59-A6C34878D82A}">
                    <a16:rowId xmlns:a16="http://schemas.microsoft.com/office/drawing/2014/main" val="4095273831"/>
                  </a:ext>
                </a:extLst>
              </a:tr>
            </a:tbl>
          </a:graphicData>
        </a:graphic>
      </p:graphicFrame>
      <p:pic>
        <p:nvPicPr>
          <p:cNvPr id="6" name="Picture 5" descr="A person in a yellow and blue shirt&#10;&#10;AI-generated content may be incorrect.">
            <a:extLst>
              <a:ext uri="{FF2B5EF4-FFF2-40B4-BE49-F238E27FC236}">
                <a16:creationId xmlns:a16="http://schemas.microsoft.com/office/drawing/2014/main" id="{B4E9B60C-0D7C-65CD-62B9-AE09C6C0A83E}"/>
              </a:ext>
            </a:extLst>
          </p:cNvPr>
          <p:cNvPicPr>
            <a:picLocks noChangeAspect="1"/>
          </p:cNvPicPr>
          <p:nvPr/>
        </p:nvPicPr>
        <p:blipFill>
          <a:blip r:embed="rId4"/>
          <a:stretch>
            <a:fillRect/>
          </a:stretch>
        </p:blipFill>
        <p:spPr>
          <a:xfrm>
            <a:off x="2203200" y="4734145"/>
            <a:ext cx="1830710" cy="1722850"/>
          </a:xfrm>
          <a:prstGeom prst="rect">
            <a:avLst/>
          </a:prstGeom>
        </p:spPr>
      </p:pic>
      <p:sp>
        <p:nvSpPr>
          <p:cNvPr id="7" name="AutoShape 2">
            <a:extLst>
              <a:ext uri="{FF2B5EF4-FFF2-40B4-BE49-F238E27FC236}">
                <a16:creationId xmlns:a16="http://schemas.microsoft.com/office/drawing/2014/main" id="{295AB9A7-AE2B-2DAC-AB8A-211F89722B6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PT" noProof="0" dirty="0"/>
          </a:p>
        </p:txBody>
      </p:sp>
      <p:pic>
        <p:nvPicPr>
          <p:cNvPr id="8" name="Picture 7">
            <a:extLst>
              <a:ext uri="{FF2B5EF4-FFF2-40B4-BE49-F238E27FC236}">
                <a16:creationId xmlns:a16="http://schemas.microsoft.com/office/drawing/2014/main" id="{331C3C74-A504-18F2-3987-FE5B68D16C74}"/>
              </a:ext>
            </a:extLst>
          </p:cNvPr>
          <p:cNvPicPr>
            <a:picLocks noChangeAspect="1"/>
          </p:cNvPicPr>
          <p:nvPr/>
        </p:nvPicPr>
        <p:blipFill>
          <a:blip r:embed="rId5"/>
          <a:stretch>
            <a:fillRect/>
          </a:stretch>
        </p:blipFill>
        <p:spPr>
          <a:xfrm>
            <a:off x="4053991" y="4729263"/>
            <a:ext cx="1825522" cy="1722849"/>
          </a:xfrm>
          <a:prstGeom prst="rect">
            <a:avLst/>
          </a:prstGeom>
        </p:spPr>
      </p:pic>
      <p:pic>
        <p:nvPicPr>
          <p:cNvPr id="9" name="Picture 8">
            <a:extLst>
              <a:ext uri="{FF2B5EF4-FFF2-40B4-BE49-F238E27FC236}">
                <a16:creationId xmlns:a16="http://schemas.microsoft.com/office/drawing/2014/main" id="{64F50325-5444-1912-0C6F-569C15B69370}"/>
              </a:ext>
            </a:extLst>
          </p:cNvPr>
          <p:cNvPicPr>
            <a:picLocks noChangeAspect="1"/>
          </p:cNvPicPr>
          <p:nvPr/>
        </p:nvPicPr>
        <p:blipFill>
          <a:blip r:embed="rId6"/>
          <a:stretch>
            <a:fillRect/>
          </a:stretch>
        </p:blipFill>
        <p:spPr>
          <a:xfrm>
            <a:off x="7719569" y="4729263"/>
            <a:ext cx="1857224" cy="1727732"/>
          </a:xfrm>
          <a:prstGeom prst="rect">
            <a:avLst/>
          </a:prstGeom>
        </p:spPr>
      </p:pic>
      <p:pic>
        <p:nvPicPr>
          <p:cNvPr id="11" name="Picture 10">
            <a:extLst>
              <a:ext uri="{FF2B5EF4-FFF2-40B4-BE49-F238E27FC236}">
                <a16:creationId xmlns:a16="http://schemas.microsoft.com/office/drawing/2014/main" id="{264E35A5-F72D-CDB2-234C-640ACE58E471}"/>
              </a:ext>
            </a:extLst>
          </p:cNvPr>
          <p:cNvPicPr>
            <a:picLocks noChangeAspect="1"/>
          </p:cNvPicPr>
          <p:nvPr/>
        </p:nvPicPr>
        <p:blipFill>
          <a:blip r:embed="rId7"/>
          <a:stretch>
            <a:fillRect/>
          </a:stretch>
        </p:blipFill>
        <p:spPr>
          <a:xfrm>
            <a:off x="350540" y="4734145"/>
            <a:ext cx="1833670" cy="1713087"/>
          </a:xfrm>
          <a:prstGeom prst="rect">
            <a:avLst/>
          </a:prstGeom>
        </p:spPr>
      </p:pic>
      <p:pic>
        <p:nvPicPr>
          <p:cNvPr id="12" name="Picture 11">
            <a:extLst>
              <a:ext uri="{FF2B5EF4-FFF2-40B4-BE49-F238E27FC236}">
                <a16:creationId xmlns:a16="http://schemas.microsoft.com/office/drawing/2014/main" id="{725B7F49-5C06-5E66-E757-B26384C67895}"/>
              </a:ext>
            </a:extLst>
          </p:cNvPr>
          <p:cNvPicPr>
            <a:picLocks noChangeAspect="1"/>
          </p:cNvPicPr>
          <p:nvPr/>
        </p:nvPicPr>
        <p:blipFill>
          <a:blip r:embed="rId8"/>
          <a:stretch>
            <a:fillRect/>
          </a:stretch>
        </p:blipFill>
        <p:spPr>
          <a:xfrm>
            <a:off x="5901338" y="4726664"/>
            <a:ext cx="1801461" cy="1727733"/>
          </a:xfrm>
          <a:prstGeom prst="rect">
            <a:avLst/>
          </a:prstGeom>
        </p:spPr>
      </p:pic>
    </p:spTree>
  </p:cSld>
  <p:clrMapOvr>
    <a:masterClrMapping/>
  </p:clrMapOvr>
  <p:transition spd="med">
    <p:fade/>
  </p:transition>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Sprint planning – Sprint 3</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3553224299"/>
              </p:ext>
            </p:extLst>
          </p:nvPr>
        </p:nvGraphicFramePr>
        <p:xfrm>
          <a:off x="947555" y="3023955"/>
          <a:ext cx="7830870" cy="2743197"/>
        </p:xfrm>
        <a:graphic>
          <a:graphicData uri="http://schemas.openxmlformats.org/drawingml/2006/table">
            <a:tbl>
              <a:tblPr firstRow="1" bandRow="1">
                <a:tableStyleId>{912C8C85-51F0-491E-9774-3900AFEF0FD7}</a:tableStyleId>
              </a:tblPr>
              <a:tblGrid>
                <a:gridCol w="4112855">
                  <a:extLst>
                    <a:ext uri="{9D8B030D-6E8A-4147-A177-3AD203B41FA5}">
                      <a16:colId xmlns:a16="http://schemas.microsoft.com/office/drawing/2014/main" val="3798560086"/>
                    </a:ext>
                  </a:extLst>
                </a:gridCol>
                <a:gridCol w="3718015">
                  <a:extLst>
                    <a:ext uri="{9D8B030D-6E8A-4147-A177-3AD203B41FA5}">
                      <a16:colId xmlns:a16="http://schemas.microsoft.com/office/drawing/2014/main" val="477562216"/>
                    </a:ext>
                  </a:extLst>
                </a:gridCol>
              </a:tblGrid>
              <a:tr h="370840">
                <a:tc>
                  <a:txBody>
                    <a:bodyPr/>
                    <a:lstStyle/>
                    <a:p>
                      <a:r>
                        <a:rPr lang="pt-PT" dirty="0"/>
                        <a:t>SPRINT BACKLOG</a:t>
                      </a:r>
                    </a:p>
                  </a:txBody>
                  <a:tcPr/>
                </a:tc>
                <a:tc>
                  <a:txBody>
                    <a:bodyPr/>
                    <a:lstStyle/>
                    <a:p>
                      <a:pPr algn="l"/>
                      <a:endParaRPr lang="pt-PT" dirty="0"/>
                    </a:p>
                  </a:txBody>
                  <a:tcPr/>
                </a:tc>
                <a:extLst>
                  <a:ext uri="{0D108BD9-81ED-4DB2-BD59-A6C34878D82A}">
                    <a16:rowId xmlns:a16="http://schemas.microsoft.com/office/drawing/2014/main" val="3623111211"/>
                  </a:ext>
                </a:extLst>
              </a:tr>
              <a:tr h="370840">
                <a:tc>
                  <a:txBody>
                    <a:bodyPr/>
                    <a:lstStyle/>
                    <a:p>
                      <a:r>
                        <a:rPr lang="en-US" noProof="0" dirty="0"/>
                        <a:t>Number of stories</a:t>
                      </a:r>
                    </a:p>
                  </a:txBody>
                  <a:tcPr/>
                </a:tc>
                <a:tc>
                  <a:txBody>
                    <a:bodyPr/>
                    <a:lstStyle/>
                    <a:p>
                      <a:pPr algn="l"/>
                      <a:r>
                        <a:rPr lang="en-US" noProof="0" dirty="0"/>
                        <a:t>28</a:t>
                      </a:r>
                    </a:p>
                  </a:txBody>
                  <a:tcPr/>
                </a:tc>
                <a:extLst>
                  <a:ext uri="{0D108BD9-81ED-4DB2-BD59-A6C34878D82A}">
                    <a16:rowId xmlns:a16="http://schemas.microsoft.com/office/drawing/2014/main" val="883314903"/>
                  </a:ext>
                </a:extLst>
              </a:tr>
              <a:tr h="370840">
                <a:tc>
                  <a:txBody>
                    <a:bodyPr/>
                    <a:lstStyle/>
                    <a:p>
                      <a:r>
                        <a:rPr lang="en-US" noProof="0" dirty="0"/>
                        <a:t>Number of bugs</a:t>
                      </a:r>
                    </a:p>
                  </a:txBody>
                  <a:tcPr/>
                </a:tc>
                <a:tc>
                  <a:txBody>
                    <a:bodyPr/>
                    <a:lstStyle/>
                    <a:p>
                      <a:pPr algn="l"/>
                      <a:r>
                        <a:rPr lang="en-US" noProof="0" dirty="0"/>
                        <a:t>0</a:t>
                      </a:r>
                    </a:p>
                  </a:txBody>
                  <a:tcPr/>
                </a:tc>
                <a:extLst>
                  <a:ext uri="{0D108BD9-81ED-4DB2-BD59-A6C34878D82A}">
                    <a16:rowId xmlns:a16="http://schemas.microsoft.com/office/drawing/2014/main" val="428254498"/>
                  </a:ext>
                </a:extLst>
              </a:tr>
              <a:tr h="370839">
                <a:tc>
                  <a:txBody>
                    <a:bodyPr/>
                    <a:lstStyle/>
                    <a:p>
                      <a:pPr lvl="0">
                        <a:buNone/>
                      </a:pPr>
                      <a:r>
                        <a:rPr lang="en-US" noProof="0" dirty="0"/>
                        <a:t>Number of tasks</a:t>
                      </a:r>
                    </a:p>
                  </a:txBody>
                  <a:tcPr/>
                </a:tc>
                <a:tc>
                  <a:txBody>
                    <a:bodyPr/>
                    <a:lstStyle/>
                    <a:p>
                      <a:pPr lvl="0" algn="l">
                        <a:buNone/>
                      </a:pPr>
                      <a:r>
                        <a:rPr lang="en-US" noProof="0" dirty="0"/>
                        <a:t>20</a:t>
                      </a:r>
                    </a:p>
                  </a:txBody>
                  <a:tcPr/>
                </a:tc>
                <a:extLst>
                  <a:ext uri="{0D108BD9-81ED-4DB2-BD59-A6C34878D82A}">
                    <a16:rowId xmlns:a16="http://schemas.microsoft.com/office/drawing/2014/main" val="4185709446"/>
                  </a:ext>
                </a:extLst>
              </a:tr>
              <a:tr h="370839">
                <a:tc>
                  <a:txBody>
                    <a:bodyPr/>
                    <a:lstStyle/>
                    <a:p>
                      <a:pPr lvl="0">
                        <a:buNone/>
                      </a:pPr>
                      <a:r>
                        <a:rPr lang="en-US" noProof="0" dirty="0"/>
                        <a:t>Number of Management Tasks (Scrum)</a:t>
                      </a:r>
                    </a:p>
                  </a:txBody>
                  <a:tcPr/>
                </a:tc>
                <a:tc>
                  <a:txBody>
                    <a:bodyPr/>
                    <a:lstStyle/>
                    <a:p>
                      <a:pPr lvl="0" algn="l">
                        <a:buNone/>
                      </a:pPr>
                      <a:r>
                        <a:rPr lang="en-US" noProof="0" dirty="0"/>
                        <a:t>12</a:t>
                      </a:r>
                    </a:p>
                  </a:txBody>
                  <a:tcPr/>
                </a:tc>
                <a:extLst>
                  <a:ext uri="{0D108BD9-81ED-4DB2-BD59-A6C34878D82A}">
                    <a16:rowId xmlns:a16="http://schemas.microsoft.com/office/drawing/2014/main" val="563517871"/>
                  </a:ext>
                </a:extLst>
              </a:tr>
              <a:tr h="370839">
                <a:tc>
                  <a:txBody>
                    <a:bodyPr/>
                    <a:lstStyle/>
                    <a:p>
                      <a:pPr lvl="0">
                        <a:buNone/>
                      </a:pPr>
                      <a:r>
                        <a:rPr lang="en-US" noProof="0" dirty="0"/>
                        <a:t>Number of team members</a:t>
                      </a:r>
                    </a:p>
                  </a:txBody>
                  <a:tcPr/>
                </a:tc>
                <a:tc>
                  <a:txBody>
                    <a:bodyPr/>
                    <a:lstStyle/>
                    <a:p>
                      <a:pPr lvl="0" algn="l">
                        <a:buNone/>
                      </a:pPr>
                      <a:r>
                        <a:rPr lang="en-US" noProof="0" dirty="0"/>
                        <a:t>Planned: 5              Actual:  5</a:t>
                      </a:r>
                    </a:p>
                  </a:txBody>
                  <a:tcPr/>
                </a:tc>
                <a:extLst>
                  <a:ext uri="{0D108BD9-81ED-4DB2-BD59-A6C34878D82A}">
                    <a16:rowId xmlns:a16="http://schemas.microsoft.com/office/drawing/2014/main" val="2843102962"/>
                  </a:ext>
                </a:extLst>
              </a:tr>
              <a:tr h="370838">
                <a:tc>
                  <a:txBody>
                    <a:bodyPr/>
                    <a:lstStyle/>
                    <a:p>
                      <a:pPr lvl="0">
                        <a:buNone/>
                      </a:pPr>
                      <a:r>
                        <a:rPr lang="en-US" noProof="0" dirty="0"/>
                        <a:t>Total planned </a:t>
                      </a:r>
                      <a:r>
                        <a:rPr lang="en-US" b="1" noProof="0" dirty="0"/>
                        <a:t>estimation</a:t>
                      </a:r>
                      <a:r>
                        <a:rPr lang="en-US" noProof="0" dirty="0"/>
                        <a:t> vs execution</a:t>
                      </a:r>
                    </a:p>
                  </a:txBody>
                  <a:tcPr/>
                </a:tc>
                <a:tc>
                  <a:txBody>
                    <a:bodyPr/>
                    <a:lstStyle/>
                    <a:p>
                      <a:pPr marL="0" lvl="0" indent="0" algn="l">
                        <a:buNone/>
                      </a:pPr>
                      <a:r>
                        <a:rPr lang="en-US" noProof="0" dirty="0"/>
                        <a:t>Planned hours: 200</a:t>
                      </a:r>
                    </a:p>
                    <a:p>
                      <a:pPr marL="0" lvl="0" indent="0" algn="l">
                        <a:buNone/>
                      </a:pPr>
                      <a:r>
                        <a:rPr lang="en-US" noProof="0" dirty="0"/>
                        <a:t>Executed hours: 175</a:t>
                      </a:r>
                    </a:p>
                  </a:txBody>
                  <a:tcPr/>
                </a:tc>
                <a:extLst>
                  <a:ext uri="{0D108BD9-81ED-4DB2-BD59-A6C34878D82A}">
                    <a16:rowId xmlns:a16="http://schemas.microsoft.com/office/drawing/2014/main" val="4118989459"/>
                  </a:ext>
                </a:extLst>
              </a:tr>
            </a:tbl>
          </a:graphicData>
        </a:graphic>
      </p:graphicFrame>
      <p:sp>
        <p:nvSpPr>
          <p:cNvPr id="7" name="Marcador de Posição de Conteúdo 5">
            <a:extLst>
              <a:ext uri="{FF2B5EF4-FFF2-40B4-BE49-F238E27FC236}">
                <a16:creationId xmlns:a16="http://schemas.microsoft.com/office/drawing/2014/main" id="{6F8BAF59-30E8-4D49-87D9-D5A1CD648639}"/>
              </a:ext>
            </a:extLst>
          </p:cNvPr>
          <p:cNvSpPr txBox="1">
            <a:spLocks/>
          </p:cNvSpPr>
          <p:nvPr/>
        </p:nvSpPr>
        <p:spPr>
          <a:xfrm>
            <a:off x="448800" y="1626520"/>
            <a:ext cx="9043200" cy="710644"/>
          </a:xfrm>
          <a:prstGeom prst="rect">
            <a:avLst/>
          </a:prstGeom>
        </p:spPr>
        <p:txBody>
          <a:bodyPr lIns="91440" tIns="45720" rIns="91440" bIns="45720" anchor="t"/>
          <a:lstStyle>
            <a:lvl1pPr marL="342900" indent="-342900" algn="l" defTabSz="914400" rtl="0" eaLnBrk="1" latinLnBrk="0" hangingPunct="1">
              <a:spcBef>
                <a:spcPts val="0"/>
              </a:spcBef>
              <a:spcAft>
                <a:spcPts val="400"/>
              </a:spcAft>
              <a:buFont typeface="Arial" pitchFamily="34" charset="0"/>
              <a:buChar char="•"/>
              <a:defRPr sz="2000" kern="1200">
                <a:solidFill>
                  <a:schemeClr val="bg1">
                    <a:lumMod val="85000"/>
                  </a:schemeClr>
                </a:solidFill>
                <a:latin typeface="Calibri"/>
                <a:ea typeface="+mn-ea"/>
                <a:cs typeface="Calibri"/>
              </a:defRPr>
            </a:lvl1pPr>
            <a:lvl2pPr marL="742950" indent="-285750" algn="l" defTabSz="914400" rtl="0" eaLnBrk="1" latinLnBrk="0" hangingPunct="1">
              <a:spcBef>
                <a:spcPts val="0"/>
              </a:spcBef>
              <a:spcAft>
                <a:spcPts val="400"/>
              </a:spcAft>
              <a:buFont typeface="Arial" pitchFamily="34" charset="0"/>
              <a:buChar char="–"/>
              <a:defRPr sz="1800" kern="1200">
                <a:solidFill>
                  <a:schemeClr val="bg1">
                    <a:lumMod val="85000"/>
                  </a:schemeClr>
                </a:solidFill>
                <a:latin typeface="Calibri"/>
                <a:ea typeface="+mn-ea"/>
                <a:cs typeface="Calibri"/>
              </a:defRPr>
            </a:lvl2pPr>
            <a:lvl3pPr marL="1143000" indent="-228600" algn="l" defTabSz="914400" rtl="0" eaLnBrk="1" latinLnBrk="0" hangingPunct="1">
              <a:spcBef>
                <a:spcPts val="0"/>
              </a:spcBef>
              <a:spcAft>
                <a:spcPts val="400"/>
              </a:spcAft>
              <a:buFont typeface="Arial" pitchFamily="34" charset="0"/>
              <a:buNone/>
              <a:defRPr sz="1600" kern="1200">
                <a:solidFill>
                  <a:schemeClr val="bg1">
                    <a:lumMod val="85000"/>
                  </a:schemeClr>
                </a:solidFill>
                <a:latin typeface="Calibri"/>
                <a:ea typeface="+mn-ea"/>
                <a:cs typeface="Calibri"/>
              </a:defRPr>
            </a:lvl3pPr>
            <a:lvl4pPr marL="1600200" indent="-228600" algn="l" defTabSz="914400" rtl="0" eaLnBrk="1" latinLnBrk="0" hangingPunct="1">
              <a:spcBef>
                <a:spcPts val="0"/>
              </a:spcBef>
              <a:spcAft>
                <a:spcPts val="400"/>
              </a:spcAft>
              <a:buFont typeface="Arial" pitchFamily="34" charset="0"/>
              <a:buChar char="–"/>
              <a:defRPr sz="1400" kern="1200">
                <a:solidFill>
                  <a:schemeClr val="bg1">
                    <a:lumMod val="85000"/>
                  </a:schemeClr>
                </a:solidFill>
                <a:latin typeface="Calibri"/>
                <a:ea typeface="+mn-ea"/>
                <a:cs typeface="Calibri"/>
              </a:defRPr>
            </a:lvl4pPr>
            <a:lvl5pPr marL="2057400" indent="-228600" algn="l" defTabSz="914400" rtl="0" eaLnBrk="1" latinLnBrk="0" hangingPunct="1">
              <a:spcBef>
                <a:spcPts val="0"/>
              </a:spcBef>
              <a:spcAft>
                <a:spcPts val="400"/>
              </a:spcAft>
              <a:buFont typeface="Arial" pitchFamily="34" charset="0"/>
              <a:buChar char="»"/>
              <a:defRPr sz="1200" kern="1200">
                <a:solidFill>
                  <a:schemeClr val="bg1">
                    <a:lumMod val="85000"/>
                  </a:schemeClr>
                </a:solidFill>
                <a:latin typeface="Calibri"/>
                <a:ea typeface="+mn-ea"/>
                <a:cs typeface="Calibri"/>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dirty="0">
                <a:solidFill>
                  <a:schemeClr val="tx1"/>
                </a:solidFill>
              </a:rPr>
              <a:t>Planned Start Date: 24</a:t>
            </a:r>
            <a:r>
              <a:rPr lang="en-US" sz="1800" baseline="30000" dirty="0">
                <a:solidFill>
                  <a:schemeClr val="tx1"/>
                </a:solidFill>
              </a:rPr>
              <a:t>th</a:t>
            </a:r>
            <a:r>
              <a:rPr lang="en-US" sz="1800" dirty="0">
                <a:solidFill>
                  <a:schemeClr val="tx1"/>
                </a:solidFill>
              </a:rPr>
              <a:t>  November                    Real Start Date: 8</a:t>
            </a:r>
            <a:r>
              <a:rPr lang="en-US" sz="1800" baseline="30000" dirty="0">
                <a:solidFill>
                  <a:schemeClr val="tx1"/>
                </a:solidFill>
              </a:rPr>
              <a:t>th</a:t>
            </a:r>
            <a:r>
              <a:rPr lang="en-US" sz="1800" dirty="0">
                <a:solidFill>
                  <a:schemeClr val="tx1"/>
                </a:solidFill>
              </a:rPr>
              <a:t> November </a:t>
            </a:r>
          </a:p>
          <a:p>
            <a:pPr marL="0" indent="0">
              <a:buNone/>
            </a:pPr>
            <a:r>
              <a:rPr lang="en-US" sz="1800" dirty="0">
                <a:solidFill>
                  <a:schemeClr val="tx1"/>
                </a:solidFill>
              </a:rPr>
              <a:t>Planned End Date: 4</a:t>
            </a:r>
            <a:r>
              <a:rPr lang="en-US" sz="1800" baseline="30000" dirty="0">
                <a:solidFill>
                  <a:schemeClr val="tx1"/>
                </a:solidFill>
              </a:rPr>
              <a:t>th</a:t>
            </a:r>
            <a:r>
              <a:rPr lang="en-US" sz="1800" dirty="0">
                <a:solidFill>
                  <a:schemeClr val="tx1"/>
                </a:solidFill>
              </a:rPr>
              <a:t> January                              Real End Date: 4</a:t>
            </a:r>
            <a:r>
              <a:rPr lang="en-US" sz="1800" baseline="30000" dirty="0">
                <a:solidFill>
                  <a:schemeClr val="tx1"/>
                </a:solidFill>
              </a:rPr>
              <a:t>th</a:t>
            </a:r>
            <a:r>
              <a:rPr lang="en-US" sz="1800" dirty="0">
                <a:solidFill>
                  <a:schemeClr val="tx1"/>
                </a:solidFill>
              </a:rPr>
              <a:t> January</a:t>
            </a:r>
          </a:p>
          <a:p>
            <a:pPr marL="0" indent="0">
              <a:buFont typeface="Arial" pitchFamily="34" charset="0"/>
              <a:buNone/>
            </a:pPr>
            <a:endParaRPr lang="en-US" dirty="0">
              <a:solidFill>
                <a:schemeClr val="tx1"/>
              </a:solidFill>
            </a:endParaRPr>
          </a:p>
        </p:txBody>
      </p:sp>
    </p:spTree>
    <p:extLst>
      <p:ext uri="{BB962C8B-B14F-4D97-AF65-F5344CB8AC3E}">
        <p14:creationId xmlns:p14="http://schemas.microsoft.com/office/powerpoint/2010/main" val="244167943"/>
      </p:ext>
    </p:extLst>
  </p:cSld>
  <p:clrMapOvr>
    <a:masterClrMapping/>
  </p:clrMapOvr>
  <p:transition spd="med">
    <p:fade/>
  </p:transition>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a:xfrm>
            <a:off x="413999" y="998730"/>
            <a:ext cx="9219520" cy="571504"/>
          </a:xfrm>
        </p:spPr>
        <p:txBody>
          <a:bodyPr/>
          <a:lstStyle/>
          <a:p>
            <a:r>
              <a:rPr lang="en-US" sz="3200" cap="none" dirty="0">
                <a:solidFill>
                  <a:schemeClr val="tx1"/>
                </a:solidFill>
              </a:rPr>
              <a:t>Sprint 3 planning</a:t>
            </a:r>
          </a:p>
        </p:txBody>
      </p:sp>
      <p:graphicFrame>
        <p:nvGraphicFramePr>
          <p:cNvPr id="2" name="Tabela 2">
            <a:extLst>
              <a:ext uri="{FF2B5EF4-FFF2-40B4-BE49-F238E27FC236}">
                <a16:creationId xmlns:a16="http://schemas.microsoft.com/office/drawing/2014/main" id="{CE9589D4-96FD-42EC-88BF-AABA0DB75B49}"/>
              </a:ext>
            </a:extLst>
          </p:cNvPr>
          <p:cNvGraphicFramePr>
            <a:graphicFrameLocks noGrp="1"/>
          </p:cNvGraphicFramePr>
          <p:nvPr>
            <p:extLst>
              <p:ext uri="{D42A27DB-BD31-4B8C-83A1-F6EECF244321}">
                <p14:modId xmlns:p14="http://schemas.microsoft.com/office/powerpoint/2010/main" val="902227877"/>
              </p:ext>
            </p:extLst>
          </p:nvPr>
        </p:nvGraphicFramePr>
        <p:xfrm>
          <a:off x="519558" y="2059941"/>
          <a:ext cx="9008401" cy="2738117"/>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Assigned User Stories </a:t>
                      </a:r>
                      <a:r>
                        <a:rPr lang="en-US"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err="1"/>
                        <a:t>Commited</a:t>
                      </a:r>
                      <a:r>
                        <a:rPr lang="en-US" noProof="0" dirty="0"/>
                        <a:t>?</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USEI11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USEI12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lvl="0">
                        <a:buNone/>
                      </a:pPr>
                      <a:r>
                        <a:rPr lang="pt-PT" dirty="0"/>
                        <a:t>USEI13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lvl="0">
                        <a:buNone/>
                      </a:pPr>
                      <a:r>
                        <a:rPr lang="pt-PT" dirty="0"/>
                        <a:t>USEI14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USEI15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bl>
          </a:graphicData>
        </a:graphic>
      </p:graphicFrame>
    </p:spTree>
    <p:extLst>
      <p:ext uri="{BB962C8B-B14F-4D97-AF65-F5344CB8AC3E}">
        <p14:creationId xmlns:p14="http://schemas.microsoft.com/office/powerpoint/2010/main" val="4173375763"/>
      </p:ext>
    </p:extLst>
  </p:cSld>
  <p:clrMapOvr>
    <a:masterClrMapping/>
  </p:clrMapOvr>
  <p:transition spd="med">
    <p:fade/>
  </p:transition>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AFED9-3018-7A12-434B-7CDEDF2556D0}"/>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84EEE82D-EE41-88C4-E694-C97DEC31C1CA}"/>
              </a:ext>
            </a:extLst>
          </p:cNvPr>
          <p:cNvSpPr>
            <a:spLocks noGrp="1"/>
          </p:cNvSpPr>
          <p:nvPr>
            <p:ph type="title"/>
          </p:nvPr>
        </p:nvSpPr>
        <p:spPr>
          <a:xfrm>
            <a:off x="414000" y="1000108"/>
            <a:ext cx="9219520" cy="571504"/>
          </a:xfrm>
        </p:spPr>
        <p:txBody>
          <a:bodyPr/>
          <a:lstStyle/>
          <a:p>
            <a:r>
              <a:rPr lang="pt-PT" sz="3200" cap="none" noProof="0" dirty="0">
                <a:solidFill>
                  <a:schemeClr val="tx1"/>
                </a:solidFill>
              </a:rPr>
              <a:t>Sprint 3 planning</a:t>
            </a:r>
          </a:p>
        </p:txBody>
      </p:sp>
      <p:graphicFrame>
        <p:nvGraphicFramePr>
          <p:cNvPr id="2" name="Tabela 2">
            <a:extLst>
              <a:ext uri="{FF2B5EF4-FFF2-40B4-BE49-F238E27FC236}">
                <a16:creationId xmlns:a16="http://schemas.microsoft.com/office/drawing/2014/main" id="{DCBC1F3E-8FA5-6194-6D9F-A3A129363659}"/>
              </a:ext>
            </a:extLst>
          </p:cNvPr>
          <p:cNvGraphicFramePr>
            <a:graphicFrameLocks noGrp="1"/>
          </p:cNvGraphicFramePr>
          <p:nvPr>
            <p:extLst>
              <p:ext uri="{D42A27DB-BD31-4B8C-83A1-F6EECF244321}">
                <p14:modId xmlns:p14="http://schemas.microsoft.com/office/powerpoint/2010/main" val="3018270881"/>
              </p:ext>
            </p:extLst>
          </p:nvPr>
        </p:nvGraphicFramePr>
        <p:xfrm>
          <a:off x="414000" y="1763815"/>
          <a:ext cx="9043200" cy="4078082"/>
        </p:xfrm>
        <a:graphic>
          <a:graphicData uri="http://schemas.openxmlformats.org/drawingml/2006/table">
            <a:tbl>
              <a:tblPr firstRow="1" bandRow="1">
                <a:tableStyleId>{912C8C85-51F0-491E-9774-3900AFEF0FD7}</a:tableStyleId>
              </a:tblPr>
              <a:tblGrid>
                <a:gridCol w="1534130">
                  <a:extLst>
                    <a:ext uri="{9D8B030D-6E8A-4147-A177-3AD203B41FA5}">
                      <a16:colId xmlns:a16="http://schemas.microsoft.com/office/drawing/2014/main" val="3798560086"/>
                    </a:ext>
                  </a:extLst>
                </a:gridCol>
                <a:gridCol w="1543712">
                  <a:extLst>
                    <a:ext uri="{9D8B030D-6E8A-4147-A177-3AD203B41FA5}">
                      <a16:colId xmlns:a16="http://schemas.microsoft.com/office/drawing/2014/main" val="477562216"/>
                    </a:ext>
                  </a:extLst>
                </a:gridCol>
                <a:gridCol w="800321">
                  <a:extLst>
                    <a:ext uri="{9D8B030D-6E8A-4147-A177-3AD203B41FA5}">
                      <a16:colId xmlns:a16="http://schemas.microsoft.com/office/drawing/2014/main" val="1777303491"/>
                    </a:ext>
                  </a:extLst>
                </a:gridCol>
                <a:gridCol w="1205531">
                  <a:extLst>
                    <a:ext uri="{9D8B030D-6E8A-4147-A177-3AD203B41FA5}">
                      <a16:colId xmlns:a16="http://schemas.microsoft.com/office/drawing/2014/main" val="2634392098"/>
                    </a:ext>
                  </a:extLst>
                </a:gridCol>
                <a:gridCol w="1418274">
                  <a:extLst>
                    <a:ext uri="{9D8B030D-6E8A-4147-A177-3AD203B41FA5}">
                      <a16:colId xmlns:a16="http://schemas.microsoft.com/office/drawing/2014/main" val="4052991344"/>
                    </a:ext>
                  </a:extLst>
                </a:gridCol>
                <a:gridCol w="1270616">
                  <a:extLst>
                    <a:ext uri="{9D8B030D-6E8A-4147-A177-3AD203B41FA5}">
                      <a16:colId xmlns:a16="http://schemas.microsoft.com/office/drawing/2014/main" val="3578044204"/>
                    </a:ext>
                  </a:extLst>
                </a:gridCol>
                <a:gridCol w="1270616">
                  <a:extLst>
                    <a:ext uri="{9D8B030D-6E8A-4147-A177-3AD203B41FA5}">
                      <a16:colId xmlns:a16="http://schemas.microsoft.com/office/drawing/2014/main" val="3147570245"/>
                    </a:ext>
                  </a:extLst>
                </a:gridCol>
              </a:tblGrid>
              <a:tr h="370840">
                <a:tc>
                  <a:txBody>
                    <a:bodyPr/>
                    <a:lstStyle/>
                    <a:p>
                      <a:r>
                        <a:rPr lang="pt-PT" noProof="0" dirty="0"/>
                        <a:t>Assigned User Stories </a:t>
                      </a:r>
                      <a:r>
                        <a:rPr lang="pt-PT"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Commited?</a:t>
                      </a:r>
                    </a:p>
                    <a:p>
                      <a:pPr algn="ctr"/>
                      <a:r>
                        <a:rPr lang="pt-PT"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noProof="0" dirty="0"/>
                        <a:t>USBD31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USBD32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r>
                        <a:rPr lang="pt-PT" noProof="0" dirty="0"/>
                        <a:t>USBD33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415410">
                <a:tc>
                  <a:txBody>
                    <a:bodyPr/>
                    <a:lstStyle/>
                    <a:p>
                      <a:r>
                        <a:rPr lang="pt-PT" noProof="0" dirty="0"/>
                        <a:t>USBD34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USBD35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USBD36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USBD37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75722"/>
                  </a:ext>
                </a:extLst>
              </a:tr>
              <a:tr h="3708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USBD39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2595146"/>
                  </a:ext>
                </a:extLst>
              </a:tr>
            </a:tbl>
          </a:graphicData>
        </a:graphic>
      </p:graphicFrame>
    </p:spTree>
    <p:extLst>
      <p:ext uri="{BB962C8B-B14F-4D97-AF65-F5344CB8AC3E}">
        <p14:creationId xmlns:p14="http://schemas.microsoft.com/office/powerpoint/2010/main" val="3409963313"/>
      </p:ext>
    </p:extLst>
  </p:cSld>
  <p:clrMapOvr>
    <a:masterClrMapping/>
  </p:clrMapOvr>
  <p:transition spd="med">
    <p:fade/>
  </p:transition>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2A142-AF85-CFDB-6D3E-6021D99A4A1E}"/>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85635690-3FB4-F088-FBC6-9690D24433F9}"/>
              </a:ext>
            </a:extLst>
          </p:cNvPr>
          <p:cNvSpPr>
            <a:spLocks noGrp="1"/>
          </p:cNvSpPr>
          <p:nvPr>
            <p:ph type="title"/>
          </p:nvPr>
        </p:nvSpPr>
        <p:spPr>
          <a:xfrm>
            <a:off x="444059" y="998730"/>
            <a:ext cx="9219520" cy="571504"/>
          </a:xfrm>
        </p:spPr>
        <p:txBody>
          <a:bodyPr/>
          <a:lstStyle/>
          <a:p>
            <a:r>
              <a:rPr lang="en-US" sz="3200" cap="none" dirty="0">
                <a:solidFill>
                  <a:schemeClr val="tx1"/>
                </a:solidFill>
              </a:rPr>
              <a:t>Sprint 3 planning</a:t>
            </a:r>
          </a:p>
        </p:txBody>
      </p:sp>
      <p:graphicFrame>
        <p:nvGraphicFramePr>
          <p:cNvPr id="2" name="Tabela 2">
            <a:extLst>
              <a:ext uri="{FF2B5EF4-FFF2-40B4-BE49-F238E27FC236}">
                <a16:creationId xmlns:a16="http://schemas.microsoft.com/office/drawing/2014/main" id="{3FDF1487-3963-102E-CA76-B52A99F9FFBD}"/>
              </a:ext>
            </a:extLst>
          </p:cNvPr>
          <p:cNvGraphicFramePr>
            <a:graphicFrameLocks noGrp="1"/>
          </p:cNvGraphicFramePr>
          <p:nvPr>
            <p:extLst>
              <p:ext uri="{D42A27DB-BD31-4B8C-83A1-F6EECF244321}">
                <p14:modId xmlns:p14="http://schemas.microsoft.com/office/powerpoint/2010/main" val="1518782784"/>
              </p:ext>
            </p:extLst>
          </p:nvPr>
        </p:nvGraphicFramePr>
        <p:xfrm>
          <a:off x="448799" y="2059941"/>
          <a:ext cx="9008401" cy="2738117"/>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Assigned User Stories </a:t>
                      </a:r>
                      <a:r>
                        <a:rPr lang="en-US"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err="1"/>
                        <a:t>Commited</a:t>
                      </a:r>
                      <a:r>
                        <a:rPr lang="en-US" noProof="0" dirty="0"/>
                        <a:t>?</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USBD41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USBD42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USBD43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USBD44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USBD45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bl>
          </a:graphicData>
        </a:graphic>
      </p:graphicFrame>
    </p:spTree>
    <p:extLst>
      <p:ext uri="{BB962C8B-B14F-4D97-AF65-F5344CB8AC3E}">
        <p14:creationId xmlns:p14="http://schemas.microsoft.com/office/powerpoint/2010/main" val="1559069227"/>
      </p:ext>
    </p:extLst>
  </p:cSld>
  <p:clrMapOvr>
    <a:masterClrMapping/>
  </p:clrMapOvr>
  <p:transition spd="med">
    <p:fade/>
  </p:transition>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045A1-869F-379C-B828-59ACAB3A571F}"/>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2833FF86-6049-1515-29EA-19EBC2564F82}"/>
              </a:ext>
            </a:extLst>
          </p:cNvPr>
          <p:cNvSpPr>
            <a:spLocks noGrp="1"/>
          </p:cNvSpPr>
          <p:nvPr>
            <p:ph type="title"/>
          </p:nvPr>
        </p:nvSpPr>
        <p:spPr>
          <a:xfrm>
            <a:off x="414000" y="1000108"/>
            <a:ext cx="9219520" cy="571504"/>
          </a:xfrm>
        </p:spPr>
        <p:txBody>
          <a:bodyPr/>
          <a:lstStyle/>
          <a:p>
            <a:r>
              <a:rPr lang="pt-PT" sz="3200" cap="none" noProof="0" dirty="0">
                <a:solidFill>
                  <a:schemeClr val="tx1"/>
                </a:solidFill>
              </a:rPr>
              <a:t>Sprint 3 planning</a:t>
            </a:r>
          </a:p>
        </p:txBody>
      </p:sp>
      <p:graphicFrame>
        <p:nvGraphicFramePr>
          <p:cNvPr id="2" name="Tabela 2">
            <a:extLst>
              <a:ext uri="{FF2B5EF4-FFF2-40B4-BE49-F238E27FC236}">
                <a16:creationId xmlns:a16="http://schemas.microsoft.com/office/drawing/2014/main" id="{938C3B3F-E43A-94FF-3D81-42EF194640A5}"/>
              </a:ext>
            </a:extLst>
          </p:cNvPr>
          <p:cNvGraphicFramePr>
            <a:graphicFrameLocks noGrp="1"/>
          </p:cNvGraphicFramePr>
          <p:nvPr>
            <p:extLst>
              <p:ext uri="{D42A27DB-BD31-4B8C-83A1-F6EECF244321}">
                <p14:modId xmlns:p14="http://schemas.microsoft.com/office/powerpoint/2010/main" val="2986043535"/>
              </p:ext>
            </p:extLst>
          </p:nvPr>
        </p:nvGraphicFramePr>
        <p:xfrm>
          <a:off x="431400" y="1898830"/>
          <a:ext cx="9043200" cy="3707244"/>
        </p:xfrm>
        <a:graphic>
          <a:graphicData uri="http://schemas.openxmlformats.org/drawingml/2006/table">
            <a:tbl>
              <a:tblPr firstRow="1" bandRow="1">
                <a:tableStyleId>{912C8C85-51F0-491E-9774-3900AFEF0FD7}</a:tableStyleId>
              </a:tblPr>
              <a:tblGrid>
                <a:gridCol w="1534130">
                  <a:extLst>
                    <a:ext uri="{9D8B030D-6E8A-4147-A177-3AD203B41FA5}">
                      <a16:colId xmlns:a16="http://schemas.microsoft.com/office/drawing/2014/main" val="3798560086"/>
                    </a:ext>
                  </a:extLst>
                </a:gridCol>
                <a:gridCol w="1543712">
                  <a:extLst>
                    <a:ext uri="{9D8B030D-6E8A-4147-A177-3AD203B41FA5}">
                      <a16:colId xmlns:a16="http://schemas.microsoft.com/office/drawing/2014/main" val="477562216"/>
                    </a:ext>
                  </a:extLst>
                </a:gridCol>
                <a:gridCol w="800321">
                  <a:extLst>
                    <a:ext uri="{9D8B030D-6E8A-4147-A177-3AD203B41FA5}">
                      <a16:colId xmlns:a16="http://schemas.microsoft.com/office/drawing/2014/main" val="1777303491"/>
                    </a:ext>
                  </a:extLst>
                </a:gridCol>
                <a:gridCol w="1205531">
                  <a:extLst>
                    <a:ext uri="{9D8B030D-6E8A-4147-A177-3AD203B41FA5}">
                      <a16:colId xmlns:a16="http://schemas.microsoft.com/office/drawing/2014/main" val="2634392098"/>
                    </a:ext>
                  </a:extLst>
                </a:gridCol>
                <a:gridCol w="1418274">
                  <a:extLst>
                    <a:ext uri="{9D8B030D-6E8A-4147-A177-3AD203B41FA5}">
                      <a16:colId xmlns:a16="http://schemas.microsoft.com/office/drawing/2014/main" val="4052991344"/>
                    </a:ext>
                  </a:extLst>
                </a:gridCol>
                <a:gridCol w="1270616">
                  <a:extLst>
                    <a:ext uri="{9D8B030D-6E8A-4147-A177-3AD203B41FA5}">
                      <a16:colId xmlns:a16="http://schemas.microsoft.com/office/drawing/2014/main" val="3578044204"/>
                    </a:ext>
                  </a:extLst>
                </a:gridCol>
                <a:gridCol w="1270616">
                  <a:extLst>
                    <a:ext uri="{9D8B030D-6E8A-4147-A177-3AD203B41FA5}">
                      <a16:colId xmlns:a16="http://schemas.microsoft.com/office/drawing/2014/main" val="3147570245"/>
                    </a:ext>
                  </a:extLst>
                </a:gridCol>
              </a:tblGrid>
              <a:tr h="370840">
                <a:tc>
                  <a:txBody>
                    <a:bodyPr/>
                    <a:lstStyle/>
                    <a:p>
                      <a:r>
                        <a:rPr lang="pt-PT" noProof="0" dirty="0"/>
                        <a:t>Assigned User Stories </a:t>
                      </a:r>
                      <a:r>
                        <a:rPr lang="pt-PT"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Commited?</a:t>
                      </a:r>
                    </a:p>
                    <a:p>
                      <a:pPr algn="ctr"/>
                      <a:r>
                        <a:rPr lang="pt-PT"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noProof="0" dirty="0"/>
                        <a:t>USAC10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USAC11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r>
                        <a:rPr lang="pt-PT" noProof="0" dirty="0"/>
                        <a:t>USAC12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r h="415410">
                <a:tc>
                  <a:txBody>
                    <a:bodyPr/>
                    <a:lstStyle/>
                    <a:p>
                      <a:r>
                        <a:rPr lang="pt-PT" noProof="0" dirty="0"/>
                        <a:t>USAC13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USAC14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102962"/>
                  </a:ext>
                </a:extLst>
              </a:tr>
              <a:tr h="3708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USAC15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8989459"/>
                  </a:ext>
                </a:extLst>
              </a:tr>
              <a:tr h="3708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noProof="0" dirty="0"/>
                        <a:t>USAC16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endParaRPr lang="pt-PT"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75722"/>
                  </a:ext>
                </a:extLst>
              </a:tr>
            </a:tbl>
          </a:graphicData>
        </a:graphic>
      </p:graphicFrame>
    </p:spTree>
    <p:extLst>
      <p:ext uri="{BB962C8B-B14F-4D97-AF65-F5344CB8AC3E}">
        <p14:creationId xmlns:p14="http://schemas.microsoft.com/office/powerpoint/2010/main" val="3882232474"/>
      </p:ext>
    </p:extLst>
  </p:cSld>
  <p:clrMapOvr>
    <a:masterClrMapping/>
  </p:clrMapOvr>
  <p:transition spd="med">
    <p:fade/>
  </p:transition>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209C-7FDE-B1B4-BD8F-17AC37E89C7E}"/>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2F70959F-5A66-30C5-D370-86E804371CA1}"/>
              </a:ext>
            </a:extLst>
          </p:cNvPr>
          <p:cNvSpPr>
            <a:spLocks noGrp="1"/>
          </p:cNvSpPr>
          <p:nvPr>
            <p:ph type="title"/>
          </p:nvPr>
        </p:nvSpPr>
        <p:spPr>
          <a:xfrm>
            <a:off x="413999" y="967286"/>
            <a:ext cx="9219520" cy="571504"/>
          </a:xfrm>
        </p:spPr>
        <p:txBody>
          <a:bodyPr/>
          <a:lstStyle/>
          <a:p>
            <a:r>
              <a:rPr lang="en-US" sz="3200" cap="none" dirty="0">
                <a:solidFill>
                  <a:schemeClr val="tx1"/>
                </a:solidFill>
              </a:rPr>
              <a:t>Sprint 3 planning</a:t>
            </a:r>
          </a:p>
        </p:txBody>
      </p:sp>
      <p:graphicFrame>
        <p:nvGraphicFramePr>
          <p:cNvPr id="2" name="Tabela 2">
            <a:extLst>
              <a:ext uri="{FF2B5EF4-FFF2-40B4-BE49-F238E27FC236}">
                <a16:creationId xmlns:a16="http://schemas.microsoft.com/office/drawing/2014/main" id="{6E02B9C2-1FB1-1169-F63B-5AAD881773B4}"/>
              </a:ext>
            </a:extLst>
          </p:cNvPr>
          <p:cNvGraphicFramePr>
            <a:graphicFrameLocks noGrp="1"/>
          </p:cNvGraphicFramePr>
          <p:nvPr>
            <p:extLst>
              <p:ext uri="{D42A27DB-BD31-4B8C-83A1-F6EECF244321}">
                <p14:modId xmlns:p14="http://schemas.microsoft.com/office/powerpoint/2010/main" val="2675343454"/>
              </p:ext>
            </p:extLst>
          </p:nvPr>
        </p:nvGraphicFramePr>
        <p:xfrm>
          <a:off x="448799" y="2430780"/>
          <a:ext cx="9008401" cy="1996439"/>
        </p:xfrm>
        <a:graphic>
          <a:graphicData uri="http://schemas.openxmlformats.org/drawingml/2006/table">
            <a:tbl>
              <a:tblPr firstRow="1" bandRow="1">
                <a:tableStyleId>{912C8C85-51F0-491E-9774-3900AFEF0FD7}</a:tableStyleId>
              </a:tblPr>
              <a:tblGrid>
                <a:gridCol w="1568670">
                  <a:extLst>
                    <a:ext uri="{9D8B030D-6E8A-4147-A177-3AD203B41FA5}">
                      <a16:colId xmlns:a16="http://schemas.microsoft.com/office/drawing/2014/main" val="3798560086"/>
                    </a:ext>
                  </a:extLst>
                </a:gridCol>
                <a:gridCol w="1529457">
                  <a:extLst>
                    <a:ext uri="{9D8B030D-6E8A-4147-A177-3AD203B41FA5}">
                      <a16:colId xmlns:a16="http://schemas.microsoft.com/office/drawing/2014/main" val="477562216"/>
                    </a:ext>
                  </a:extLst>
                </a:gridCol>
                <a:gridCol w="792931">
                  <a:extLst>
                    <a:ext uri="{9D8B030D-6E8A-4147-A177-3AD203B41FA5}">
                      <a16:colId xmlns:a16="http://schemas.microsoft.com/office/drawing/2014/main" val="1777303491"/>
                    </a:ext>
                  </a:extLst>
                </a:gridCol>
                <a:gridCol w="1194399">
                  <a:extLst>
                    <a:ext uri="{9D8B030D-6E8A-4147-A177-3AD203B41FA5}">
                      <a16:colId xmlns:a16="http://schemas.microsoft.com/office/drawing/2014/main" val="2634392098"/>
                    </a:ext>
                  </a:extLst>
                </a:gridCol>
                <a:gridCol w="1405178">
                  <a:extLst>
                    <a:ext uri="{9D8B030D-6E8A-4147-A177-3AD203B41FA5}">
                      <a16:colId xmlns:a16="http://schemas.microsoft.com/office/drawing/2014/main" val="4052991344"/>
                    </a:ext>
                  </a:extLst>
                </a:gridCol>
                <a:gridCol w="1258883">
                  <a:extLst>
                    <a:ext uri="{9D8B030D-6E8A-4147-A177-3AD203B41FA5}">
                      <a16:colId xmlns:a16="http://schemas.microsoft.com/office/drawing/2014/main" val="3578044204"/>
                    </a:ext>
                  </a:extLst>
                </a:gridCol>
                <a:gridCol w="1258883">
                  <a:extLst>
                    <a:ext uri="{9D8B030D-6E8A-4147-A177-3AD203B41FA5}">
                      <a16:colId xmlns:a16="http://schemas.microsoft.com/office/drawing/2014/main" val="3147570245"/>
                    </a:ext>
                  </a:extLst>
                </a:gridCol>
              </a:tblGrid>
              <a:tr h="370840">
                <a:tc>
                  <a:txBody>
                    <a:bodyPr/>
                    <a:lstStyle/>
                    <a:p>
                      <a:r>
                        <a:rPr lang="en-US" noProof="0" dirty="0"/>
                        <a:t>Assigned User Stories </a:t>
                      </a:r>
                      <a:r>
                        <a:rPr lang="en-US" sz="1200" noProof="0" dirty="0"/>
                        <a:t>(as stated in the project assignment)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err="1"/>
                        <a:t>Commited</a:t>
                      </a:r>
                      <a:r>
                        <a:rPr lang="en-US" noProof="0" dirty="0"/>
                        <a:t>?</a:t>
                      </a:r>
                    </a:p>
                    <a:p>
                      <a:pPr algn="ctr"/>
                      <a:r>
                        <a:rPr lang="en-US" sz="1200" noProof="0" dirty="0"/>
                        <a:t>Yes / No (according to team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Todo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Doing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a:t>Done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noProof="0" dirty="0"/>
                        <a:t>Blocked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370840">
                <a:tc>
                  <a:txBody>
                    <a:bodyPr/>
                    <a:lstStyle/>
                    <a:p>
                      <a:r>
                        <a:rPr lang="pt-PT" dirty="0"/>
                        <a:t>USLP08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70840">
                <a:tc>
                  <a:txBody>
                    <a:bodyPr/>
                    <a:lstStyle/>
                    <a:p>
                      <a:r>
                        <a:rPr lang="pt-PT" dirty="0"/>
                        <a:t>USLP09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254498"/>
                  </a:ext>
                </a:extLst>
              </a:tr>
              <a:tr h="3708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USLP10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dirty="0"/>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endParaRPr lang="pt-PT"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709446"/>
                  </a:ext>
                </a:extLst>
              </a:tr>
            </a:tbl>
          </a:graphicData>
        </a:graphic>
      </p:graphicFrame>
    </p:spTree>
    <p:extLst>
      <p:ext uri="{BB962C8B-B14F-4D97-AF65-F5344CB8AC3E}">
        <p14:creationId xmlns:p14="http://schemas.microsoft.com/office/powerpoint/2010/main" val="1542172906"/>
      </p:ext>
    </p:extLst>
  </p:cSld>
  <p:clrMapOvr>
    <a:masterClrMapping/>
  </p:clrMapOvr>
  <p:transition spd="med">
    <p:fade/>
  </p:transition>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dirty="0" err="1">
                <a:solidFill>
                  <a:schemeClr val="tx1"/>
                </a:solidFill>
              </a:rPr>
              <a:t>Work</a:t>
            </a:r>
            <a:r>
              <a:rPr lang="pt-PT" sz="3200" cap="none" dirty="0">
                <a:solidFill>
                  <a:schemeClr val="tx1"/>
                </a:solidFill>
              </a:rPr>
              <a:t> </a:t>
            </a:r>
            <a:r>
              <a:rPr lang="pt-PT" sz="3200" cap="none" dirty="0" err="1">
                <a:solidFill>
                  <a:schemeClr val="tx1"/>
                </a:solidFill>
              </a:rPr>
              <a:t>assigned</a:t>
            </a:r>
            <a:r>
              <a:rPr lang="pt-PT" sz="3200" cap="none" dirty="0">
                <a:solidFill>
                  <a:schemeClr val="tx1"/>
                </a:solidFill>
              </a:rPr>
              <a:t> </a:t>
            </a:r>
            <a:r>
              <a:rPr lang="pt-PT" sz="3200" cap="none" dirty="0" err="1">
                <a:solidFill>
                  <a:schemeClr val="tx1"/>
                </a:solidFill>
              </a:rPr>
              <a:t>by</a:t>
            </a:r>
            <a:r>
              <a:rPr lang="pt-PT" sz="3200" cap="none" dirty="0">
                <a:solidFill>
                  <a:schemeClr val="tx1"/>
                </a:solidFill>
              </a:rPr>
              <a:t> team </a:t>
            </a:r>
            <a:r>
              <a:rPr lang="pt-PT" sz="3200" cap="none" dirty="0" err="1">
                <a:solidFill>
                  <a:schemeClr val="tx1"/>
                </a:solidFill>
              </a:rPr>
              <a:t>member</a:t>
            </a:r>
            <a:endParaRPr lang="pt-PT" sz="3200" cap="none" dirty="0">
              <a:solidFill>
                <a:schemeClr val="tx1"/>
              </a:solidFill>
            </a:endParaRPr>
          </a:p>
        </p:txBody>
      </p:sp>
      <p:graphicFrame>
        <p:nvGraphicFramePr>
          <p:cNvPr id="6" name="Gráfico 5">
            <a:extLst>
              <a:ext uri="{FF2B5EF4-FFF2-40B4-BE49-F238E27FC236}">
                <a16:creationId xmlns:a16="http://schemas.microsoft.com/office/drawing/2014/main" id="{CC0ADD5B-A00D-489E-9390-B75485840C80}"/>
              </a:ext>
            </a:extLst>
          </p:cNvPr>
          <p:cNvGraphicFramePr/>
          <p:nvPr>
            <p:extLst>
              <p:ext uri="{D42A27DB-BD31-4B8C-83A1-F6EECF244321}">
                <p14:modId xmlns:p14="http://schemas.microsoft.com/office/powerpoint/2010/main" val="1095065106"/>
              </p:ext>
            </p:extLst>
          </p:nvPr>
        </p:nvGraphicFramePr>
        <p:xfrm>
          <a:off x="1622630" y="1673805"/>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2576471"/>
      </p:ext>
    </p:extLst>
  </p:cSld>
  <p:clrMapOvr>
    <a:masterClrMapping/>
  </p:clrMapOvr>
  <p:transition spd="med">
    <p:fade/>
  </p:transition>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D09C92-6533-459B-B793-05CE76CDCCC0}"/>
              </a:ext>
            </a:extLst>
          </p:cNvPr>
          <p:cNvSpPr>
            <a:spLocks noGrp="1"/>
          </p:cNvSpPr>
          <p:nvPr>
            <p:ph type="title"/>
          </p:nvPr>
        </p:nvSpPr>
        <p:spPr/>
        <p:txBody>
          <a:bodyPr/>
          <a:lstStyle/>
          <a:p>
            <a:r>
              <a:rPr lang="pt-PT" sz="3200" cap="none" dirty="0">
                <a:solidFill>
                  <a:schemeClr val="tx1"/>
                </a:solidFill>
              </a:rPr>
              <a:t> </a:t>
            </a:r>
            <a:r>
              <a:rPr lang="pt-PT" sz="3200" cap="none" dirty="0" err="1">
                <a:solidFill>
                  <a:schemeClr val="tx1"/>
                </a:solidFill>
              </a:rPr>
              <a:t>Work</a:t>
            </a:r>
            <a:r>
              <a:rPr lang="pt-PT" sz="3200" cap="none" dirty="0">
                <a:solidFill>
                  <a:schemeClr val="tx1"/>
                </a:solidFill>
              </a:rPr>
              <a:t> </a:t>
            </a:r>
            <a:r>
              <a:rPr lang="pt-PT" sz="3200" cap="none" dirty="0" err="1">
                <a:solidFill>
                  <a:schemeClr val="tx1"/>
                </a:solidFill>
              </a:rPr>
              <a:t>assigned</a:t>
            </a:r>
            <a:r>
              <a:rPr lang="pt-PT" sz="3200" cap="none" dirty="0">
                <a:solidFill>
                  <a:schemeClr val="tx1"/>
                </a:solidFill>
              </a:rPr>
              <a:t> </a:t>
            </a:r>
            <a:r>
              <a:rPr lang="pt-PT" sz="3200" cap="none" dirty="0" err="1">
                <a:solidFill>
                  <a:schemeClr val="tx1"/>
                </a:solidFill>
              </a:rPr>
              <a:t>by</a:t>
            </a:r>
            <a:r>
              <a:rPr lang="pt-PT" sz="3200" cap="none" dirty="0">
                <a:solidFill>
                  <a:schemeClr val="tx1"/>
                </a:solidFill>
              </a:rPr>
              <a:t> </a:t>
            </a:r>
            <a:r>
              <a:rPr lang="pt-PT" sz="3200" cap="none" dirty="0" err="1">
                <a:solidFill>
                  <a:schemeClr val="tx1"/>
                </a:solidFill>
              </a:rPr>
              <a:t>type</a:t>
            </a:r>
            <a:r>
              <a:rPr lang="pt-PT" sz="3200" cap="none" dirty="0">
                <a:solidFill>
                  <a:schemeClr val="tx1"/>
                </a:solidFill>
              </a:rPr>
              <a:t> (</a:t>
            </a:r>
            <a:r>
              <a:rPr lang="pt-PT" sz="3200" cap="none" dirty="0" err="1">
                <a:solidFill>
                  <a:schemeClr val="tx1"/>
                </a:solidFill>
              </a:rPr>
              <a:t>component</a:t>
            </a:r>
            <a:r>
              <a:rPr lang="pt-PT" sz="3200" cap="none" dirty="0">
                <a:solidFill>
                  <a:schemeClr val="tx1"/>
                </a:solidFill>
              </a:rPr>
              <a:t>)</a:t>
            </a:r>
          </a:p>
        </p:txBody>
      </p:sp>
      <p:graphicFrame>
        <p:nvGraphicFramePr>
          <p:cNvPr id="5" name="Gráfico 4">
            <a:extLst>
              <a:ext uri="{FF2B5EF4-FFF2-40B4-BE49-F238E27FC236}">
                <a16:creationId xmlns:a16="http://schemas.microsoft.com/office/drawing/2014/main" id="{90ED7699-5188-411A-AA61-860BAD3DF6D1}"/>
              </a:ext>
            </a:extLst>
          </p:cNvPr>
          <p:cNvGraphicFramePr/>
          <p:nvPr>
            <p:extLst>
              <p:ext uri="{D42A27DB-BD31-4B8C-83A1-F6EECF244321}">
                <p14:modId xmlns:p14="http://schemas.microsoft.com/office/powerpoint/2010/main" val="1624535853"/>
              </p:ext>
            </p:extLst>
          </p:nvPr>
        </p:nvGraphicFramePr>
        <p:xfrm>
          <a:off x="1487615" y="1898830"/>
          <a:ext cx="6604000" cy="4402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06292261"/>
      </p:ext>
    </p:extLst>
  </p:cSld>
  <p:clrMapOvr>
    <a:masterClrMapping/>
  </p:clrMapOvr>
  <p:transition spd="med">
    <p:fade/>
  </p:transition>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B96577C-34ED-48A2-A7FD-C6822D87959C}"/>
              </a:ext>
            </a:extLst>
          </p:cNvPr>
          <p:cNvSpPr>
            <a:spLocks noGrp="1"/>
          </p:cNvSpPr>
          <p:nvPr>
            <p:ph type="title"/>
          </p:nvPr>
        </p:nvSpPr>
        <p:spPr/>
        <p:txBody>
          <a:bodyPr/>
          <a:lstStyle/>
          <a:p>
            <a:r>
              <a:rPr lang="en-US" sz="3200" cap="none" dirty="0">
                <a:solidFill>
                  <a:schemeClr val="tx1"/>
                </a:solidFill>
              </a:rPr>
              <a:t>Issues / Assumptions / unanswered questions</a:t>
            </a:r>
            <a:endParaRPr lang="en-US" sz="3200" cap="none" dirty="0"/>
          </a:p>
        </p:txBody>
      </p:sp>
      <p:graphicFrame>
        <p:nvGraphicFramePr>
          <p:cNvPr id="3" name="Tabela 2">
            <a:extLst>
              <a:ext uri="{FF2B5EF4-FFF2-40B4-BE49-F238E27FC236}">
                <a16:creationId xmlns:a16="http://schemas.microsoft.com/office/drawing/2014/main" id="{2765780B-B941-BB03-F491-AFEFC4822F45}"/>
              </a:ext>
            </a:extLst>
          </p:cNvPr>
          <p:cNvGraphicFramePr>
            <a:graphicFrameLocks noGrp="1"/>
          </p:cNvGraphicFramePr>
          <p:nvPr>
            <p:extLst>
              <p:ext uri="{D42A27DB-BD31-4B8C-83A1-F6EECF244321}">
                <p14:modId xmlns:p14="http://schemas.microsoft.com/office/powerpoint/2010/main" val="1126523580"/>
              </p:ext>
            </p:extLst>
          </p:nvPr>
        </p:nvGraphicFramePr>
        <p:xfrm>
          <a:off x="1442848" y="2753925"/>
          <a:ext cx="7020303" cy="1564375"/>
        </p:xfrm>
        <a:graphic>
          <a:graphicData uri="http://schemas.openxmlformats.org/drawingml/2006/table">
            <a:tbl>
              <a:tblPr firstRow="1" bandRow="1">
                <a:tableStyleId>{912C8C85-51F0-491E-9774-3900AFEF0FD7}</a:tableStyleId>
              </a:tblPr>
              <a:tblGrid>
                <a:gridCol w="1748691">
                  <a:extLst>
                    <a:ext uri="{9D8B030D-6E8A-4147-A177-3AD203B41FA5}">
                      <a16:colId xmlns:a16="http://schemas.microsoft.com/office/drawing/2014/main" val="3798560086"/>
                    </a:ext>
                  </a:extLst>
                </a:gridCol>
                <a:gridCol w="1530170">
                  <a:extLst>
                    <a:ext uri="{9D8B030D-6E8A-4147-A177-3AD203B41FA5}">
                      <a16:colId xmlns:a16="http://schemas.microsoft.com/office/drawing/2014/main" val="477562216"/>
                    </a:ext>
                  </a:extLst>
                </a:gridCol>
                <a:gridCol w="1800200">
                  <a:extLst>
                    <a:ext uri="{9D8B030D-6E8A-4147-A177-3AD203B41FA5}">
                      <a16:colId xmlns:a16="http://schemas.microsoft.com/office/drawing/2014/main" val="1777303491"/>
                    </a:ext>
                  </a:extLst>
                </a:gridCol>
                <a:gridCol w="1941242">
                  <a:extLst>
                    <a:ext uri="{9D8B030D-6E8A-4147-A177-3AD203B41FA5}">
                      <a16:colId xmlns:a16="http://schemas.microsoft.com/office/drawing/2014/main" val="2634392098"/>
                    </a:ext>
                  </a:extLst>
                </a:gridCol>
              </a:tblGrid>
              <a:tr h="630070">
                <a:tc>
                  <a:txBody>
                    <a:bodyPr/>
                    <a:lstStyle/>
                    <a:p>
                      <a:pPr algn="l"/>
                      <a:r>
                        <a:rPr lang="en-US" sz="1200" noProof="0"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noProof="0" dirty="0"/>
                        <a:t>Responsible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noProof="0" dirty="0"/>
                        <a:t>Date / sprint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noProof="0" dirty="0"/>
                        <a:t>Related issue / </a:t>
                      </a:r>
                    </a:p>
                    <a:p>
                      <a:pPr algn="l"/>
                      <a:r>
                        <a:rPr lang="en-US" noProof="0" dirty="0"/>
                        <a:t>item in Git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934305">
                <a:tc>
                  <a:txBody>
                    <a:bodyPr/>
                    <a:lstStyle/>
                    <a:p>
                      <a:pPr algn="l"/>
                      <a:r>
                        <a:rPr lang="pt-PT" dirty="0"/>
                        <a:t>None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pt-PT" dirty="0"/>
                        <a:t>None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pt-PT" dirty="0"/>
                        <a:t>None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pt-PT" dirty="0"/>
                        <a:t>None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bl>
          </a:graphicData>
        </a:graphic>
      </p:graphicFrame>
    </p:spTree>
    <p:extLst>
      <p:ext uri="{BB962C8B-B14F-4D97-AF65-F5344CB8AC3E}">
        <p14:creationId xmlns:p14="http://schemas.microsoft.com/office/powerpoint/2010/main" val="374533615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29E7-3FFD-D203-2288-6373118FC011}"/>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4485DCF-CD7D-9487-0175-274A08E056DE}"/>
              </a:ext>
            </a:extLst>
          </p:cNvPr>
          <p:cNvSpPr>
            <a:spLocks noGrp="1"/>
          </p:cNvSpPr>
          <p:nvPr>
            <p:ph type="title"/>
          </p:nvPr>
        </p:nvSpPr>
        <p:spPr>
          <a:xfrm>
            <a:off x="385333" y="1043735"/>
            <a:ext cx="9043200" cy="571503"/>
          </a:xfrm>
        </p:spPr>
        <p:txBody>
          <a:bodyPr/>
          <a:lstStyle/>
          <a:p>
            <a:r>
              <a:rPr lang="pt-PT" sz="3200" cap="none" noProof="0" dirty="0">
                <a:solidFill>
                  <a:schemeClr val="tx1"/>
                </a:solidFill>
              </a:rPr>
              <a:t>Daily Meetings</a:t>
            </a:r>
            <a:endParaRPr lang="pt-PT" sz="3200" cap="none" noProof="0" dirty="0"/>
          </a:p>
        </p:txBody>
      </p:sp>
      <p:graphicFrame>
        <p:nvGraphicFramePr>
          <p:cNvPr id="3" name="Tabela 2">
            <a:extLst>
              <a:ext uri="{FF2B5EF4-FFF2-40B4-BE49-F238E27FC236}">
                <a16:creationId xmlns:a16="http://schemas.microsoft.com/office/drawing/2014/main" id="{9A760796-9F6B-C0FD-165B-0762CD07EBDE}"/>
              </a:ext>
            </a:extLst>
          </p:cNvPr>
          <p:cNvGraphicFramePr>
            <a:graphicFrameLocks noGrp="1"/>
          </p:cNvGraphicFramePr>
          <p:nvPr>
            <p:extLst>
              <p:ext uri="{D42A27DB-BD31-4B8C-83A1-F6EECF244321}">
                <p14:modId xmlns:p14="http://schemas.microsoft.com/office/powerpoint/2010/main" val="2470675561"/>
              </p:ext>
            </p:extLst>
          </p:nvPr>
        </p:nvGraphicFramePr>
        <p:xfrm>
          <a:off x="385334" y="2393885"/>
          <a:ext cx="9043199" cy="2640055"/>
        </p:xfrm>
        <a:graphic>
          <a:graphicData uri="http://schemas.openxmlformats.org/drawingml/2006/table">
            <a:tbl>
              <a:tblPr firstRow="1" bandRow="1">
                <a:tableStyleId>{912C8C85-51F0-491E-9774-3900AFEF0FD7}</a:tableStyleId>
              </a:tblPr>
              <a:tblGrid>
                <a:gridCol w="1113695">
                  <a:extLst>
                    <a:ext uri="{9D8B030D-6E8A-4147-A177-3AD203B41FA5}">
                      <a16:colId xmlns:a16="http://schemas.microsoft.com/office/drawing/2014/main" val="3798560086"/>
                    </a:ext>
                  </a:extLst>
                </a:gridCol>
                <a:gridCol w="1826459">
                  <a:extLst>
                    <a:ext uri="{9D8B030D-6E8A-4147-A177-3AD203B41FA5}">
                      <a16:colId xmlns:a16="http://schemas.microsoft.com/office/drawing/2014/main" val="477562216"/>
                    </a:ext>
                  </a:extLst>
                </a:gridCol>
                <a:gridCol w="1380981">
                  <a:extLst>
                    <a:ext uri="{9D8B030D-6E8A-4147-A177-3AD203B41FA5}">
                      <a16:colId xmlns:a16="http://schemas.microsoft.com/office/drawing/2014/main" val="1777303491"/>
                    </a:ext>
                  </a:extLst>
                </a:gridCol>
                <a:gridCol w="1202790">
                  <a:extLst>
                    <a:ext uri="{9D8B030D-6E8A-4147-A177-3AD203B41FA5}">
                      <a16:colId xmlns:a16="http://schemas.microsoft.com/office/drawing/2014/main" val="4055970072"/>
                    </a:ext>
                  </a:extLst>
                </a:gridCol>
                <a:gridCol w="1158242">
                  <a:extLst>
                    <a:ext uri="{9D8B030D-6E8A-4147-A177-3AD203B41FA5}">
                      <a16:colId xmlns:a16="http://schemas.microsoft.com/office/drawing/2014/main" val="2634392098"/>
                    </a:ext>
                  </a:extLst>
                </a:gridCol>
                <a:gridCol w="1202790">
                  <a:extLst>
                    <a:ext uri="{9D8B030D-6E8A-4147-A177-3AD203B41FA5}">
                      <a16:colId xmlns:a16="http://schemas.microsoft.com/office/drawing/2014/main" val="3954452917"/>
                    </a:ext>
                  </a:extLst>
                </a:gridCol>
                <a:gridCol w="1158242">
                  <a:extLst>
                    <a:ext uri="{9D8B030D-6E8A-4147-A177-3AD203B41FA5}">
                      <a16:colId xmlns:a16="http://schemas.microsoft.com/office/drawing/2014/main" val="1328943202"/>
                    </a:ext>
                  </a:extLst>
                </a:gridCol>
              </a:tblGrid>
              <a:tr h="450050">
                <a:tc>
                  <a:txBody>
                    <a:bodyPr/>
                    <a:lstStyle/>
                    <a:p>
                      <a:r>
                        <a:rPr lang="pt-PT" sz="1200" b="1" i="0" u="none" strike="noStrike" cap="none" noProof="0" dirty="0">
                          <a:solidFill>
                            <a:schemeClr val="bg1"/>
                          </a:solidFill>
                          <a:latin typeface="+mn-lt"/>
                          <a:ea typeface="+mn-ea"/>
                          <a:cs typeface="+mn-cs"/>
                          <a:sym typeface="Arial"/>
                        </a:rPr>
                        <a:t>Date (of the 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200" b="1" i="0" u="none" strike="noStrike" cap="none" noProof="0" dirty="0">
                          <a:solidFill>
                            <a:schemeClr val="bg1"/>
                          </a:solidFill>
                          <a:latin typeface="+mn-lt"/>
                          <a:ea typeface="+mn-ea"/>
                          <a:cs typeface="+mn-cs"/>
                          <a:sym typeface="Arial"/>
                        </a:rPr>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Francisco</a:t>
                      </a:r>
                    </a:p>
                    <a:p>
                      <a:pPr algn="ctr"/>
                      <a:r>
                        <a:rPr lang="pt-PT" sz="1400" noProof="0" dirty="0"/>
                        <a:t>Vasconcelos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Gabriel</a:t>
                      </a:r>
                    </a:p>
                    <a:p>
                      <a:pPr algn="ctr"/>
                      <a:r>
                        <a:rPr lang="pt-PT" sz="1400" noProof="0" dirty="0"/>
                        <a:t>Inácio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Gonçalo</a:t>
                      </a:r>
                    </a:p>
                    <a:p>
                      <a:pPr algn="ctr"/>
                      <a:r>
                        <a:rPr lang="pt-PT" sz="1400" noProof="0" dirty="0"/>
                        <a:t>Azevedo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Maria</a:t>
                      </a:r>
                    </a:p>
                    <a:p>
                      <a:pPr algn="ctr"/>
                      <a:r>
                        <a:rPr lang="pt-PT" sz="1400" noProof="0" dirty="0"/>
                        <a:t>Pinto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Paulo</a:t>
                      </a:r>
                    </a:p>
                    <a:p>
                      <a:pPr algn="ctr"/>
                      <a:r>
                        <a:rPr lang="pt-PT" sz="1400" noProof="0" dirty="0"/>
                        <a:t>Ferreira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0">
                <a:tc>
                  <a:txBody>
                    <a:bodyPr/>
                    <a:lstStyle/>
                    <a:p>
                      <a:r>
                        <a:rPr lang="pt-PT" noProof="0" dirty="0"/>
                        <a:t>08/12/2025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63419">
                <a:tc>
                  <a:txBody>
                    <a:bodyPr/>
                    <a:lstStyle/>
                    <a:p>
                      <a:r>
                        <a:rPr lang="pt-PT" noProof="0" dirty="0"/>
                        <a:t>10/12/2025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8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63419">
                <a:tc>
                  <a:txBody>
                    <a:bodyPr/>
                    <a:lstStyle/>
                    <a:p>
                      <a:r>
                        <a:rPr lang="pt-PT" noProof="0" dirty="0"/>
                        <a:t>12/12/2025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63419">
                <a:tc>
                  <a:txBody>
                    <a:bodyPr/>
                    <a:lstStyle/>
                    <a:p>
                      <a:r>
                        <a:rPr lang="pt-PT" noProof="0" dirty="0"/>
                        <a:t>15/12/2025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63419">
                <a:tc>
                  <a:txBody>
                    <a:bodyPr/>
                    <a:lstStyle/>
                    <a:p>
                      <a:r>
                        <a:rPr lang="pt-PT" noProof="0" dirty="0"/>
                        <a:t>17/12/2025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7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63419">
                <a:tc>
                  <a:txBody>
                    <a:bodyPr/>
                    <a:lstStyle/>
                    <a:p>
                      <a:r>
                        <a:rPr lang="pt-PT" noProof="0" dirty="0"/>
                        <a:t>19/12/2025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bl>
          </a:graphicData>
        </a:graphic>
      </p:graphicFrame>
    </p:spTree>
    <p:extLst>
      <p:ext uri="{BB962C8B-B14F-4D97-AF65-F5344CB8AC3E}">
        <p14:creationId xmlns:p14="http://schemas.microsoft.com/office/powerpoint/2010/main" val="1272851376"/>
      </p:ext>
    </p:extLst>
  </p:cSld>
  <p:clrMapOvr>
    <a:masterClrMapping/>
  </p:clrMapOvr>
  <p:transition spd="med">
    <p:fade/>
  </p:transition>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F9987-C33B-49F3-49DF-CE6B023047A4}"/>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A3C7249-9B78-C194-72B5-68427BDC425F}"/>
              </a:ext>
            </a:extLst>
          </p:cNvPr>
          <p:cNvSpPr>
            <a:spLocks noGrp="1"/>
          </p:cNvSpPr>
          <p:nvPr>
            <p:ph type="title"/>
          </p:nvPr>
        </p:nvSpPr>
        <p:spPr>
          <a:xfrm>
            <a:off x="385333" y="1043735"/>
            <a:ext cx="9043200" cy="571503"/>
          </a:xfrm>
        </p:spPr>
        <p:txBody>
          <a:bodyPr/>
          <a:lstStyle/>
          <a:p>
            <a:r>
              <a:rPr lang="pt-PT" sz="3200" cap="none" noProof="0" dirty="0">
                <a:solidFill>
                  <a:schemeClr val="tx1"/>
                </a:solidFill>
              </a:rPr>
              <a:t>Daily Meetings</a:t>
            </a:r>
            <a:endParaRPr lang="pt-PT" sz="3200" cap="none" noProof="0" dirty="0"/>
          </a:p>
        </p:txBody>
      </p:sp>
      <p:graphicFrame>
        <p:nvGraphicFramePr>
          <p:cNvPr id="3" name="Tabela 2">
            <a:extLst>
              <a:ext uri="{FF2B5EF4-FFF2-40B4-BE49-F238E27FC236}">
                <a16:creationId xmlns:a16="http://schemas.microsoft.com/office/drawing/2014/main" id="{9D100162-3A35-D9EF-D07C-996FF819136F}"/>
              </a:ext>
            </a:extLst>
          </p:cNvPr>
          <p:cNvGraphicFramePr>
            <a:graphicFrameLocks noGrp="1"/>
          </p:cNvGraphicFramePr>
          <p:nvPr>
            <p:extLst>
              <p:ext uri="{D42A27DB-BD31-4B8C-83A1-F6EECF244321}">
                <p14:modId xmlns:p14="http://schemas.microsoft.com/office/powerpoint/2010/main" val="3179583937"/>
              </p:ext>
            </p:extLst>
          </p:nvPr>
        </p:nvGraphicFramePr>
        <p:xfrm>
          <a:off x="385331" y="2393885"/>
          <a:ext cx="9043198" cy="2640055"/>
        </p:xfrm>
        <a:graphic>
          <a:graphicData uri="http://schemas.openxmlformats.org/drawingml/2006/table">
            <a:tbl>
              <a:tblPr firstRow="1" bandRow="1">
                <a:tableStyleId>{912C8C85-51F0-491E-9774-3900AFEF0FD7}</a:tableStyleId>
              </a:tblPr>
              <a:tblGrid>
                <a:gridCol w="1102284">
                  <a:extLst>
                    <a:ext uri="{9D8B030D-6E8A-4147-A177-3AD203B41FA5}">
                      <a16:colId xmlns:a16="http://schemas.microsoft.com/office/drawing/2014/main" val="3798560086"/>
                    </a:ext>
                  </a:extLst>
                </a:gridCol>
                <a:gridCol w="1845205">
                  <a:extLst>
                    <a:ext uri="{9D8B030D-6E8A-4147-A177-3AD203B41FA5}">
                      <a16:colId xmlns:a16="http://schemas.microsoft.com/office/drawing/2014/main" val="477562216"/>
                    </a:ext>
                  </a:extLst>
                </a:gridCol>
                <a:gridCol w="1530170">
                  <a:extLst>
                    <a:ext uri="{9D8B030D-6E8A-4147-A177-3AD203B41FA5}">
                      <a16:colId xmlns:a16="http://schemas.microsoft.com/office/drawing/2014/main" val="1777303491"/>
                    </a:ext>
                  </a:extLst>
                </a:gridCol>
                <a:gridCol w="1274827">
                  <a:extLst>
                    <a:ext uri="{9D8B030D-6E8A-4147-A177-3AD203B41FA5}">
                      <a16:colId xmlns:a16="http://schemas.microsoft.com/office/drawing/2014/main" val="4055970072"/>
                    </a:ext>
                  </a:extLst>
                </a:gridCol>
                <a:gridCol w="1083019">
                  <a:extLst>
                    <a:ext uri="{9D8B030D-6E8A-4147-A177-3AD203B41FA5}">
                      <a16:colId xmlns:a16="http://schemas.microsoft.com/office/drawing/2014/main" val="2634392098"/>
                    </a:ext>
                  </a:extLst>
                </a:gridCol>
                <a:gridCol w="1124674">
                  <a:extLst>
                    <a:ext uri="{9D8B030D-6E8A-4147-A177-3AD203B41FA5}">
                      <a16:colId xmlns:a16="http://schemas.microsoft.com/office/drawing/2014/main" val="3954452917"/>
                    </a:ext>
                  </a:extLst>
                </a:gridCol>
                <a:gridCol w="1083019">
                  <a:extLst>
                    <a:ext uri="{9D8B030D-6E8A-4147-A177-3AD203B41FA5}">
                      <a16:colId xmlns:a16="http://schemas.microsoft.com/office/drawing/2014/main" val="1328943202"/>
                    </a:ext>
                  </a:extLst>
                </a:gridCol>
              </a:tblGrid>
              <a:tr h="450050">
                <a:tc>
                  <a:txBody>
                    <a:bodyPr/>
                    <a:lstStyle/>
                    <a:p>
                      <a:r>
                        <a:rPr lang="pt-PT" sz="1200" b="1" i="0" u="none" strike="noStrike" cap="none" noProof="0" dirty="0">
                          <a:solidFill>
                            <a:schemeClr val="bg1"/>
                          </a:solidFill>
                          <a:latin typeface="+mn-lt"/>
                          <a:ea typeface="+mn-ea"/>
                          <a:cs typeface="+mn-cs"/>
                          <a:sym typeface="Arial"/>
                        </a:rPr>
                        <a:t>Date (of the meeting)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200" b="1" i="0" u="none" strike="noStrike" cap="none" noProof="0" dirty="0">
                          <a:solidFill>
                            <a:schemeClr val="bg1"/>
                          </a:solidFill>
                          <a:latin typeface="+mn-lt"/>
                          <a:ea typeface="+mn-ea"/>
                          <a:cs typeface="+mn-cs"/>
                          <a:sym typeface="Arial"/>
                        </a:rPr>
                        <a:t>Place /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Francisco</a:t>
                      </a:r>
                    </a:p>
                    <a:p>
                      <a:pPr algn="ctr"/>
                      <a:r>
                        <a:rPr lang="pt-PT" sz="1400" noProof="0" dirty="0"/>
                        <a:t>Vasconcelos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Gabriel</a:t>
                      </a:r>
                    </a:p>
                    <a:p>
                      <a:pPr algn="ctr"/>
                      <a:r>
                        <a:rPr lang="pt-PT" sz="1400" noProof="0" dirty="0"/>
                        <a:t>Inácio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Gonçalo</a:t>
                      </a:r>
                    </a:p>
                    <a:p>
                      <a:pPr algn="ctr"/>
                      <a:r>
                        <a:rPr lang="pt-PT" sz="1400" noProof="0" dirty="0"/>
                        <a:t>Azevedo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Maria</a:t>
                      </a:r>
                    </a:p>
                    <a:p>
                      <a:pPr algn="ctr"/>
                      <a:r>
                        <a:rPr lang="pt-PT" sz="1400" noProof="0" dirty="0"/>
                        <a:t>Pinto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sz="1400" noProof="0" dirty="0"/>
                        <a:t>Paulo</a:t>
                      </a:r>
                    </a:p>
                    <a:p>
                      <a:pPr algn="ctr"/>
                      <a:r>
                        <a:rPr lang="pt-PT" sz="1400" noProof="0" dirty="0"/>
                        <a:t>Ferreira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111211"/>
                  </a:ext>
                </a:extLst>
              </a:tr>
              <a:tr h="0">
                <a:tc>
                  <a:txBody>
                    <a:bodyPr/>
                    <a:lstStyle/>
                    <a:p>
                      <a:r>
                        <a:rPr lang="pt-PT" noProof="0" dirty="0"/>
                        <a:t>22/12/2025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3314903"/>
                  </a:ext>
                </a:extLst>
              </a:tr>
              <a:tr h="363419">
                <a:tc>
                  <a:txBody>
                    <a:bodyPr/>
                    <a:lstStyle/>
                    <a:p>
                      <a:r>
                        <a:rPr lang="pt-PT" noProof="0" dirty="0"/>
                        <a:t>23/12/2025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5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3517871"/>
                  </a:ext>
                </a:extLst>
              </a:tr>
              <a:tr h="363419">
                <a:tc>
                  <a:txBody>
                    <a:bodyPr/>
                    <a:lstStyle/>
                    <a:p>
                      <a:r>
                        <a:rPr lang="pt-PT" noProof="0" dirty="0"/>
                        <a:t>26/12/2025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pt-PT" noProof="0" dirty="0"/>
                        <a:t>Online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1192882"/>
                  </a:ext>
                </a:extLst>
              </a:tr>
              <a:tr h="363419">
                <a:tc>
                  <a:txBody>
                    <a:bodyPr/>
                    <a:lstStyle/>
                    <a:p>
                      <a:r>
                        <a:rPr lang="pt-PT" noProof="0" dirty="0"/>
                        <a:t>29/12/2025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7473310"/>
                  </a:ext>
                </a:extLst>
              </a:tr>
              <a:tr h="363419">
                <a:tc>
                  <a:txBody>
                    <a:bodyPr/>
                    <a:lstStyle/>
                    <a:p>
                      <a:r>
                        <a:rPr lang="pt-PT" noProof="0" dirty="0"/>
                        <a:t>30/12/2025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8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756997"/>
                  </a:ext>
                </a:extLst>
              </a:tr>
              <a:tr h="363419">
                <a:tc>
                  <a:txBody>
                    <a:bodyPr/>
                    <a:lstStyle/>
                    <a:p>
                      <a:r>
                        <a:rPr lang="pt-PT" noProof="0" dirty="0"/>
                        <a:t>02/01/2026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PT" noProof="0" dirty="0"/>
                        <a:t>Online / 10 min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buNone/>
                      </a:pPr>
                      <a:r>
                        <a:rPr lang="pt-PT" noProof="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4198396"/>
                  </a:ext>
                </a:extLst>
              </a:tr>
            </a:tbl>
          </a:graphicData>
        </a:graphic>
      </p:graphicFrame>
    </p:spTree>
    <p:extLst>
      <p:ext uri="{BB962C8B-B14F-4D97-AF65-F5344CB8AC3E}">
        <p14:creationId xmlns:p14="http://schemas.microsoft.com/office/powerpoint/2010/main" val="1936517206"/>
      </p:ext>
    </p:extLst>
  </p:cSld>
  <p:clrMapOvr>
    <a:masterClrMapping/>
  </p:clrMapOvr>
  <p:transition spd="med">
    <p:fade/>
  </p:transition>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CB12B-83CD-A79C-40AB-A4F8FFB78E66}"/>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2D3FC9-4165-9BE5-544E-277A081AC66F}"/>
              </a:ext>
            </a:extLst>
          </p:cNvPr>
          <p:cNvSpPr>
            <a:spLocks noGrp="1"/>
          </p:cNvSpPr>
          <p:nvPr>
            <p:ph type="title"/>
          </p:nvPr>
        </p:nvSpPr>
        <p:spPr>
          <a:xfrm>
            <a:off x="414000" y="1000108"/>
            <a:ext cx="9492000" cy="571503"/>
          </a:xfrm>
        </p:spPr>
        <p:txBody>
          <a:bodyPr/>
          <a:lstStyle/>
          <a:p>
            <a:r>
              <a:rPr lang="en-US" sz="3200" dirty="0">
                <a:solidFill>
                  <a:schemeClr val="tx1"/>
                </a:solidFill>
              </a:rPr>
              <a:t>LLM</a:t>
            </a:r>
            <a:r>
              <a:rPr lang="en-US" sz="3200" cap="none" dirty="0">
                <a:solidFill>
                  <a:schemeClr val="tx1"/>
                </a:solidFill>
              </a:rPr>
              <a:t> performance assessment - Input </a:t>
            </a:r>
            <a:r>
              <a:rPr lang="en-US" sz="2000" cap="none" dirty="0">
                <a:solidFill>
                  <a:schemeClr val="tx1"/>
                </a:solidFill>
              </a:rPr>
              <a:t>(use ChatGPT or Copilot)</a:t>
            </a:r>
            <a:endParaRPr lang="en-US" sz="3200" cap="none" dirty="0"/>
          </a:p>
        </p:txBody>
      </p:sp>
      <p:sp>
        <p:nvSpPr>
          <p:cNvPr id="2" name="Título 4">
            <a:extLst>
              <a:ext uri="{FF2B5EF4-FFF2-40B4-BE49-F238E27FC236}">
                <a16:creationId xmlns:a16="http://schemas.microsoft.com/office/drawing/2014/main" id="{7856DF50-9E5E-4610-FEB2-C4A38022FCFD}"/>
              </a:ext>
            </a:extLst>
          </p:cNvPr>
          <p:cNvSpPr txBox="1">
            <a:spLocks/>
          </p:cNvSpPr>
          <p:nvPr/>
        </p:nvSpPr>
        <p:spPr>
          <a:xfrm>
            <a:off x="448800" y="1592719"/>
            <a:ext cx="9043200" cy="4763988"/>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b="0" kern="0" dirty="0">
                <a:solidFill>
                  <a:schemeClr val="tx1"/>
                </a:solidFill>
              </a:rPr>
              <a:t>Source file (</a:t>
            </a:r>
            <a:r>
              <a:rPr lang="en-US" sz="2000" b="0" i="1" kern="0" dirty="0">
                <a:solidFill>
                  <a:schemeClr val="tx1"/>
                </a:solidFill>
              </a:rPr>
              <a:t>attach the file you have used</a:t>
            </a:r>
            <a:r>
              <a:rPr lang="en-US" sz="2000" b="0" kern="0" dirty="0">
                <a:solidFill>
                  <a:schemeClr val="tx1"/>
                </a:solidFill>
              </a:rPr>
              <a:t>)</a:t>
            </a:r>
            <a:r>
              <a:rPr lang="en-US" sz="2000" b="0" kern="0" dirty="0">
                <a:solidFill>
                  <a:schemeClr val="bg2">
                    <a:lumMod val="60000"/>
                    <a:lumOff val="40000"/>
                  </a:schemeClr>
                </a:solidFill>
              </a:rPr>
              <a:t>:</a:t>
            </a:r>
          </a:p>
          <a:p>
            <a:endParaRPr lang="en-US" sz="2000" b="0" kern="0" dirty="0">
              <a:solidFill>
                <a:schemeClr val="tx1"/>
              </a:solidFill>
            </a:endParaRPr>
          </a:p>
          <a:p>
            <a:endParaRPr lang="en-US" sz="2000" b="0" kern="0" dirty="0">
              <a:solidFill>
                <a:schemeClr val="tx1"/>
              </a:solidFill>
            </a:endParaRPr>
          </a:p>
          <a:p>
            <a:endParaRPr lang="en-US" sz="2000" b="0" kern="0" dirty="0">
              <a:solidFill>
                <a:schemeClr val="tx1"/>
              </a:solidFill>
            </a:endParaRPr>
          </a:p>
          <a:p>
            <a:r>
              <a:rPr lang="en-US" sz="2000" b="0" kern="0" dirty="0">
                <a:solidFill>
                  <a:schemeClr val="tx1"/>
                </a:solidFill>
              </a:rPr>
              <a:t>Input (</a:t>
            </a:r>
            <a:r>
              <a:rPr lang="en-US" sz="2000" b="0" i="1" kern="0" dirty="0">
                <a:solidFill>
                  <a:schemeClr val="tx1"/>
                </a:solidFill>
              </a:rPr>
              <a:t>write down the prompt you used to ask for the performance assessment</a:t>
            </a:r>
            <a:r>
              <a:rPr lang="en-US" sz="2000" b="0" kern="0" dirty="0">
                <a:solidFill>
                  <a:schemeClr val="tx1"/>
                </a:solidFill>
              </a:rPr>
              <a:t>):</a:t>
            </a:r>
          </a:p>
          <a:p>
            <a:endParaRPr lang="en-US" sz="1800" b="0" kern="0" dirty="0">
              <a:solidFill>
                <a:schemeClr val="tx1"/>
              </a:solidFill>
            </a:endParaRPr>
          </a:p>
          <a:p>
            <a:pPr algn="just"/>
            <a:r>
              <a:rPr lang="en-US" sz="1800" b="0" dirty="0">
                <a:solidFill>
                  <a:schemeClr val="tx1"/>
                </a:solidFill>
              </a:rPr>
              <a:t>"Analyze the sprint update file to generate individual performance assessments for each team member and a summary report for the entire group, focusing on both personal contributions and collaborative impact."</a:t>
            </a:r>
            <a:endParaRPr lang="en-US" sz="1800" b="0" kern="0" dirty="0">
              <a:solidFill>
                <a:schemeClr val="tx1"/>
              </a:solidFill>
            </a:endParaRPr>
          </a:p>
        </p:txBody>
      </p:sp>
      <p:graphicFrame>
        <p:nvGraphicFramePr>
          <p:cNvPr id="4" name="Object 3">
            <a:extLst>
              <a:ext uri="{FF2B5EF4-FFF2-40B4-BE49-F238E27FC236}">
                <a16:creationId xmlns:a16="http://schemas.microsoft.com/office/drawing/2014/main" id="{EC0C2CA5-B9E3-5264-3918-7283B4C2F622}"/>
              </a:ext>
            </a:extLst>
          </p:cNvPr>
          <p:cNvGraphicFramePr>
            <a:graphicFrameLocks noChangeAspect="1"/>
          </p:cNvGraphicFramePr>
          <p:nvPr>
            <p:extLst>
              <p:ext uri="{D42A27DB-BD31-4B8C-83A1-F6EECF244321}">
                <p14:modId xmlns:p14="http://schemas.microsoft.com/office/powerpoint/2010/main" val="3302268191"/>
              </p:ext>
            </p:extLst>
          </p:nvPr>
        </p:nvGraphicFramePr>
        <p:xfrm>
          <a:off x="448800" y="2258870"/>
          <a:ext cx="936625" cy="517525"/>
        </p:xfrm>
        <a:graphic>
          <a:graphicData uri="http://schemas.openxmlformats.org/presentationml/2006/ole">
            <mc:AlternateContent xmlns:mc="http://schemas.openxmlformats.org/markup-compatibility/2006">
              <mc:Choice xmlns:v="urn:schemas-microsoft-com:vml" Requires="v">
                <p:oleObj name="Packager Shell Object" showAsIcon="1" r:id="rId3" imgW="937366" imgH="518081" progId="Package">
                  <p:embed/>
                </p:oleObj>
              </mc:Choice>
              <mc:Fallback>
                <p:oleObj name="Packager Shell Object" showAsIcon="1" r:id="rId3" imgW="937366" imgH="518081" progId="Package">
                  <p:embed/>
                  <p:pic>
                    <p:nvPicPr>
                      <p:cNvPr id="0" name=""/>
                      <p:cNvPicPr/>
                      <p:nvPr/>
                    </p:nvPicPr>
                    <p:blipFill>
                      <a:blip r:embed="rId4"/>
                      <a:stretch>
                        <a:fillRect/>
                      </a:stretch>
                    </p:blipFill>
                    <p:spPr>
                      <a:xfrm>
                        <a:off x="448800" y="2258870"/>
                        <a:ext cx="936625" cy="517525"/>
                      </a:xfrm>
                      <a:prstGeom prst="rect">
                        <a:avLst/>
                      </a:prstGeom>
                    </p:spPr>
                  </p:pic>
                </p:oleObj>
              </mc:Fallback>
            </mc:AlternateContent>
          </a:graphicData>
        </a:graphic>
      </p:graphicFrame>
    </p:spTree>
    <p:extLst>
      <p:ext uri="{BB962C8B-B14F-4D97-AF65-F5344CB8AC3E}">
        <p14:creationId xmlns:p14="http://schemas.microsoft.com/office/powerpoint/2010/main" val="413634187"/>
      </p:ext>
    </p:extLst>
  </p:cSld>
  <p:clrMapOvr>
    <a:masterClrMapping/>
  </p:clrMapOvr>
  <p:transition spd="med">
    <p:fade/>
  </p:transition>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E430-2642-81CC-FC5F-10469D7682E5}"/>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07C477A9-425C-670A-9E07-3A102D29181D}"/>
              </a:ext>
            </a:extLst>
          </p:cNvPr>
          <p:cNvSpPr>
            <a:spLocks noGrp="1"/>
          </p:cNvSpPr>
          <p:nvPr>
            <p:ph type="title"/>
          </p:nvPr>
        </p:nvSpPr>
        <p:spPr>
          <a:xfrm>
            <a:off x="414000" y="890361"/>
            <a:ext cx="9043200" cy="571503"/>
          </a:xfrm>
        </p:spPr>
        <p:txBody>
          <a:bodyPr/>
          <a:lstStyle/>
          <a:p>
            <a:r>
              <a:rPr lang="en-US" sz="3200" cap="none" dirty="0">
                <a:solidFill>
                  <a:schemeClr val="tx1"/>
                </a:solidFill>
              </a:rPr>
              <a:t>LLM performance assessment - Output</a:t>
            </a:r>
            <a:endParaRPr lang="en-US" sz="3200" cap="none" dirty="0"/>
          </a:p>
        </p:txBody>
      </p:sp>
      <p:sp>
        <p:nvSpPr>
          <p:cNvPr id="2" name="Título 4">
            <a:extLst>
              <a:ext uri="{FF2B5EF4-FFF2-40B4-BE49-F238E27FC236}">
                <a16:creationId xmlns:a16="http://schemas.microsoft.com/office/drawing/2014/main" id="{5B8695FE-2C17-FCC1-CCC4-8717D8F253C2}"/>
              </a:ext>
            </a:extLst>
          </p:cNvPr>
          <p:cNvSpPr txBox="1">
            <a:spLocks/>
          </p:cNvSpPr>
          <p:nvPr/>
        </p:nvSpPr>
        <p:spPr>
          <a:xfrm>
            <a:off x="448800" y="1590337"/>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dirty="0">
              <a:solidFill>
                <a:schemeClr val="tx1"/>
              </a:solidFill>
            </a:endParaRPr>
          </a:p>
        </p:txBody>
      </p:sp>
      <p:sp>
        <p:nvSpPr>
          <p:cNvPr id="3" name="Título 4">
            <a:extLst>
              <a:ext uri="{FF2B5EF4-FFF2-40B4-BE49-F238E27FC236}">
                <a16:creationId xmlns:a16="http://schemas.microsoft.com/office/drawing/2014/main" id="{41914A20-7452-6770-365F-62A72A9E05A5}"/>
              </a:ext>
            </a:extLst>
          </p:cNvPr>
          <p:cNvSpPr txBox="1">
            <a:spLocks/>
          </p:cNvSpPr>
          <p:nvPr/>
        </p:nvSpPr>
        <p:spPr>
          <a:xfrm>
            <a:off x="537062" y="1461179"/>
            <a:ext cx="8797075" cy="4944008"/>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kern="0" dirty="0">
                <a:solidFill>
                  <a:schemeClr val="tx1"/>
                </a:solidFill>
              </a:rPr>
              <a:t>Output file </a:t>
            </a:r>
            <a:r>
              <a:rPr lang="en-US" sz="2000" b="0" i="1" kern="0" dirty="0">
                <a:solidFill>
                  <a:schemeClr val="tx1"/>
                </a:solidFill>
              </a:rPr>
              <a:t>(attach the complete file extracted from the A.I. tool):</a:t>
            </a:r>
          </a:p>
          <a:p>
            <a:endParaRPr lang="en-US" sz="2000" b="0" kern="0" dirty="0">
              <a:solidFill>
                <a:schemeClr val="tx1"/>
              </a:solidFill>
            </a:endParaRPr>
          </a:p>
          <a:p>
            <a:endParaRPr lang="en-US" sz="2000" b="0" kern="0" dirty="0">
              <a:solidFill>
                <a:schemeClr val="tx1"/>
              </a:solidFill>
            </a:endParaRPr>
          </a:p>
          <a:p>
            <a:endParaRPr lang="en-US" sz="2000" b="0" kern="0" dirty="0">
              <a:solidFill>
                <a:schemeClr val="tx1"/>
              </a:solidFill>
            </a:endParaRPr>
          </a:p>
          <a:p>
            <a:r>
              <a:rPr lang="en-US" sz="2000" kern="0" dirty="0">
                <a:solidFill>
                  <a:schemeClr val="tx1"/>
                </a:solidFill>
              </a:rPr>
              <a:t>Output</a:t>
            </a:r>
            <a:r>
              <a:rPr lang="en-US" sz="2000" b="0" kern="0" dirty="0">
                <a:solidFill>
                  <a:schemeClr val="tx1"/>
                </a:solidFill>
              </a:rPr>
              <a:t> </a:t>
            </a:r>
            <a:r>
              <a:rPr lang="en-US" sz="2000" b="0" i="1" kern="0" dirty="0">
                <a:solidFill>
                  <a:schemeClr val="tx1"/>
                </a:solidFill>
              </a:rPr>
              <a:t>(write one line per team member):</a:t>
            </a:r>
          </a:p>
          <a:p>
            <a:endParaRPr lang="en-US" sz="2000" b="0" i="1" kern="0" dirty="0">
              <a:solidFill>
                <a:schemeClr val="tx1"/>
              </a:solidFill>
            </a:endParaRPr>
          </a:p>
          <a:p>
            <a:pPr algn="just"/>
            <a:r>
              <a:rPr lang="en-US" sz="1600" kern="0" dirty="0">
                <a:solidFill>
                  <a:schemeClr val="tx1"/>
                </a:solidFill>
              </a:rPr>
              <a:t>Francisco Vasconcelos: </a:t>
            </a:r>
            <a:r>
              <a:rPr lang="en-US" sz="1400" b="0" kern="0" dirty="0">
                <a:solidFill>
                  <a:schemeClr val="tx1"/>
                </a:solidFill>
              </a:rPr>
              <a:t>Delivered complex graph and temporal‑analysis features with strong ownership and consistent refinement.</a:t>
            </a:r>
          </a:p>
          <a:p>
            <a:pPr algn="just"/>
            <a:r>
              <a:rPr lang="en-US" sz="1600" kern="0" dirty="0">
                <a:solidFill>
                  <a:schemeClr val="tx1"/>
                </a:solidFill>
              </a:rPr>
              <a:t>Gabriel Inácio: </a:t>
            </a:r>
            <a:r>
              <a:rPr lang="en-US" sz="1400" b="0" kern="0" dirty="0">
                <a:solidFill>
                  <a:schemeClr val="tx1"/>
                </a:solidFill>
              </a:rPr>
              <a:t>Maintained steady progress across implementations, adding robust testing and key infrastructure like the logging system.</a:t>
            </a:r>
          </a:p>
          <a:p>
            <a:pPr algn="just"/>
            <a:r>
              <a:rPr lang="en-US" sz="1600" kern="0" dirty="0">
                <a:solidFill>
                  <a:schemeClr val="tx1"/>
                </a:solidFill>
              </a:rPr>
              <a:t>Gonçalo Azevedo: </a:t>
            </a:r>
            <a:r>
              <a:rPr lang="en-US" sz="1400" b="0" kern="0" dirty="0">
                <a:solidFill>
                  <a:schemeClr val="tx1"/>
                </a:solidFill>
              </a:rPr>
              <a:t>Strengthened the project’s data layer through detailed relational modeling, SQL corrections, and versatile cross‑domain contributions.</a:t>
            </a:r>
          </a:p>
          <a:p>
            <a:pPr algn="just"/>
            <a:r>
              <a:rPr lang="en-US" sz="1600" kern="0" dirty="0">
                <a:solidFill>
                  <a:schemeClr val="tx1"/>
                </a:solidFill>
              </a:rPr>
              <a:t>Maria Pinto: </a:t>
            </a:r>
            <a:r>
              <a:rPr lang="en-US" sz="1400" b="0" kern="0" dirty="0">
                <a:solidFill>
                  <a:schemeClr val="tx1"/>
                </a:solidFill>
              </a:rPr>
              <a:t>Executed full‑stack features with clarity, combining solid class design, UI work, and reliable service‑layer development.</a:t>
            </a:r>
          </a:p>
          <a:p>
            <a:pPr algn="just"/>
            <a:r>
              <a:rPr lang="en-US" sz="1600" kern="0" dirty="0">
                <a:solidFill>
                  <a:schemeClr val="tx1"/>
                </a:solidFill>
              </a:rPr>
              <a:t>Paulo Ferreira: </a:t>
            </a:r>
            <a:r>
              <a:rPr lang="en-US" sz="1400" b="0" kern="0" dirty="0">
                <a:solidFill>
                  <a:schemeClr val="tx1"/>
                </a:solidFill>
              </a:rPr>
              <a:t>Delivered tasks quickly and thoroughly, reinforcing system stability through careful testing and iterative corrections.</a:t>
            </a:r>
          </a:p>
          <a:p>
            <a:endParaRPr lang="en-US" sz="2000" b="0" kern="0" dirty="0">
              <a:solidFill>
                <a:schemeClr val="tx1"/>
              </a:solidFill>
            </a:endParaRPr>
          </a:p>
          <a:p>
            <a:endParaRPr lang="en-US" sz="2000" b="0" kern="0" dirty="0">
              <a:solidFill>
                <a:schemeClr val="tx1"/>
              </a:solidFill>
            </a:endParaRPr>
          </a:p>
          <a:p>
            <a:endParaRPr lang="en-US" sz="2000" b="0" kern="0" dirty="0">
              <a:solidFill>
                <a:schemeClr val="tx1"/>
              </a:solidFill>
            </a:endParaRPr>
          </a:p>
        </p:txBody>
      </p:sp>
      <p:graphicFrame>
        <p:nvGraphicFramePr>
          <p:cNvPr id="7" name="Object 6">
            <a:extLst>
              <a:ext uri="{FF2B5EF4-FFF2-40B4-BE49-F238E27FC236}">
                <a16:creationId xmlns:a16="http://schemas.microsoft.com/office/drawing/2014/main" id="{E3498B53-9F18-C4A4-F82F-DBCF47EB6539}"/>
              </a:ext>
            </a:extLst>
          </p:cNvPr>
          <p:cNvGraphicFramePr>
            <a:graphicFrameLocks noChangeAspect="1"/>
          </p:cNvGraphicFramePr>
          <p:nvPr>
            <p:extLst>
              <p:ext uri="{D42A27DB-BD31-4B8C-83A1-F6EECF244321}">
                <p14:modId xmlns:p14="http://schemas.microsoft.com/office/powerpoint/2010/main" val="1286417857"/>
              </p:ext>
            </p:extLst>
          </p:nvPr>
        </p:nvGraphicFramePr>
        <p:xfrm>
          <a:off x="571863" y="2032682"/>
          <a:ext cx="1006475" cy="517525"/>
        </p:xfrm>
        <a:graphic>
          <a:graphicData uri="http://schemas.openxmlformats.org/presentationml/2006/ole">
            <mc:AlternateContent xmlns:mc="http://schemas.openxmlformats.org/markup-compatibility/2006">
              <mc:Choice xmlns:v="urn:schemas-microsoft-com:vml" Requires="v">
                <p:oleObj name="Packager Shell Object" showAsIcon="1" r:id="rId3" imgW="1005840" imgH="518081" progId="Package">
                  <p:embed/>
                </p:oleObj>
              </mc:Choice>
              <mc:Fallback>
                <p:oleObj name="Packager Shell Object" showAsIcon="1" r:id="rId3" imgW="1005840" imgH="518081" progId="Package">
                  <p:embed/>
                  <p:pic>
                    <p:nvPicPr>
                      <p:cNvPr id="0" name=""/>
                      <p:cNvPicPr/>
                      <p:nvPr/>
                    </p:nvPicPr>
                    <p:blipFill>
                      <a:blip r:embed="rId4"/>
                      <a:stretch>
                        <a:fillRect/>
                      </a:stretch>
                    </p:blipFill>
                    <p:spPr>
                      <a:xfrm>
                        <a:off x="571863" y="2032682"/>
                        <a:ext cx="1006475" cy="517525"/>
                      </a:xfrm>
                      <a:prstGeom prst="rect">
                        <a:avLst/>
                      </a:prstGeom>
                    </p:spPr>
                  </p:pic>
                </p:oleObj>
              </mc:Fallback>
            </mc:AlternateContent>
          </a:graphicData>
        </a:graphic>
      </p:graphicFrame>
    </p:spTree>
    <p:extLst>
      <p:ext uri="{BB962C8B-B14F-4D97-AF65-F5344CB8AC3E}">
        <p14:creationId xmlns:p14="http://schemas.microsoft.com/office/powerpoint/2010/main" val="844410042"/>
      </p:ext>
    </p:extLst>
  </p:cSld>
  <p:clrMapOvr>
    <a:masterClrMapping/>
  </p:clrMapOvr>
  <p:transition spd="med">
    <p:fade/>
  </p:transition>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53EF-F156-F33D-2313-E8D7DCCEF7B2}"/>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8FF6CEA0-4C41-AE7C-658B-88CFDE002994}"/>
              </a:ext>
            </a:extLst>
          </p:cNvPr>
          <p:cNvSpPr>
            <a:spLocks noGrp="1"/>
          </p:cNvSpPr>
          <p:nvPr>
            <p:ph type="title"/>
          </p:nvPr>
        </p:nvSpPr>
        <p:spPr/>
        <p:txBody>
          <a:bodyPr/>
          <a:lstStyle/>
          <a:p>
            <a:r>
              <a:rPr lang="en-US" sz="3200" cap="none" dirty="0">
                <a:solidFill>
                  <a:schemeClr val="tx1"/>
                </a:solidFill>
              </a:rPr>
              <a:t>LLM performance assessment – Critical Insight</a:t>
            </a:r>
            <a:endParaRPr lang="en-US" sz="3200" cap="none" dirty="0"/>
          </a:p>
        </p:txBody>
      </p:sp>
      <p:sp>
        <p:nvSpPr>
          <p:cNvPr id="2" name="Título 4">
            <a:extLst>
              <a:ext uri="{FF2B5EF4-FFF2-40B4-BE49-F238E27FC236}">
                <a16:creationId xmlns:a16="http://schemas.microsoft.com/office/drawing/2014/main" id="{2FEDAC75-266B-CFD9-8C22-2A369A13B7FE}"/>
              </a:ext>
            </a:extLst>
          </p:cNvPr>
          <p:cNvSpPr txBox="1">
            <a:spLocks/>
          </p:cNvSpPr>
          <p:nvPr/>
        </p:nvSpPr>
        <p:spPr>
          <a:xfrm>
            <a:off x="448800" y="1590337"/>
            <a:ext cx="9043200" cy="4692704"/>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lang="en-US" sz="2000" b="0" kern="0" dirty="0">
              <a:solidFill>
                <a:schemeClr val="tx1"/>
              </a:solidFill>
            </a:endParaRPr>
          </a:p>
        </p:txBody>
      </p:sp>
      <p:sp>
        <p:nvSpPr>
          <p:cNvPr id="3" name="Título 4">
            <a:extLst>
              <a:ext uri="{FF2B5EF4-FFF2-40B4-BE49-F238E27FC236}">
                <a16:creationId xmlns:a16="http://schemas.microsoft.com/office/drawing/2014/main" id="{26E8AA96-E4FE-2D1F-50B5-1C90B137D285}"/>
              </a:ext>
            </a:extLst>
          </p:cNvPr>
          <p:cNvSpPr txBox="1">
            <a:spLocks/>
          </p:cNvSpPr>
          <p:nvPr/>
        </p:nvSpPr>
        <p:spPr>
          <a:xfrm>
            <a:off x="431400" y="1590337"/>
            <a:ext cx="9043200" cy="5046202"/>
          </a:xfrm>
          <a:prstGeom prst="rect">
            <a:avLst/>
          </a:prstGeom>
          <a:noFill/>
          <a:ln>
            <a:noFill/>
          </a:ln>
        </p:spPr>
        <p:txBody>
          <a:bodyPr wrap="square" lIns="91425" tIns="91425" rIns="91425" bIns="91425" anchor="t"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lt1"/>
              </a:buClr>
              <a:buFont typeface="Calibri"/>
              <a:buNone/>
              <a:defRPr sz="4000" b="1" i="0" u="none" strike="noStrike" cap="none">
                <a:solidFill>
                  <a:schemeClr val="lt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2000" kern="0" dirty="0">
                <a:solidFill>
                  <a:schemeClr val="tx1"/>
                </a:solidFill>
              </a:rPr>
              <a:t>Team Members’ Opinion about the A.I. output</a:t>
            </a:r>
          </a:p>
          <a:p>
            <a:endParaRPr lang="en-US" sz="2000" kern="0" dirty="0">
              <a:solidFill>
                <a:schemeClr val="tx1"/>
              </a:solidFill>
            </a:endParaRPr>
          </a:p>
          <a:p>
            <a:pPr algn="just"/>
            <a:r>
              <a:rPr lang="en-US" sz="1400" kern="0" dirty="0">
                <a:solidFill>
                  <a:schemeClr val="tx1"/>
                </a:solidFill>
              </a:rPr>
              <a:t>Francisco</a:t>
            </a:r>
            <a:r>
              <a:rPr lang="en-US" sz="1200" b="0" kern="0" dirty="0">
                <a:solidFill>
                  <a:schemeClr val="tx1"/>
                </a:solidFill>
              </a:rPr>
              <a:t>: “I feel that the AI captured my contributions with precision, reflecting both the technical depth of my work and how it progressed throughout the sprint.”</a:t>
            </a:r>
          </a:p>
          <a:p>
            <a:pPr algn="just"/>
            <a:endParaRPr lang="en-US" sz="1200" b="0" kern="0" dirty="0">
              <a:solidFill>
                <a:schemeClr val="tx1"/>
              </a:solidFill>
            </a:endParaRPr>
          </a:p>
          <a:p>
            <a:pPr algn="just"/>
            <a:r>
              <a:rPr lang="en-US" sz="1400" kern="0" dirty="0">
                <a:solidFill>
                  <a:schemeClr val="tx1"/>
                </a:solidFill>
              </a:rPr>
              <a:t>Gabriel</a:t>
            </a:r>
            <a:r>
              <a:rPr lang="en-US" sz="1200" b="0" kern="0" dirty="0">
                <a:solidFill>
                  <a:schemeClr val="tx1"/>
                </a:solidFill>
              </a:rPr>
              <a:t>: “I appreciate how the report highlighted my personal achievements while also emphasizing collaboration, shared responsibilities, and the way our work connected across modules.”</a:t>
            </a:r>
          </a:p>
          <a:p>
            <a:pPr algn="just"/>
            <a:endParaRPr lang="en-US" sz="1200" b="0" kern="0" dirty="0">
              <a:solidFill>
                <a:schemeClr val="tx1"/>
              </a:solidFill>
            </a:endParaRPr>
          </a:p>
          <a:p>
            <a:pPr algn="just"/>
            <a:r>
              <a:rPr lang="en-US" sz="1400" kern="0" dirty="0">
                <a:solidFill>
                  <a:schemeClr val="tx1"/>
                </a:solidFill>
              </a:rPr>
              <a:t>Gonçalo</a:t>
            </a:r>
            <a:r>
              <a:rPr lang="en-US" sz="1200" b="0" kern="0" dirty="0">
                <a:solidFill>
                  <a:schemeClr val="tx1"/>
                </a:solidFill>
              </a:rPr>
              <a:t>: “I find that the AI’s synthesis gives us a strong foundation for formal presentations, making it easier for me to communicate progress to stakeholders and justify the technical decisions I made.”</a:t>
            </a:r>
          </a:p>
          <a:p>
            <a:pPr algn="just"/>
            <a:endParaRPr lang="en-US" sz="1200" b="0" kern="0" dirty="0">
              <a:solidFill>
                <a:schemeClr val="tx1"/>
              </a:solidFill>
            </a:endParaRPr>
          </a:p>
          <a:p>
            <a:pPr algn="just"/>
            <a:r>
              <a:rPr lang="en-US" sz="1400" kern="0" dirty="0">
                <a:solidFill>
                  <a:schemeClr val="tx1"/>
                </a:solidFill>
              </a:rPr>
              <a:t>Maria</a:t>
            </a:r>
            <a:r>
              <a:rPr lang="en-US" sz="1200" b="0" kern="0" dirty="0">
                <a:solidFill>
                  <a:schemeClr val="tx1"/>
                </a:solidFill>
              </a:rPr>
              <a:t>: “I feel the report accurately acknowledged the range of domains I worked in — from UI to embedded systems, SQL, temporal analysis, and service‑layer logic.”</a:t>
            </a:r>
          </a:p>
          <a:p>
            <a:pPr algn="just"/>
            <a:endParaRPr lang="en-US" sz="1200" b="0" kern="0" dirty="0">
              <a:solidFill>
                <a:schemeClr val="tx1"/>
              </a:solidFill>
            </a:endParaRPr>
          </a:p>
          <a:p>
            <a:pPr algn="just"/>
            <a:r>
              <a:rPr lang="en-US" sz="1400" kern="0" dirty="0">
                <a:solidFill>
                  <a:schemeClr val="tx1"/>
                </a:solidFill>
              </a:rPr>
              <a:t>Paulo</a:t>
            </a:r>
            <a:r>
              <a:rPr lang="en-US" sz="1200" b="0" kern="0" dirty="0">
                <a:solidFill>
                  <a:schemeClr val="tx1"/>
                </a:solidFill>
              </a:rPr>
              <a:t>: “I found the positive and professional tone motivating, and it reinforced my morale by validating the effort I invested throughout the sprint.”</a:t>
            </a:r>
          </a:p>
          <a:p>
            <a:pPr algn="just"/>
            <a:endParaRPr lang="en-US" sz="2000" kern="0" dirty="0">
              <a:solidFill>
                <a:schemeClr val="tx1"/>
              </a:solidFill>
            </a:endParaRPr>
          </a:p>
          <a:p>
            <a:r>
              <a:rPr lang="en-US" sz="2000" kern="0" dirty="0">
                <a:solidFill>
                  <a:schemeClr val="tx1"/>
                </a:solidFill>
              </a:rPr>
              <a:t>Improvement Suggestion from LLM:</a:t>
            </a:r>
          </a:p>
          <a:p>
            <a:pPr algn="just"/>
            <a:r>
              <a:rPr lang="en-US" sz="1200" b="0" kern="0" dirty="0">
                <a:solidFill>
                  <a:schemeClr val="tx1"/>
                </a:solidFill>
              </a:rPr>
              <a:t>One improvement I would suggest is to increase cross‑team visibility earlier in the sprint, especially for tasks involving shared subsystems like Temporal Analysis, SQL models, and UI–service integration. By aligning sooner on design decisions and potential blockers, the team could reduce mid‑sprint rework and strengthen consistency across modules.</a:t>
            </a:r>
          </a:p>
          <a:p>
            <a:endParaRPr lang="en-US" sz="2000" kern="0" dirty="0">
              <a:solidFill>
                <a:schemeClr val="tx1"/>
              </a:solidFill>
            </a:endParaRPr>
          </a:p>
          <a:p>
            <a:endParaRPr lang="en-US" sz="2000" kern="0" dirty="0">
              <a:solidFill>
                <a:schemeClr val="tx1"/>
              </a:solidFill>
            </a:endParaRPr>
          </a:p>
          <a:p>
            <a:endParaRPr lang="en-US" sz="2000" kern="0" dirty="0">
              <a:solidFill>
                <a:schemeClr val="tx1"/>
              </a:solidFill>
            </a:endParaRPr>
          </a:p>
          <a:p>
            <a:endParaRPr lang="en-US" sz="2000" kern="0" dirty="0">
              <a:solidFill>
                <a:schemeClr val="tx1"/>
              </a:solidFill>
            </a:endParaRPr>
          </a:p>
          <a:p>
            <a:endParaRPr lang="en-US" sz="2000" kern="0" dirty="0">
              <a:solidFill>
                <a:schemeClr val="tx1"/>
              </a:solidFill>
            </a:endParaRPr>
          </a:p>
        </p:txBody>
      </p:sp>
    </p:spTree>
    <p:extLst>
      <p:ext uri="{BB962C8B-B14F-4D97-AF65-F5344CB8AC3E}">
        <p14:creationId xmlns:p14="http://schemas.microsoft.com/office/powerpoint/2010/main" val="1227709559"/>
      </p:ext>
    </p:extLst>
  </p:cSld>
  <p:clrMapOvr>
    <a:masterClrMapping/>
  </p:clrMapOvr>
  <p:transition spd="med">
    <p:fade/>
  </p:transition>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Sprint Retrospective                        </a:t>
            </a:r>
            <a:r>
              <a:rPr lang="en-US" sz="2800" b="0" cap="none" dirty="0">
                <a:solidFill>
                  <a:schemeClr val="tx1"/>
                </a:solidFill>
              </a:rPr>
              <a:t>Date: 4</a:t>
            </a:r>
            <a:r>
              <a:rPr lang="en-US" sz="2800" b="0" cap="none" baseline="30000" dirty="0">
                <a:solidFill>
                  <a:schemeClr val="tx1"/>
                </a:solidFill>
              </a:rPr>
              <a:t>th</a:t>
            </a:r>
            <a:r>
              <a:rPr lang="en-US" sz="2800" b="0" cap="none" dirty="0">
                <a:solidFill>
                  <a:schemeClr val="tx1"/>
                </a:solidFill>
              </a:rPr>
              <a:t> December </a:t>
            </a:r>
            <a:endParaRPr lang="en-US" sz="3200" b="0" cap="none" dirty="0">
              <a:solidFill>
                <a:schemeClr val="tx1"/>
              </a:solidFill>
            </a:endParaRPr>
          </a:p>
        </p:txBody>
      </p:sp>
      <p:sp>
        <p:nvSpPr>
          <p:cNvPr id="3" name="Rectangle 2">
            <a:extLst>
              <a:ext uri="{FF2B5EF4-FFF2-40B4-BE49-F238E27FC236}">
                <a16:creationId xmlns:a16="http://schemas.microsoft.com/office/drawing/2014/main" id="{0B46F64C-4411-4F59-B546-FCD8654F7B3C}"/>
              </a:ext>
            </a:extLst>
          </p:cNvPr>
          <p:cNvSpPr/>
          <p:nvPr/>
        </p:nvSpPr>
        <p:spPr>
          <a:xfrm>
            <a:off x="253331" y="1763814"/>
            <a:ext cx="2970330" cy="445066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What went well?</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High completion rate across all assigned tasks</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Cross‑domain collaboration strengthened delivery</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Testing and correction cycles improved stability</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Infrastructure improvements boosted team productivity</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Complex features were implemented with confidence</a:t>
            </a:r>
          </a:p>
        </p:txBody>
      </p:sp>
      <p:sp>
        <p:nvSpPr>
          <p:cNvPr id="7" name="Rectangle 6">
            <a:extLst>
              <a:ext uri="{FF2B5EF4-FFF2-40B4-BE49-F238E27FC236}">
                <a16:creationId xmlns:a16="http://schemas.microsoft.com/office/drawing/2014/main" id="{73B9FD58-6876-4E87-998E-ACA36985B86E}"/>
              </a:ext>
            </a:extLst>
          </p:cNvPr>
          <p:cNvSpPr/>
          <p:nvPr/>
        </p:nvSpPr>
        <p:spPr>
          <a:xfrm>
            <a:off x="3480763" y="1763815"/>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What went wrong?</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Some tasks required late‑sprint rework</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Cross‑module dependencies caused delays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Inconsistent early alignment on design decisions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Testing uncovered structural issues late</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Context switching increased cognitive load</a:t>
            </a:r>
          </a:p>
        </p:txBody>
      </p:sp>
      <p:sp>
        <p:nvSpPr>
          <p:cNvPr id="8" name="Rectangle 7">
            <a:extLst>
              <a:ext uri="{FF2B5EF4-FFF2-40B4-BE49-F238E27FC236}">
                <a16:creationId xmlns:a16="http://schemas.microsoft.com/office/drawing/2014/main" id="{39B8E455-F8DD-4DEF-9E49-A26421870FC1}"/>
              </a:ext>
            </a:extLst>
          </p:cNvPr>
          <p:cNvSpPr/>
          <p:nvPr/>
        </p:nvSpPr>
        <p:spPr>
          <a:xfrm>
            <a:off x="6708195" y="1763814"/>
            <a:ext cx="2970330" cy="445066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What we learned?</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Early synchronization reduces rework</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Clear ownership improves module stability</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Testing must be integrated earlier</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Cross‑domain awareness is essential</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Iterative refinement is part of the process</a:t>
            </a:r>
          </a:p>
        </p:txBody>
      </p:sp>
    </p:spTree>
    <p:extLst>
      <p:ext uri="{BB962C8B-B14F-4D97-AF65-F5344CB8AC3E}">
        <p14:creationId xmlns:p14="http://schemas.microsoft.com/office/powerpoint/2010/main" val="3250254882"/>
      </p:ext>
    </p:extLst>
  </p:cSld>
  <p:clrMapOvr>
    <a:masterClrMapping/>
  </p:clrMapOvr>
  <p:transition spd="med">
    <p:fade/>
  </p:transition>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0AF2-FD58-E72D-83EF-8D677D3A41E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6416E1C-4950-D71D-123A-F724531983DC}"/>
              </a:ext>
            </a:extLst>
          </p:cNvPr>
          <p:cNvSpPr/>
          <p:nvPr/>
        </p:nvSpPr>
        <p:spPr>
          <a:xfrm>
            <a:off x="317484" y="1718809"/>
            <a:ext cx="9226025" cy="454550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u="sng" dirty="0">
                <a:solidFill>
                  <a:schemeClr val="tx1"/>
                </a:solidFill>
              </a:rPr>
              <a:t>Action items:</a:t>
            </a:r>
          </a:p>
          <a:p>
            <a:endParaRPr lang="en-US" u="sng" dirty="0">
              <a:solidFill>
                <a:schemeClr val="tx1"/>
              </a:solidFill>
            </a:endParaRPr>
          </a:p>
          <a:p>
            <a:pPr>
              <a:buClr>
                <a:schemeClr val="lt1"/>
              </a:buClr>
            </a:pPr>
            <a:r>
              <a:rPr lang="en-US" kern="0" dirty="0">
                <a:solidFill>
                  <a:schemeClr val="tx1"/>
                </a:solidFill>
                <a:latin typeface="Calibri"/>
                <a:ea typeface="Calibri"/>
                <a:cs typeface="Calibri"/>
              </a:rPr>
              <a:t>Management Actions</a:t>
            </a:r>
          </a:p>
          <a:p>
            <a:pPr algn="just">
              <a:buClr>
                <a:schemeClr val="lt1"/>
              </a:buClr>
            </a:pPr>
            <a:r>
              <a:rPr lang="en-US" sz="1400" kern="0" dirty="0">
                <a:solidFill>
                  <a:schemeClr val="tx1"/>
                </a:solidFill>
                <a:latin typeface="Calibri"/>
                <a:ea typeface="Calibri"/>
                <a:cs typeface="Calibri"/>
                <a:sym typeface="Calibri"/>
              </a:rPr>
              <a:t>Schedule earlier cross‑team design checkpoints to align on shared subsystems before implementation begins.</a:t>
            </a:r>
          </a:p>
          <a:p>
            <a:pPr algn="just">
              <a:buClr>
                <a:schemeClr val="lt1"/>
              </a:buClr>
            </a:pPr>
            <a:r>
              <a:rPr lang="en-US" sz="1400" kern="0" dirty="0">
                <a:solidFill>
                  <a:schemeClr val="tx1"/>
                </a:solidFill>
                <a:latin typeface="Calibri"/>
                <a:ea typeface="Calibri"/>
                <a:cs typeface="Calibri"/>
                <a:sym typeface="Calibri"/>
              </a:rPr>
              <a:t>Improve visibility of interdependent tasks through clearer sprint planning and dependency mapping.</a:t>
            </a:r>
          </a:p>
          <a:p>
            <a:pPr algn="just">
              <a:buClr>
                <a:schemeClr val="lt1"/>
              </a:buClr>
            </a:pPr>
            <a:r>
              <a:rPr lang="en-US" sz="1400" kern="0" dirty="0">
                <a:solidFill>
                  <a:schemeClr val="tx1"/>
                </a:solidFill>
                <a:latin typeface="Calibri"/>
                <a:ea typeface="Calibri"/>
                <a:cs typeface="Calibri"/>
                <a:sym typeface="Calibri"/>
              </a:rPr>
              <a:t>Allocate buffer time for complex features such as Temporal Analysis and relational modeling.</a:t>
            </a:r>
          </a:p>
          <a:p>
            <a:pPr algn="just">
              <a:buClr>
                <a:schemeClr val="lt1"/>
              </a:buClr>
            </a:pPr>
            <a:endParaRPr lang="en-US" sz="1400" kern="0" dirty="0">
              <a:solidFill>
                <a:schemeClr val="tx1"/>
              </a:solidFill>
              <a:latin typeface="Calibri"/>
              <a:ea typeface="Calibri"/>
              <a:cs typeface="Calibri"/>
              <a:sym typeface="Calibri"/>
            </a:endParaRPr>
          </a:p>
          <a:p>
            <a:pPr>
              <a:buClr>
                <a:schemeClr val="lt1"/>
              </a:buClr>
            </a:pPr>
            <a:r>
              <a:rPr lang="en-US" kern="0" dirty="0">
                <a:solidFill>
                  <a:schemeClr val="tx1"/>
                </a:solidFill>
                <a:latin typeface="Calibri"/>
                <a:ea typeface="Calibri"/>
                <a:cs typeface="Calibri"/>
              </a:rPr>
              <a:t>Performance Actions</a:t>
            </a:r>
          </a:p>
          <a:p>
            <a:pPr algn="just">
              <a:buClr>
                <a:schemeClr val="lt1"/>
              </a:buClr>
            </a:pPr>
            <a:r>
              <a:rPr lang="en-US" sz="1400" kern="0" dirty="0">
                <a:solidFill>
                  <a:schemeClr val="tx1"/>
                </a:solidFill>
                <a:latin typeface="Calibri"/>
                <a:ea typeface="Calibri"/>
                <a:cs typeface="Calibri"/>
              </a:rPr>
              <a:t>Adopt earlier test‑driven validation to catch structural issues sooner.</a:t>
            </a:r>
          </a:p>
          <a:p>
            <a:pPr algn="just">
              <a:buClr>
                <a:schemeClr val="lt1"/>
              </a:buClr>
            </a:pPr>
            <a:r>
              <a:rPr lang="en-US" sz="1400" kern="0" dirty="0">
                <a:solidFill>
                  <a:schemeClr val="tx1"/>
                </a:solidFill>
                <a:latin typeface="Calibri"/>
                <a:ea typeface="Calibri"/>
                <a:cs typeface="Calibri"/>
              </a:rPr>
              <a:t>Increase documentation of shared modules so UI, DB, and embedded teams work from the same assumptions.</a:t>
            </a:r>
          </a:p>
          <a:p>
            <a:pPr algn="just">
              <a:buClr>
                <a:schemeClr val="lt1"/>
              </a:buClr>
            </a:pPr>
            <a:r>
              <a:rPr lang="en-US" sz="1400" kern="0" dirty="0">
                <a:solidFill>
                  <a:schemeClr val="tx1"/>
                </a:solidFill>
                <a:latin typeface="Calibri"/>
                <a:ea typeface="Calibri"/>
                <a:cs typeface="Calibri"/>
              </a:rPr>
              <a:t>Encourage pair‑review sessions for high‑risk or cross‑domain tasks.</a:t>
            </a:r>
          </a:p>
          <a:p>
            <a:pPr algn="just">
              <a:buClr>
                <a:schemeClr val="lt1"/>
              </a:buClr>
            </a:pPr>
            <a:endParaRPr lang="en-US" sz="1200" kern="0" dirty="0">
              <a:solidFill>
                <a:schemeClr val="tx1"/>
              </a:solidFill>
              <a:latin typeface="Calibri"/>
              <a:ea typeface="Calibri"/>
              <a:cs typeface="Calibri"/>
            </a:endParaRPr>
          </a:p>
          <a:p>
            <a:pPr>
              <a:buClr>
                <a:schemeClr val="lt1"/>
              </a:buClr>
            </a:pPr>
            <a:r>
              <a:rPr lang="en-US" kern="0" dirty="0">
                <a:solidFill>
                  <a:schemeClr val="tx1"/>
                </a:solidFill>
                <a:latin typeface="Calibri"/>
                <a:ea typeface="Calibri"/>
                <a:cs typeface="Calibri"/>
                <a:sym typeface="Calibri"/>
              </a:rPr>
              <a:t>Expected Impact</a:t>
            </a:r>
          </a:p>
          <a:p>
            <a:pPr algn="just">
              <a:buClr>
                <a:schemeClr val="lt1"/>
              </a:buClr>
            </a:pPr>
            <a:r>
              <a:rPr lang="en-US" sz="1400" kern="0" dirty="0">
                <a:solidFill>
                  <a:schemeClr val="tx1"/>
                </a:solidFill>
                <a:latin typeface="Calibri"/>
                <a:ea typeface="Calibri"/>
                <a:cs typeface="Calibri"/>
              </a:rPr>
              <a:t>Reduced rework and fewer late‑sprint corrections through earlier alignment.</a:t>
            </a:r>
          </a:p>
          <a:p>
            <a:pPr algn="just">
              <a:buClr>
                <a:schemeClr val="lt1"/>
              </a:buClr>
            </a:pPr>
            <a:r>
              <a:rPr lang="en-US" sz="1400" kern="0" dirty="0">
                <a:solidFill>
                  <a:schemeClr val="tx1"/>
                </a:solidFill>
                <a:latin typeface="Calibri"/>
                <a:ea typeface="Calibri"/>
                <a:cs typeface="Calibri"/>
              </a:rPr>
              <a:t>Higher integration stability thanks to shared understanding of subsystem behavior.</a:t>
            </a:r>
          </a:p>
          <a:p>
            <a:pPr algn="just">
              <a:buClr>
                <a:schemeClr val="lt1"/>
              </a:buClr>
            </a:pPr>
            <a:r>
              <a:rPr lang="en-US" sz="1400" kern="0" dirty="0">
                <a:solidFill>
                  <a:schemeClr val="tx1"/>
                </a:solidFill>
                <a:latin typeface="Calibri"/>
                <a:ea typeface="Calibri"/>
                <a:cs typeface="Calibri"/>
              </a:rPr>
              <a:t>Faster sprint velocity as blockers and misunderstandings decrease.</a:t>
            </a:r>
          </a:p>
          <a:p>
            <a:pPr algn="just">
              <a:buClr>
                <a:schemeClr val="lt1"/>
              </a:buClr>
            </a:pPr>
            <a:r>
              <a:rPr lang="en-US" sz="1400" kern="0" dirty="0">
                <a:solidFill>
                  <a:schemeClr val="tx1"/>
                </a:solidFill>
                <a:latin typeface="Calibri"/>
                <a:ea typeface="Calibri"/>
                <a:cs typeface="Calibri"/>
              </a:rPr>
              <a:t>Improved code quality and maintainability through earlier testing and clearer documentation.</a:t>
            </a:r>
          </a:p>
          <a:p>
            <a:endParaRPr lang="en-US" u="sng" dirty="0">
              <a:solidFill>
                <a:schemeClr val="tx1"/>
              </a:solidFill>
            </a:endParaRP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endParaRPr lang="en-US" sz="1400" dirty="0">
              <a:solidFill>
                <a:schemeClr val="tx1"/>
              </a:solidFill>
            </a:endParaRPr>
          </a:p>
        </p:txBody>
      </p:sp>
      <p:sp>
        <p:nvSpPr>
          <p:cNvPr id="7" name="Título 4">
            <a:extLst>
              <a:ext uri="{FF2B5EF4-FFF2-40B4-BE49-F238E27FC236}">
                <a16:creationId xmlns:a16="http://schemas.microsoft.com/office/drawing/2014/main" id="{15D1BD0F-42E6-8626-2941-D327B367F339}"/>
              </a:ext>
            </a:extLst>
          </p:cNvPr>
          <p:cNvSpPr>
            <a:spLocks noGrp="1"/>
          </p:cNvSpPr>
          <p:nvPr>
            <p:ph type="title"/>
          </p:nvPr>
        </p:nvSpPr>
        <p:spPr>
          <a:xfrm>
            <a:off x="414000" y="1000108"/>
            <a:ext cx="9043200" cy="571503"/>
          </a:xfrm>
        </p:spPr>
        <p:txBody>
          <a:bodyPr/>
          <a:lstStyle/>
          <a:p>
            <a:r>
              <a:rPr lang="en-US" sz="3200" cap="none" dirty="0">
                <a:solidFill>
                  <a:schemeClr val="tx1"/>
                </a:solidFill>
              </a:rPr>
              <a:t>Sprint Retrospective                        </a:t>
            </a:r>
            <a:r>
              <a:rPr lang="en-US" sz="2800" b="0" cap="none" dirty="0">
                <a:solidFill>
                  <a:schemeClr val="tx1"/>
                </a:solidFill>
              </a:rPr>
              <a:t>Date: 4</a:t>
            </a:r>
            <a:r>
              <a:rPr lang="en-US" sz="2800" b="0" cap="none" baseline="30000" dirty="0">
                <a:solidFill>
                  <a:schemeClr val="tx1"/>
                </a:solidFill>
              </a:rPr>
              <a:t>th</a:t>
            </a:r>
            <a:r>
              <a:rPr lang="en-US" sz="2800" b="0" cap="none" dirty="0">
                <a:solidFill>
                  <a:schemeClr val="tx1"/>
                </a:solidFill>
              </a:rPr>
              <a:t> December </a:t>
            </a:r>
            <a:endParaRPr lang="en-US" sz="3200" b="0" cap="none" dirty="0">
              <a:solidFill>
                <a:schemeClr val="tx1"/>
              </a:solidFill>
            </a:endParaRPr>
          </a:p>
        </p:txBody>
      </p:sp>
    </p:spTree>
    <p:extLst>
      <p:ext uri="{BB962C8B-B14F-4D97-AF65-F5344CB8AC3E}">
        <p14:creationId xmlns:p14="http://schemas.microsoft.com/office/powerpoint/2010/main" val="3789479183"/>
      </p:ext>
    </p:extLst>
  </p:cSld>
  <p:clrMapOvr>
    <a:masterClrMapping/>
  </p:clrMapOvr>
  <p:transition spd="med">
    <p:fade/>
  </p:transition>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87CCFBD-63B6-4340-92B3-5E03879F60E8}"/>
              </a:ext>
            </a:extLst>
          </p:cNvPr>
          <p:cNvSpPr>
            <a:spLocks noGrp="1"/>
          </p:cNvSpPr>
          <p:nvPr>
            <p:ph type="title"/>
          </p:nvPr>
        </p:nvSpPr>
        <p:spPr/>
        <p:txBody>
          <a:bodyPr/>
          <a:lstStyle/>
          <a:p>
            <a:r>
              <a:rPr lang="en-US" sz="3200" cap="none" dirty="0">
                <a:solidFill>
                  <a:schemeClr val="tx1"/>
                </a:solidFill>
              </a:rPr>
              <a:t>Overall Project Performance:</a:t>
            </a:r>
          </a:p>
        </p:txBody>
      </p:sp>
      <p:sp>
        <p:nvSpPr>
          <p:cNvPr id="2" name="Marcador de Posição do Texto 1">
            <a:extLst>
              <a:ext uri="{FF2B5EF4-FFF2-40B4-BE49-F238E27FC236}">
                <a16:creationId xmlns:a16="http://schemas.microsoft.com/office/drawing/2014/main" id="{EEE97808-B786-5C10-6A83-416F88B5C6D2}"/>
              </a:ext>
            </a:extLst>
          </p:cNvPr>
          <p:cNvSpPr>
            <a:spLocks noGrp="1"/>
          </p:cNvSpPr>
          <p:nvPr>
            <p:ph type="body" idx="1"/>
          </p:nvPr>
        </p:nvSpPr>
        <p:spPr>
          <a:xfrm>
            <a:off x="431400" y="1731934"/>
            <a:ext cx="9043200" cy="4532381"/>
          </a:xfrm>
        </p:spPr>
        <p:txBody>
          <a:bodyPr/>
          <a:lstStyle/>
          <a:p>
            <a:pPr marL="127000" indent="0">
              <a:buNone/>
            </a:pPr>
            <a:r>
              <a:rPr lang="pt-PT" dirty="0">
                <a:solidFill>
                  <a:schemeClr val="tx1"/>
                </a:solidFill>
              </a:rPr>
              <a:t>LLM evaluation: </a:t>
            </a:r>
            <a:r>
              <a:rPr lang="en-US" dirty="0">
                <a:solidFill>
                  <a:schemeClr val="tx1"/>
                </a:solidFill>
              </a:rPr>
              <a:t>4.8 / 5</a:t>
            </a:r>
            <a:endParaRPr lang="pt-PT" dirty="0">
              <a:solidFill>
                <a:schemeClr val="tx1"/>
              </a:solidFill>
            </a:endParaRPr>
          </a:p>
          <a:p>
            <a:pPr marL="127000" indent="0">
              <a:buNone/>
            </a:pPr>
            <a:r>
              <a:rPr lang="en-US" sz="1800" dirty="0">
                <a:solidFill>
                  <a:schemeClr val="tx1"/>
                </a:solidFill>
              </a:rPr>
              <a:t>Your team delivered </a:t>
            </a:r>
            <a:r>
              <a:rPr lang="en-US" sz="1800" b="1" dirty="0">
                <a:solidFill>
                  <a:schemeClr val="tx1"/>
                </a:solidFill>
              </a:rPr>
              <a:t>high‑complexity features</a:t>
            </a:r>
            <a:r>
              <a:rPr lang="en-US" sz="1800" dirty="0">
                <a:solidFill>
                  <a:schemeClr val="tx1"/>
                </a:solidFill>
              </a:rPr>
              <a:t>, maintained </a:t>
            </a:r>
            <a:r>
              <a:rPr lang="en-US" sz="1800" b="1" dirty="0">
                <a:solidFill>
                  <a:schemeClr val="tx1"/>
                </a:solidFill>
              </a:rPr>
              <a:t>strong cross‑domain collaboration</a:t>
            </a:r>
            <a:r>
              <a:rPr lang="en-US" sz="1800" dirty="0">
                <a:solidFill>
                  <a:schemeClr val="tx1"/>
                </a:solidFill>
              </a:rPr>
              <a:t>, and showed </a:t>
            </a:r>
            <a:r>
              <a:rPr lang="en-US" sz="1800" b="1" dirty="0">
                <a:solidFill>
                  <a:schemeClr val="tx1"/>
                </a:solidFill>
              </a:rPr>
              <a:t>excellent ownership</a:t>
            </a:r>
            <a:r>
              <a:rPr lang="en-US" sz="1800" dirty="0">
                <a:solidFill>
                  <a:schemeClr val="tx1"/>
                </a:solidFill>
              </a:rPr>
              <a:t> of tasks from start to finish.</a:t>
            </a:r>
            <a:endParaRPr lang="pt-PT" sz="1800" dirty="0">
              <a:solidFill>
                <a:schemeClr val="tx1"/>
              </a:solidFill>
            </a:endParaRPr>
          </a:p>
          <a:p>
            <a:pPr marL="127000" indent="0">
              <a:buNone/>
            </a:pPr>
            <a:endParaRPr lang="pt-PT" dirty="0">
              <a:solidFill>
                <a:schemeClr val="tx1"/>
              </a:solidFill>
            </a:endParaRPr>
          </a:p>
          <a:p>
            <a:pPr marL="127000" indent="0">
              <a:buNone/>
            </a:pPr>
            <a:r>
              <a:rPr lang="pt-PT" dirty="0">
                <a:solidFill>
                  <a:schemeClr val="tx1"/>
                </a:solidFill>
              </a:rPr>
              <a:t>Team evaluation: 4.5 </a:t>
            </a:r>
            <a:r>
              <a:rPr lang="en-US" dirty="0">
                <a:solidFill>
                  <a:schemeClr val="tx1"/>
                </a:solidFill>
              </a:rPr>
              <a:t>/ 5</a:t>
            </a:r>
            <a:endParaRPr lang="pt-PT" dirty="0">
              <a:solidFill>
                <a:schemeClr val="tx1"/>
              </a:solidFill>
            </a:endParaRPr>
          </a:p>
          <a:p>
            <a:pPr marL="127000" indent="0">
              <a:buNone/>
            </a:pPr>
            <a:endParaRPr lang="pt-PT" dirty="0">
              <a:solidFill>
                <a:schemeClr val="tx1"/>
              </a:solidFill>
            </a:endParaRPr>
          </a:p>
          <a:p>
            <a:pPr marL="127000" indent="0">
              <a:buNone/>
            </a:pPr>
            <a:endParaRPr lang="pt-PT" dirty="0">
              <a:solidFill>
                <a:schemeClr val="tx1"/>
              </a:solidFill>
            </a:endParaRPr>
          </a:p>
          <a:p>
            <a:pPr marL="127000" indent="0">
              <a:buNone/>
            </a:pPr>
            <a:endParaRPr lang="pt-PT" dirty="0">
              <a:solidFill>
                <a:schemeClr val="tx1"/>
              </a:solidFill>
            </a:endParaRPr>
          </a:p>
          <a:p>
            <a:pPr marL="127000" indent="0">
              <a:buNone/>
            </a:pPr>
            <a:r>
              <a:rPr lang="pt-PT" dirty="0">
                <a:solidFill>
                  <a:schemeClr val="tx1"/>
                </a:solidFill>
              </a:rPr>
              <a:t>Team feeling: </a:t>
            </a:r>
          </a:p>
        </p:txBody>
      </p:sp>
      <p:pic>
        <p:nvPicPr>
          <p:cNvPr id="7" name="Imagem 6">
            <a:extLst>
              <a:ext uri="{FF2B5EF4-FFF2-40B4-BE49-F238E27FC236}">
                <a16:creationId xmlns:a16="http://schemas.microsoft.com/office/drawing/2014/main" id="{6417797C-1297-547E-D29B-35BF35D93259}"/>
              </a:ext>
            </a:extLst>
          </p:cNvPr>
          <p:cNvPicPr>
            <a:picLocks noChangeAspect="1"/>
          </p:cNvPicPr>
          <p:nvPr/>
        </p:nvPicPr>
        <p:blipFill>
          <a:blip r:embed="rId4"/>
          <a:srcRect l="2595" t="6552" r="80110" b="32539"/>
          <a:stretch>
            <a:fillRect/>
          </a:stretch>
        </p:blipFill>
        <p:spPr>
          <a:xfrm>
            <a:off x="2252700" y="4059070"/>
            <a:ext cx="900100" cy="1168753"/>
          </a:xfrm>
          <a:prstGeom prst="rect">
            <a:avLst/>
          </a:prstGeom>
        </p:spPr>
      </p:pic>
    </p:spTree>
    <p:extLst>
      <p:ext uri="{BB962C8B-B14F-4D97-AF65-F5344CB8AC3E}">
        <p14:creationId xmlns:p14="http://schemas.microsoft.com/office/powerpoint/2010/main" val="81955380"/>
      </p:ext>
    </p:extLst>
  </p:cSld>
  <p:clrMapOvr>
    <a:masterClrMapping/>
  </p:clrMapOvr>
  <p:transition spd="med">
    <p:fade/>
  </p:transition>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 244">
            <a:extLst>
              <a:ext uri="{FF2B5EF4-FFF2-40B4-BE49-F238E27FC236}">
                <a16:creationId xmlns:a16="http://schemas.microsoft.com/office/drawing/2014/main" id="{E3548073-AD4F-0D43-1255-319A3C65BD7B}"/>
              </a:ext>
            </a:extLst>
          </p:cNvPr>
          <p:cNvSpPr txBox="1">
            <a:spLocks noGrp="1"/>
          </p:cNvSpPr>
          <p:nvPr>
            <p:ph type="title"/>
          </p:nvPr>
        </p:nvSpPr>
        <p:spPr>
          <a:xfrm>
            <a:off x="685800" y="1066800"/>
            <a:ext cx="8534399" cy="571500"/>
          </a:xfrm>
          <a:prstGeom prst="rect">
            <a:avLst/>
          </a:prstGeom>
          <a:noFill/>
          <a:ln>
            <a:noFill/>
          </a:ln>
        </p:spPr>
        <p:txBody>
          <a:bodyPr wrap="square" lIns="91425" tIns="91425" rIns="91425" bIns="91425" anchor="t" anchorCtr="0">
            <a:noAutofit/>
          </a:bodyPr>
          <a:lstStyle/>
          <a:p>
            <a:pPr algn="l" rtl="0">
              <a:buSzPct val="25000"/>
            </a:pPr>
            <a:r>
              <a:rPr lang="en-US" dirty="0">
                <a:solidFill>
                  <a:schemeClr val="tx1"/>
                </a:solidFill>
              </a:rPr>
              <a:t>Checklist Sprint 3</a:t>
            </a:r>
            <a:endParaRPr lang="en-US" sz="3200" b="1" i="0" u="none" strike="noStrike" cap="none" dirty="0">
              <a:solidFill>
                <a:schemeClr val="tx1"/>
              </a:solidFill>
              <a:latin typeface="Calibri"/>
              <a:ea typeface="Calibri"/>
              <a:cs typeface="Calibri"/>
              <a:sym typeface="Calibri"/>
            </a:endParaRPr>
          </a:p>
        </p:txBody>
      </p:sp>
      <p:graphicFrame>
        <p:nvGraphicFramePr>
          <p:cNvPr id="18" name="Tabela 2">
            <a:extLst>
              <a:ext uri="{FF2B5EF4-FFF2-40B4-BE49-F238E27FC236}">
                <a16:creationId xmlns:a16="http://schemas.microsoft.com/office/drawing/2014/main" id="{5DEE377C-4007-7495-16C8-BDB36AE5F4DC}"/>
              </a:ext>
            </a:extLst>
          </p:cNvPr>
          <p:cNvGraphicFramePr>
            <a:graphicFrameLocks noGrp="1"/>
          </p:cNvGraphicFramePr>
          <p:nvPr>
            <p:extLst>
              <p:ext uri="{D42A27DB-BD31-4B8C-83A1-F6EECF244321}">
                <p14:modId xmlns:p14="http://schemas.microsoft.com/office/powerpoint/2010/main" val="115495010"/>
              </p:ext>
            </p:extLst>
          </p:nvPr>
        </p:nvGraphicFramePr>
        <p:xfrm>
          <a:off x="685800" y="1988840"/>
          <a:ext cx="3758260" cy="3802356"/>
        </p:xfrm>
        <a:graphic>
          <a:graphicData uri="http://schemas.openxmlformats.org/drawingml/2006/table">
            <a:tbl>
              <a:tblPr firstRow="1" bandRow="1">
                <a:tableStyleId>{912C8C85-51F0-491E-9774-3900AFEF0FD7}</a:tableStyleId>
              </a:tblPr>
              <a:tblGrid>
                <a:gridCol w="2472198">
                  <a:extLst>
                    <a:ext uri="{9D8B030D-6E8A-4147-A177-3AD203B41FA5}">
                      <a16:colId xmlns:a16="http://schemas.microsoft.com/office/drawing/2014/main" val="2444898655"/>
                    </a:ext>
                  </a:extLst>
                </a:gridCol>
                <a:gridCol w="1286062">
                  <a:extLst>
                    <a:ext uri="{9D8B030D-6E8A-4147-A177-3AD203B41FA5}">
                      <a16:colId xmlns:a16="http://schemas.microsoft.com/office/drawing/2014/main" val="262154413"/>
                    </a:ext>
                  </a:extLst>
                </a:gridCol>
              </a:tblGrid>
              <a:tr h="422484">
                <a:tc>
                  <a:txBody>
                    <a:bodyPr/>
                    <a:lstStyle/>
                    <a:p>
                      <a:r>
                        <a:rPr lang="pt-PT" dirty="0"/>
                        <a:t>Item</a:t>
                      </a:r>
                    </a:p>
                  </a:txBody>
                  <a:tcPr/>
                </a:tc>
                <a:tc>
                  <a:txBody>
                    <a:bodyPr/>
                    <a:lstStyle/>
                    <a:p>
                      <a:r>
                        <a:rPr lang="pt-PT" dirty="0" err="1"/>
                        <a:t>Objective</a:t>
                      </a:r>
                      <a:endParaRPr lang="pt-PT" dirty="0"/>
                    </a:p>
                  </a:txBody>
                  <a:tcPr/>
                </a:tc>
                <a:extLst>
                  <a:ext uri="{0D108BD9-81ED-4DB2-BD59-A6C34878D82A}">
                    <a16:rowId xmlns:a16="http://schemas.microsoft.com/office/drawing/2014/main" val="3573418905"/>
                  </a:ext>
                </a:extLst>
              </a:tr>
              <a:tr h="422484">
                <a:tc>
                  <a:txBody>
                    <a:bodyPr/>
                    <a:lstStyle/>
                    <a:p>
                      <a:r>
                        <a:rPr lang="en-US" noProof="0" dirty="0"/>
                        <a:t>US detailed in the Backlog</a:t>
                      </a:r>
                    </a:p>
                  </a:txBody>
                  <a:tcPr/>
                </a:tc>
                <a:tc>
                  <a:txBody>
                    <a:bodyPr/>
                    <a:lstStyle/>
                    <a:p>
                      <a:r>
                        <a:rPr lang="en-US" noProof="0" dirty="0"/>
                        <a:t>Mandatory</a:t>
                      </a:r>
                    </a:p>
                  </a:txBody>
                  <a:tcPr/>
                </a:tc>
                <a:extLst>
                  <a:ext uri="{0D108BD9-81ED-4DB2-BD59-A6C34878D82A}">
                    <a16:rowId xmlns:a16="http://schemas.microsoft.com/office/drawing/2014/main" val="4174959275"/>
                  </a:ext>
                </a:extLst>
              </a:tr>
              <a:tr h="422484">
                <a:tc>
                  <a:txBody>
                    <a:bodyPr/>
                    <a:lstStyle/>
                    <a:p>
                      <a:r>
                        <a:rPr lang="en-US" noProof="0" dirty="0"/>
                        <a:t>Start </a:t>
                      </a:r>
                      <a:r>
                        <a:rPr lang="en-US" b="1" noProof="0" dirty="0"/>
                        <a:t>Sprint 3</a:t>
                      </a:r>
                    </a:p>
                  </a:txBody>
                  <a:tcPr/>
                </a:tc>
                <a:tc>
                  <a:txBody>
                    <a:bodyPr/>
                    <a:lstStyle/>
                    <a:p>
                      <a:r>
                        <a:rPr lang="en-US" noProof="0" dirty="0"/>
                        <a:t>Mandatory</a:t>
                      </a:r>
                    </a:p>
                  </a:txBody>
                  <a:tcPr/>
                </a:tc>
                <a:extLst>
                  <a:ext uri="{0D108BD9-81ED-4DB2-BD59-A6C34878D82A}">
                    <a16:rowId xmlns:a16="http://schemas.microsoft.com/office/drawing/2014/main" val="401374395"/>
                  </a:ext>
                </a:extLst>
              </a:tr>
              <a:tr h="422484">
                <a:tc>
                  <a:txBody>
                    <a:bodyPr/>
                    <a:lstStyle/>
                    <a:p>
                      <a:r>
                        <a:rPr lang="en-US" noProof="0" dirty="0"/>
                        <a:t>Priorities</a:t>
                      </a:r>
                    </a:p>
                  </a:txBody>
                  <a:tcPr/>
                </a:tc>
                <a:tc>
                  <a:txBody>
                    <a:bodyPr/>
                    <a:lstStyle/>
                    <a:p>
                      <a:r>
                        <a:rPr lang="en-US" noProof="0" dirty="0"/>
                        <a:t>Mandatory</a:t>
                      </a:r>
                    </a:p>
                  </a:txBody>
                  <a:tcPr/>
                </a:tc>
                <a:extLst>
                  <a:ext uri="{0D108BD9-81ED-4DB2-BD59-A6C34878D82A}">
                    <a16:rowId xmlns:a16="http://schemas.microsoft.com/office/drawing/2014/main" val="2943546225"/>
                  </a:ext>
                </a:extLst>
              </a:tr>
              <a:tr h="422484">
                <a:tc>
                  <a:txBody>
                    <a:bodyPr/>
                    <a:lstStyle/>
                    <a:p>
                      <a:r>
                        <a:rPr lang="en-US" noProof="0" dirty="0"/>
                        <a:t>Estimate US </a:t>
                      </a:r>
                      <a:r>
                        <a:rPr lang="en-US" b="1" noProof="0" dirty="0"/>
                        <a:t>(hours)</a:t>
                      </a:r>
                    </a:p>
                  </a:txBody>
                  <a:tcPr/>
                </a:tc>
                <a:tc>
                  <a:txBody>
                    <a:bodyPr/>
                    <a:lstStyle/>
                    <a:p>
                      <a:r>
                        <a:rPr lang="en-US" noProof="0" dirty="0"/>
                        <a:t>Mandatory</a:t>
                      </a:r>
                    </a:p>
                  </a:txBody>
                  <a:tcPr/>
                </a:tc>
                <a:extLst>
                  <a:ext uri="{0D108BD9-81ED-4DB2-BD59-A6C34878D82A}">
                    <a16:rowId xmlns:a16="http://schemas.microsoft.com/office/drawing/2014/main" val="3615145278"/>
                  </a:ext>
                </a:extLst>
              </a:tr>
              <a:tr h="422484">
                <a:tc>
                  <a:txBody>
                    <a:bodyPr/>
                    <a:lstStyle/>
                    <a:p>
                      <a:r>
                        <a:rPr lang="en-US" b="1" noProof="0" dirty="0"/>
                        <a:t>Create Subtasks</a:t>
                      </a:r>
                    </a:p>
                  </a:txBody>
                  <a:tcPr/>
                </a:tc>
                <a:tc>
                  <a:txBody>
                    <a:bodyPr/>
                    <a:lstStyle/>
                    <a:p>
                      <a:r>
                        <a:rPr lang="en-US" noProof="0" dirty="0"/>
                        <a:t>Mandatory</a:t>
                      </a:r>
                    </a:p>
                  </a:txBody>
                  <a:tcPr/>
                </a:tc>
                <a:extLst>
                  <a:ext uri="{0D108BD9-81ED-4DB2-BD59-A6C34878D82A}">
                    <a16:rowId xmlns:a16="http://schemas.microsoft.com/office/drawing/2014/main" val="1104389177"/>
                  </a:ext>
                </a:extLst>
              </a:tr>
              <a:tr h="422484">
                <a:tc>
                  <a:txBody>
                    <a:bodyPr/>
                    <a:lstStyle/>
                    <a:p>
                      <a:r>
                        <a:rPr lang="en-US" noProof="0" dirty="0"/>
                        <a:t>Customize board</a:t>
                      </a:r>
                    </a:p>
                  </a:txBody>
                  <a:tcPr/>
                </a:tc>
                <a:tc>
                  <a:txBody>
                    <a:bodyPr/>
                    <a:lstStyle/>
                    <a:p>
                      <a:r>
                        <a:rPr lang="en-US" noProof="0" dirty="0"/>
                        <a:t>Mandatory</a:t>
                      </a:r>
                    </a:p>
                  </a:txBody>
                  <a:tcPr/>
                </a:tc>
                <a:extLst>
                  <a:ext uri="{0D108BD9-81ED-4DB2-BD59-A6C34878D82A}">
                    <a16:rowId xmlns:a16="http://schemas.microsoft.com/office/drawing/2014/main" val="333402500"/>
                  </a:ext>
                </a:extLst>
              </a:tr>
              <a:tr h="422484">
                <a:tc>
                  <a:txBody>
                    <a:bodyPr/>
                    <a:lstStyle/>
                    <a:p>
                      <a:r>
                        <a:rPr lang="en-US" b="0" noProof="0" dirty="0"/>
                        <a:t>Integrate with Git</a:t>
                      </a:r>
                    </a:p>
                  </a:txBody>
                  <a:tcPr/>
                </a:tc>
                <a:tc>
                  <a:txBody>
                    <a:bodyPr/>
                    <a:lstStyle/>
                    <a:p>
                      <a:r>
                        <a:rPr lang="en-US" noProof="0" dirty="0"/>
                        <a:t>Mandatory</a:t>
                      </a:r>
                    </a:p>
                  </a:txBody>
                  <a:tcPr/>
                </a:tc>
                <a:extLst>
                  <a:ext uri="{0D108BD9-81ED-4DB2-BD59-A6C34878D82A}">
                    <a16:rowId xmlns:a16="http://schemas.microsoft.com/office/drawing/2014/main" val="3224091666"/>
                  </a:ext>
                </a:extLst>
              </a:tr>
              <a:tr h="422484">
                <a:tc>
                  <a:txBody>
                    <a:bodyPr/>
                    <a:lstStyle/>
                    <a:p>
                      <a:r>
                        <a:rPr lang="en-US" b="1" noProof="0" dirty="0"/>
                        <a:t>Create milestones</a:t>
                      </a:r>
                    </a:p>
                  </a:txBody>
                  <a:tcPr/>
                </a:tc>
                <a:tc>
                  <a:txBody>
                    <a:bodyPr/>
                    <a:lstStyle/>
                    <a:p>
                      <a:r>
                        <a:rPr lang="en-US" noProof="0" dirty="0"/>
                        <a:t>Discretionary</a:t>
                      </a:r>
                    </a:p>
                  </a:txBody>
                  <a:tcPr/>
                </a:tc>
                <a:extLst>
                  <a:ext uri="{0D108BD9-81ED-4DB2-BD59-A6C34878D82A}">
                    <a16:rowId xmlns:a16="http://schemas.microsoft.com/office/drawing/2014/main" val="1182448801"/>
                  </a:ext>
                </a:extLst>
              </a:tr>
            </a:tbl>
          </a:graphicData>
        </a:graphic>
      </p:graphicFrame>
      <p:graphicFrame>
        <p:nvGraphicFramePr>
          <p:cNvPr id="19" name="Tabela 18">
            <a:extLst>
              <a:ext uri="{FF2B5EF4-FFF2-40B4-BE49-F238E27FC236}">
                <a16:creationId xmlns:a16="http://schemas.microsoft.com/office/drawing/2014/main" id="{0C4149D3-8B56-4E6C-786B-58583F411D2C}"/>
              </a:ext>
            </a:extLst>
          </p:cNvPr>
          <p:cNvGraphicFramePr>
            <a:graphicFrameLocks noGrp="1"/>
          </p:cNvGraphicFramePr>
          <p:nvPr>
            <p:extLst>
              <p:ext uri="{D42A27DB-BD31-4B8C-83A1-F6EECF244321}">
                <p14:modId xmlns:p14="http://schemas.microsoft.com/office/powerpoint/2010/main" val="3710645818"/>
              </p:ext>
            </p:extLst>
          </p:nvPr>
        </p:nvGraphicFramePr>
        <p:xfrm>
          <a:off x="4682970" y="2003318"/>
          <a:ext cx="4680520" cy="4010006"/>
        </p:xfrm>
        <a:graphic>
          <a:graphicData uri="http://schemas.openxmlformats.org/drawingml/2006/table">
            <a:tbl>
              <a:tblPr firstRow="1" bandRow="1">
                <a:tableStyleId>{912C8C85-51F0-491E-9774-3900AFEF0FD7}</a:tableStyleId>
              </a:tblPr>
              <a:tblGrid>
                <a:gridCol w="2340260">
                  <a:extLst>
                    <a:ext uri="{9D8B030D-6E8A-4147-A177-3AD203B41FA5}">
                      <a16:colId xmlns:a16="http://schemas.microsoft.com/office/drawing/2014/main" val="2444898655"/>
                    </a:ext>
                  </a:extLst>
                </a:gridCol>
                <a:gridCol w="2340260">
                  <a:extLst>
                    <a:ext uri="{9D8B030D-6E8A-4147-A177-3AD203B41FA5}">
                      <a16:colId xmlns:a16="http://schemas.microsoft.com/office/drawing/2014/main" val="262154413"/>
                    </a:ext>
                  </a:extLst>
                </a:gridCol>
              </a:tblGrid>
              <a:tr h="386188">
                <a:tc>
                  <a:txBody>
                    <a:bodyPr/>
                    <a:lstStyle/>
                    <a:p>
                      <a:r>
                        <a:rPr lang="pt-PT" dirty="0"/>
                        <a:t>Item</a:t>
                      </a:r>
                    </a:p>
                  </a:txBody>
                  <a:tcPr/>
                </a:tc>
                <a:tc>
                  <a:txBody>
                    <a:bodyPr/>
                    <a:lstStyle/>
                    <a:p>
                      <a:r>
                        <a:rPr lang="pt-PT" dirty="0" err="1"/>
                        <a:t>Objective</a:t>
                      </a:r>
                      <a:endParaRPr lang="pt-PT" dirty="0"/>
                    </a:p>
                  </a:txBody>
                  <a:tcPr/>
                </a:tc>
                <a:extLst>
                  <a:ext uri="{0D108BD9-81ED-4DB2-BD59-A6C34878D82A}">
                    <a16:rowId xmlns:a16="http://schemas.microsoft.com/office/drawing/2014/main" val="3573418905"/>
                  </a:ext>
                </a:extLst>
              </a:tr>
              <a:tr h="539605">
                <a:tc>
                  <a:txBody>
                    <a:bodyPr/>
                    <a:lstStyle/>
                    <a:p>
                      <a:r>
                        <a:rPr lang="en-US" noProof="0" dirty="0"/>
                        <a:t>Create Sprint planning Task </a:t>
                      </a:r>
                      <a:r>
                        <a:rPr lang="en-US" b="1" noProof="0" dirty="0"/>
                        <a:t>Sprint 3</a:t>
                      </a:r>
                    </a:p>
                  </a:txBody>
                  <a:tcPr/>
                </a:tc>
                <a:tc>
                  <a:txBody>
                    <a:bodyPr/>
                    <a:lstStyle/>
                    <a:p>
                      <a:r>
                        <a:rPr lang="en-US" noProof="0" dirty="0"/>
                        <a:t>Mandatory</a:t>
                      </a:r>
                    </a:p>
                  </a:txBody>
                  <a:tcPr/>
                </a:tc>
                <a:extLst>
                  <a:ext uri="{0D108BD9-81ED-4DB2-BD59-A6C34878D82A}">
                    <a16:rowId xmlns:a16="http://schemas.microsoft.com/office/drawing/2014/main" val="4174959275"/>
                  </a:ext>
                </a:extLst>
              </a:tr>
              <a:tr h="539605">
                <a:tc>
                  <a:txBody>
                    <a:bodyPr/>
                    <a:lstStyle/>
                    <a:p>
                      <a:r>
                        <a:rPr lang="en-US" noProof="0" dirty="0"/>
                        <a:t>Create tasks for Daily meetings (3 per week avg)</a:t>
                      </a:r>
                    </a:p>
                  </a:txBody>
                  <a:tcPr/>
                </a:tc>
                <a:tc>
                  <a:txBody>
                    <a:bodyPr/>
                    <a:lstStyle/>
                    <a:p>
                      <a:r>
                        <a:rPr lang="en-US" noProof="0" dirty="0"/>
                        <a:t>Mandatory</a:t>
                      </a:r>
                    </a:p>
                  </a:txBody>
                  <a:tcPr/>
                </a:tc>
                <a:extLst>
                  <a:ext uri="{0D108BD9-81ED-4DB2-BD59-A6C34878D82A}">
                    <a16:rowId xmlns:a16="http://schemas.microsoft.com/office/drawing/2014/main" val="401374395"/>
                  </a:ext>
                </a:extLst>
              </a:tr>
              <a:tr h="539605">
                <a:tc>
                  <a:txBody>
                    <a:bodyPr/>
                    <a:lstStyle/>
                    <a:p>
                      <a:r>
                        <a:rPr lang="en-US" noProof="0" dirty="0"/>
                        <a:t>Update US and task status on board</a:t>
                      </a:r>
                    </a:p>
                  </a:txBody>
                  <a:tcPr/>
                </a:tc>
                <a:tc>
                  <a:txBody>
                    <a:bodyPr/>
                    <a:lstStyle/>
                    <a:p>
                      <a:r>
                        <a:rPr lang="en-US" noProof="0" dirty="0"/>
                        <a:t>Mandatory</a:t>
                      </a:r>
                    </a:p>
                  </a:txBody>
                  <a:tcPr/>
                </a:tc>
                <a:extLst>
                  <a:ext uri="{0D108BD9-81ED-4DB2-BD59-A6C34878D82A}">
                    <a16:rowId xmlns:a16="http://schemas.microsoft.com/office/drawing/2014/main" val="1787232014"/>
                  </a:ext>
                </a:extLst>
              </a:tr>
              <a:tr h="386188">
                <a:tc>
                  <a:txBody>
                    <a:bodyPr/>
                    <a:lstStyle/>
                    <a:p>
                      <a:r>
                        <a:rPr lang="en-US" noProof="0" dirty="0"/>
                        <a:t>Submit working hours</a:t>
                      </a:r>
                    </a:p>
                  </a:txBody>
                  <a:tcPr/>
                </a:tc>
                <a:tc>
                  <a:txBody>
                    <a:bodyPr/>
                    <a:lstStyle/>
                    <a:p>
                      <a:r>
                        <a:rPr lang="en-US" noProof="0" dirty="0"/>
                        <a:t>Mandatory</a:t>
                      </a:r>
                    </a:p>
                  </a:txBody>
                  <a:tcPr/>
                </a:tc>
                <a:extLst>
                  <a:ext uri="{0D108BD9-81ED-4DB2-BD59-A6C34878D82A}">
                    <a16:rowId xmlns:a16="http://schemas.microsoft.com/office/drawing/2014/main" val="2671708929"/>
                  </a:ext>
                </a:extLst>
              </a:tr>
              <a:tr h="539605">
                <a:tc>
                  <a:txBody>
                    <a:bodyPr/>
                    <a:lstStyle/>
                    <a:p>
                      <a:r>
                        <a:rPr lang="en-US" noProof="0" dirty="0"/>
                        <a:t>Include outstanding items from Sprint 1 and Sprint 2</a:t>
                      </a:r>
                    </a:p>
                  </a:txBody>
                  <a:tcPr/>
                </a:tc>
                <a:tc>
                  <a:txBody>
                    <a:bodyPr/>
                    <a:lstStyle/>
                    <a:p>
                      <a:r>
                        <a:rPr lang="en-US" noProof="0" dirty="0"/>
                        <a:t>Discretionary</a:t>
                      </a:r>
                    </a:p>
                  </a:txBody>
                  <a:tcPr/>
                </a:tc>
                <a:extLst>
                  <a:ext uri="{0D108BD9-81ED-4DB2-BD59-A6C34878D82A}">
                    <a16:rowId xmlns:a16="http://schemas.microsoft.com/office/drawing/2014/main" val="3893713981"/>
                  </a:ext>
                </a:extLst>
              </a:tr>
              <a:tr h="539605">
                <a:tc>
                  <a:txBody>
                    <a:bodyPr/>
                    <a:lstStyle/>
                    <a:p>
                      <a:r>
                        <a:rPr lang="en-US" b="1" noProof="0" dirty="0"/>
                        <a:t>Include outstanding items from Retrospective</a:t>
                      </a:r>
                    </a:p>
                  </a:txBody>
                  <a:tcPr/>
                </a:tc>
                <a:tc>
                  <a:txBody>
                    <a:bodyPr/>
                    <a:lstStyle/>
                    <a:p>
                      <a:r>
                        <a:rPr lang="en-US" noProof="0" dirty="0"/>
                        <a:t>Mandatory</a:t>
                      </a:r>
                    </a:p>
                  </a:txBody>
                  <a:tcPr/>
                </a:tc>
                <a:extLst>
                  <a:ext uri="{0D108BD9-81ED-4DB2-BD59-A6C34878D82A}">
                    <a16:rowId xmlns:a16="http://schemas.microsoft.com/office/drawing/2014/main" val="2249102662"/>
                  </a:ext>
                </a:extLst>
              </a:tr>
              <a:tr h="539605">
                <a:tc>
                  <a:txBody>
                    <a:bodyPr/>
                    <a:lstStyle/>
                    <a:p>
                      <a:r>
                        <a:rPr lang="en-US" b="1" noProof="0" dirty="0"/>
                        <a:t>Estimate using Planning Poker</a:t>
                      </a:r>
                    </a:p>
                  </a:txBody>
                  <a:tcPr/>
                </a:tc>
                <a:tc>
                  <a:txBody>
                    <a:bodyPr/>
                    <a:lstStyle/>
                    <a:p>
                      <a:r>
                        <a:rPr lang="en-US" noProof="0" dirty="0"/>
                        <a:t>Mandatory</a:t>
                      </a:r>
                    </a:p>
                  </a:txBody>
                  <a:tcPr/>
                </a:tc>
                <a:extLst>
                  <a:ext uri="{0D108BD9-81ED-4DB2-BD59-A6C34878D82A}">
                    <a16:rowId xmlns:a16="http://schemas.microsoft.com/office/drawing/2014/main" val="903718096"/>
                  </a:ext>
                </a:extLst>
              </a:tr>
            </a:tbl>
          </a:graphicData>
        </a:graphic>
      </p:graphicFrame>
    </p:spTree>
    <p:extLst>
      <p:ext uri="{BB962C8B-B14F-4D97-AF65-F5344CB8AC3E}">
        <p14:creationId xmlns:p14="http://schemas.microsoft.com/office/powerpoint/2010/main" val="191838136"/>
      </p:ext>
    </p:extLst>
  </p:cSld>
  <p:clrMapOvr>
    <a:masterClrMapping/>
  </p:clrMapOvr>
  <p:transition spd="med">
    <p:fade/>
  </p:transition>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team work">
            <a:extLst>
              <a:ext uri="{FF2B5EF4-FFF2-40B4-BE49-F238E27FC236}">
                <a16:creationId xmlns:a16="http://schemas.microsoft.com/office/drawing/2014/main" id="{63305713-9999-B782-17EA-DC85021DE3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719"/>
          <a:stretch/>
        </p:blipFill>
        <p:spPr bwMode="auto">
          <a:xfrm>
            <a:off x="0" y="947824"/>
            <a:ext cx="9906000" cy="59101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theme/theme1.xml><?xml version="1.0" encoding="utf-8"?>
<a:theme xmlns:a="http://schemas.openxmlformats.org/drawingml/2006/main" name="1_ISEP">
  <a:themeElements>
    <a:clrScheme name="Laranja-avermelhado">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04904d-c619-4467-a32f-09812827fd8e">
      <Terms xmlns="http://schemas.microsoft.com/office/infopath/2007/PartnerControls"/>
    </lcf76f155ced4ddcb4097134ff3c332f>
    <TaxCatchAll xmlns="b4fdeaeb-cd21-48a0-91d3-a71b662e0a0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A52B1E44048D8469E872E4EAE2C3404" ma:contentTypeVersion="11" ma:contentTypeDescription="Create a new document." ma:contentTypeScope="" ma:versionID="1fb8f859eac8c19384fffab14006b26e">
  <xsd:schema xmlns:xsd="http://www.w3.org/2001/XMLSchema" xmlns:xs="http://www.w3.org/2001/XMLSchema" xmlns:p="http://schemas.microsoft.com/office/2006/metadata/properties" xmlns:ns2="ed04904d-c619-4467-a32f-09812827fd8e" xmlns:ns3="b4fdeaeb-cd21-48a0-91d3-a71b662e0a05" targetNamespace="http://schemas.microsoft.com/office/2006/metadata/properties" ma:root="true" ma:fieldsID="5da07526671760a100720c9ad43ccdad" ns2:_="" ns3:_="">
    <xsd:import namespace="ed04904d-c619-4467-a32f-09812827fd8e"/>
    <xsd:import namespace="b4fdeaeb-cd21-48a0-91d3-a71b662e0a0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04904d-c619-4467-a32f-09812827fd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d39c20-4416-4a86-a41d-df69d8f2de9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fdeaeb-cd21-48a0-91d3-a71b662e0a0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915ae7b-29a8-45ec-b859-842c81a716b0}" ma:internalName="TaxCatchAll" ma:showField="CatchAllData" ma:web="b4fdeaeb-cd21-48a0-91d3-a71b662e0a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9B87164-EF5F-43C8-917E-48B38ACAFD1E}">
  <ds:schemaRefs>
    <ds:schemaRef ds:uri="ed04904d-c619-4467-a32f-09812827fd8e"/>
    <ds:schemaRef ds:uri="http://schemas.openxmlformats.org/package/2006/metadata/core-properties"/>
    <ds:schemaRef ds:uri="http://schemas.microsoft.com/office/2006/documentManagement/types"/>
    <ds:schemaRef ds:uri="http://purl.org/dc/elements/1.1/"/>
    <ds:schemaRef ds:uri="http://www.w3.org/XML/1998/namespace"/>
    <ds:schemaRef ds:uri="http://purl.org/dc/terms/"/>
    <ds:schemaRef ds:uri="http://schemas.microsoft.com/office/2006/metadata/properties"/>
    <ds:schemaRef ds:uri="http://schemas.microsoft.com/office/infopath/2007/PartnerControls"/>
    <ds:schemaRef ds:uri="b4fdeaeb-cd21-48a0-91d3-a71b662e0a05"/>
    <ds:schemaRef ds:uri="http://purl.org/dc/dcmitype/"/>
  </ds:schemaRefs>
</ds:datastoreItem>
</file>

<file path=customXml/itemProps2.xml><?xml version="1.0" encoding="utf-8"?>
<ds:datastoreItem xmlns:ds="http://schemas.openxmlformats.org/officeDocument/2006/customXml" ds:itemID="{4F984168-AABC-4753-B4EC-59CA9D08839F}">
  <ds:schemaRefs>
    <ds:schemaRef ds:uri="http://schemas.microsoft.com/sharepoint/v3/contenttype/forms"/>
  </ds:schemaRefs>
</ds:datastoreItem>
</file>

<file path=customXml/itemProps3.xml><?xml version="1.0" encoding="utf-8"?>
<ds:datastoreItem xmlns:ds="http://schemas.openxmlformats.org/officeDocument/2006/customXml" ds:itemID="{5B7B0D88-2E58-45D4-84CA-91A7BE6DBA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04904d-c619-4467-a32f-09812827fd8e"/>
    <ds:schemaRef ds:uri="b4fdeaeb-cd21-48a0-91d3-a71b662e0a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7100</TotalTime>
  <Words>1388</Words>
  <Application>Microsoft Office PowerPoint</Application>
  <PresentationFormat>A4 Paper (210x297 mm)</PresentationFormat>
  <Paragraphs>426</Paragraphs>
  <Slides>20</Slides>
  <Notes>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5" baseType="lpstr">
      <vt:lpstr>Arial</vt:lpstr>
      <vt:lpstr>Calibri</vt:lpstr>
      <vt:lpstr>Kozuka Gothic Pro M</vt:lpstr>
      <vt:lpstr>1_ISEP</vt:lpstr>
      <vt:lpstr>Package</vt:lpstr>
      <vt:lpstr>Logistics On Rails - SPRINT 3  G052</vt:lpstr>
      <vt:lpstr>Sprint planning – Sprint 3</vt:lpstr>
      <vt:lpstr>Sprint 3 planning</vt:lpstr>
      <vt:lpstr>Sprint 3 planning</vt:lpstr>
      <vt:lpstr>Sprint 3 planning</vt:lpstr>
      <vt:lpstr>Sprint 3 planning</vt:lpstr>
      <vt:lpstr>Sprint 3 planning</vt:lpstr>
      <vt:lpstr>Work assigned by team member</vt:lpstr>
      <vt:lpstr> Work assigned by type (component)</vt:lpstr>
      <vt:lpstr>Issues / Assumptions / unanswered questions</vt:lpstr>
      <vt:lpstr>Daily Meetings</vt:lpstr>
      <vt:lpstr>Daily Meetings</vt:lpstr>
      <vt:lpstr>LLM performance assessment - Input (use ChatGPT or Copilot)</vt:lpstr>
      <vt:lpstr>LLM performance assessment - Output</vt:lpstr>
      <vt:lpstr>LLM performance assessment – Critical Insight</vt:lpstr>
      <vt:lpstr>Sprint Retrospective                        Date: 4th December </vt:lpstr>
      <vt:lpstr>Sprint Retrospective                        Date: 4th December </vt:lpstr>
      <vt:lpstr>Overall Project Performance:</vt:lpstr>
      <vt:lpstr>Checklist Sprint 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Diapositivo 1</dc:title>
  <dc:creator>FlavioRamos</dc:creator>
  <cp:lastModifiedBy>Maria Teixeira Pinto</cp:lastModifiedBy>
  <cp:revision>502</cp:revision>
  <dcterms:created xsi:type="dcterms:W3CDTF">2010-10-20T15:48:12Z</dcterms:created>
  <dcterms:modified xsi:type="dcterms:W3CDTF">2026-01-04T21:26:09Z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0x010100BA52B1E44048D8469E872E4EAE2C3404</vt:lpwstr>
  </property>
  <property fmtid="{D5CDD505-2E9C-101B-9397-08002B2CF9AE}" pid="3" name="MediaServiceImageTags">
    <vt:lpwstr/>
  </property>
</Properties>
</file>