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A0_0.xml" ContentType="application/vnd.ms-powerpoint.comments+xml"/>
  <Override PartName="/ppt/comments/modernComment_199_E8DB507.xml" ContentType="application/vnd.ms-powerpoint.comments+xml"/>
  <Override PartName="/ppt/comments/modernComment_194_F8C0A913.xml" ContentType="application/vnd.ms-powerpoint.comments+xml"/>
  <Override PartName="/ppt/comments/modernComment_1A1_F9877B76.xml" ContentType="application/vnd.ms-powerpoint.comments+xml"/>
  <Override PartName="/ppt/comments/modernComment_1A2_D7A419EB.xml" ContentType="application/vnd.ms-powerpoint.comments+xml"/>
  <Override PartName="/ppt/comments/modernComment_1A3_CB3FE931.xml" ContentType="application/vnd.ms-powerpoint.comments+xml"/>
  <Override PartName="/ppt/comments/modernComment_196_73C95D57.xml" ContentType="application/vnd.ms-powerpoint.comment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omments/modernComment_197_300F0B25.xml" ContentType="application/vnd.ms-powerpoint.comment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omments/modernComment_19B_4BDE2BB0.xml" ContentType="application/vnd.ms-powerpoint.comments+xml"/>
  <Override PartName="/ppt/comments/modernComment_19A_18A78E8B.xml" ContentType="application/vnd.ms-powerpoint.comments+xml"/>
  <Override PartName="/ppt/comments/modernComment_19C_3254ACBA.xml" ContentType="application/vnd.ms-powerpoint.comments+xml"/>
  <Override PartName="/ppt/comments/modernComment_19E_492D5C77.xml" ContentType="application/vnd.ms-powerpoint.comments+xml"/>
  <Override PartName="/ppt/comments/modernComment_18E_C1BAF422.xml" ContentType="application/vnd.ms-powerpoint.comments+xml"/>
  <Override PartName="/ppt/comments/modernComment_19D_E1DEDD0F.xml" ContentType="application/vnd.ms-powerpoint.comments+xml"/>
  <Override PartName="/ppt/notesSlides/notesSlide2.xml" ContentType="application/vnd.openxmlformats-officedocument.presentationml.notesSlide+xml"/>
  <Override PartName="/ppt/comments/modernComment_195_4E28A34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22"/>
  </p:notesMasterIdLst>
  <p:sldIdLst>
    <p:sldId id="416" r:id="rId5"/>
    <p:sldId id="409" r:id="rId6"/>
    <p:sldId id="404" r:id="rId7"/>
    <p:sldId id="417" r:id="rId8"/>
    <p:sldId id="418" r:id="rId9"/>
    <p:sldId id="419" r:id="rId10"/>
    <p:sldId id="406" r:id="rId11"/>
    <p:sldId id="407" r:id="rId12"/>
    <p:sldId id="408" r:id="rId13"/>
    <p:sldId id="411" r:id="rId14"/>
    <p:sldId id="410" r:id="rId15"/>
    <p:sldId id="412" r:id="rId16"/>
    <p:sldId id="414" r:id="rId17"/>
    <p:sldId id="398" r:id="rId18"/>
    <p:sldId id="413" r:id="rId19"/>
    <p:sldId id="405" r:id="rId20"/>
    <p:sldId id="387" r:id="rId21"/>
  </p:sldIdLst>
  <p:sldSz cx="9906000" cy="6858000" type="A4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C1A558A-D303-65E2-8988-E9D20194D4E8}" name="Ana Barata" initials="AB" userId="S::abt@isep.ipp.pt::5b353bcc-9c20-4dd6-9ceb-f15a7e5b320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8600"/>
    <a:srgbClr val="A85432"/>
    <a:srgbClr val="404040"/>
    <a:srgbClr val="7F7F7F"/>
    <a:srgbClr val="FF6600"/>
    <a:srgbClr val="5B5B5B"/>
    <a:srgbClr val="7F7F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6293FF-C825-4DDA-8E18-A683D7457CD5}" v="1" dt="2025-11-18T18:36:51.5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12C8C85-51F0-491E-9774-3900AFEF0FD7}" styleName="Estilo Claro 2 - Destaqu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Estilo Claro 1 - Destaqu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38B1855-1B75-4FBE-930C-398BA8C253C6}" styleName="Estilo com Tema 2 - Destaqu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2DE63D5-997A-4646-A377-4702673A728D}" styleName="Estilo Claro 2 - Destaqu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3296810-A885-4BE3-A3E7-6D5BEEA58F35}" styleName="Estilo Médio 2 - Destaqu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190" autoAdjust="0"/>
    <p:restoredTop sz="94737" autoAdjust="0"/>
  </p:normalViewPr>
  <p:slideViewPr>
    <p:cSldViewPr>
      <p:cViewPr varScale="1">
        <p:scale>
          <a:sx n="105" d="100"/>
          <a:sy n="105" d="100"/>
        </p:scale>
        <p:origin x="1056" y="10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noProof="0" dirty="0"/>
              <a:t>Number</a:t>
            </a:r>
            <a:r>
              <a:rPr lang="pt-PT" baseline="0" noProof="0" dirty="0"/>
              <a:t> of</a:t>
            </a:r>
            <a:r>
              <a:rPr lang="pt-PT" noProof="0" dirty="0"/>
              <a:t> Hours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PT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Folha1!$B$1</c:f>
              <c:strCache>
                <c:ptCount val="1"/>
                <c:pt idx="0">
                  <c:v>Horas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Folha1!$A$2:$A$6</c:f>
              <c:strCache>
                <c:ptCount val="5"/>
                <c:pt idx="0">
                  <c:v>Francisco</c:v>
                </c:pt>
                <c:pt idx="1">
                  <c:v>Gabriel</c:v>
                </c:pt>
                <c:pt idx="2">
                  <c:v>Gonçalo</c:v>
                </c:pt>
                <c:pt idx="3">
                  <c:v>Maria</c:v>
                </c:pt>
                <c:pt idx="4">
                  <c:v>Paulo</c:v>
                </c:pt>
              </c:strCache>
            </c:strRef>
          </c:cat>
          <c:val>
            <c:numRef>
              <c:f>Folha1!$B$2:$B$6</c:f>
              <c:numCache>
                <c:formatCode>General</c:formatCode>
                <c:ptCount val="5"/>
                <c:pt idx="0">
                  <c:v>34</c:v>
                </c:pt>
                <c:pt idx="1">
                  <c:v>28</c:v>
                </c:pt>
                <c:pt idx="2">
                  <c:v>51</c:v>
                </c:pt>
                <c:pt idx="3">
                  <c:v>37</c:v>
                </c:pt>
                <c:pt idx="4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486-4A64-B307-80E9A35904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1907944"/>
        <c:axId val="691902368"/>
      </c:barChart>
      <c:catAx>
        <c:axId val="6919079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1902368"/>
        <c:crosses val="autoZero"/>
        <c:auto val="1"/>
        <c:lblAlgn val="ctr"/>
        <c:lblOffset val="100"/>
        <c:noMultiLvlLbl val="0"/>
      </c:catAx>
      <c:valAx>
        <c:axId val="6919023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19079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pt-PT" noProof="0" dirty="0"/>
              <a:t>Epic or Component or UC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Folha1!$B$1</c:f>
              <c:strCache>
                <c:ptCount val="1"/>
                <c:pt idx="0">
                  <c:v>Componente</c:v>
                </c:pt>
              </c:strCache>
            </c:strRef>
          </c:tx>
          <c:dPt>
            <c:idx val="0"/>
            <c:bubble3D val="0"/>
            <c:spPr>
              <a:solidFill>
                <a:schemeClr val="tx2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D5E-44D3-AE05-D0CC3596364F}"/>
              </c:ext>
            </c:extLst>
          </c:dPt>
          <c:dPt>
            <c:idx val="1"/>
            <c:bubble3D val="0"/>
            <c:spPr>
              <a:solidFill>
                <a:schemeClr val="accent5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D5E-44D3-AE05-D0CC3596364F}"/>
              </c:ext>
            </c:extLst>
          </c:dPt>
          <c:dPt>
            <c:idx val="2"/>
            <c:bubble3D val="0"/>
            <c:spPr>
              <a:solidFill>
                <a:schemeClr val="accent1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D5E-44D3-AE05-D0CC3596364F}"/>
              </c:ext>
            </c:extLst>
          </c:dPt>
          <c:dPt>
            <c:idx val="3"/>
            <c:bubble3D val="0"/>
            <c:spPr>
              <a:solidFill>
                <a:schemeClr val="bg2">
                  <a:lumMod val="20000"/>
                  <a:lumOff val="8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D5E-44D3-AE05-D0CC3596364F}"/>
              </c:ext>
            </c:extLst>
          </c:dPt>
          <c:cat>
            <c:strRef>
              <c:f>Folha1!$A$2:$A$5</c:f>
              <c:strCache>
                <c:ptCount val="4"/>
                <c:pt idx="0">
                  <c:v>BDDAD</c:v>
                </c:pt>
                <c:pt idx="1">
                  <c:v>ESINF</c:v>
                </c:pt>
                <c:pt idx="2">
                  <c:v>LAPR3</c:v>
                </c:pt>
                <c:pt idx="3">
                  <c:v>ARQCP</c:v>
                </c:pt>
              </c:strCache>
            </c:strRef>
          </c:cat>
          <c:val>
            <c:numRef>
              <c:f>Folha1!$B$2:$B$5</c:f>
              <c:numCache>
                <c:formatCode>General</c:formatCode>
                <c:ptCount val="4"/>
                <c:pt idx="0">
                  <c:v>27</c:v>
                </c:pt>
                <c:pt idx="1">
                  <c:v>40</c:v>
                </c:pt>
                <c:pt idx="2">
                  <c:v>46</c:v>
                </c:pt>
                <c:pt idx="3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C6-47B5-9769-0633602DAA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9"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omments/modernComment_1A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A05288D-53D7-4485-9EC0-C6B72816DB2A}" authorId="{6C1A558A-D303-65E2-8988-E9D20194D4E8}" created="2024-10-22T15:29:55.765">
    <pc:sldMkLst xmlns:pc="http://schemas.microsoft.com/office/powerpoint/2013/main/command">
      <pc:docMk/>
      <pc:sldMk cId="0" sldId="295"/>
    </pc:sldMkLst>
    <p188:txBody>
      <a:bodyPr/>
      <a:lstStyle/>
      <a:p>
        <a:r>
          <a:rPr lang="en-US"/>
          <a:t>Team and SPrint identification</a:t>
        </a:r>
      </a:p>
    </p188:txBody>
  </p188:cm>
</p188:cmLst>
</file>

<file path=ppt/comments/modernComment_1A1_F9877B7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A9E8CE7-ABFC-4E3E-B9B6-CB55445884A0}" authorId="{6C1A558A-D303-65E2-8988-E9D20194D4E8}" created="2024-10-22T15:29:00.575">
    <pc:sldMkLst xmlns:pc="http://schemas.microsoft.com/office/powerpoint/2013/main/command">
      <pc:docMk/>
      <pc:sldMk cId="4173375763" sldId="404"/>
    </pc:sldMkLst>
    <p188:txBody>
      <a:bodyPr/>
      <a:lstStyle/>
      <a:p>
        <a:r>
          <a:rPr lang="en-GB"/>
          <a:t>Duplicate this slide as many times as you need. This information must be taken from the Project Board and correspond to the  real number of assigned US.</a:t>
        </a:r>
      </a:p>
    </p188:txBody>
  </p188:cm>
</p188:cmLst>
</file>

<file path=ppt/comments/modernComment_1A2_D7A419E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DBC640A-572C-4CF1-8A4C-EA2CA8B170E3}" authorId="{6C1A558A-D303-65E2-8988-E9D20194D4E8}" created="2024-10-22T15:29:00.575">
    <pc:sldMkLst xmlns:pc="http://schemas.microsoft.com/office/powerpoint/2013/main/command">
      <pc:docMk/>
      <pc:sldMk cId="4173375763" sldId="404"/>
    </pc:sldMkLst>
    <p188:txBody>
      <a:bodyPr/>
      <a:lstStyle/>
      <a:p>
        <a:r>
          <a:rPr lang="en-GB"/>
          <a:t>Duplicate this slide as many times as you need. This information must be taken from the Project Board and correspond to the  real number of assigned US.</a:t>
        </a:r>
      </a:p>
    </p188:txBody>
  </p188:cm>
</p188:cmLst>
</file>

<file path=ppt/comments/modernComment_1A3_CB3FE93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70B9441-A753-4E35-A9EF-A557C9564A10}" authorId="{6C1A558A-D303-65E2-8988-E9D20194D4E8}" created="2024-10-22T15:29:00.575">
    <pc:sldMkLst xmlns:pc="http://schemas.microsoft.com/office/powerpoint/2013/main/command">
      <pc:docMk/>
      <pc:sldMk cId="4173375763" sldId="404"/>
    </pc:sldMkLst>
    <p188:txBody>
      <a:bodyPr/>
      <a:lstStyle/>
      <a:p>
        <a:r>
          <a:rPr lang="en-GB"/>
          <a:t>Duplicate this slide as many times as you need. This information must be taken from the Project Board and correspond to the  real number of assigned US.</a:t>
        </a:r>
      </a:p>
    </p188:txBody>
  </p188:cm>
</p188:cmLst>
</file>

<file path=ppt/comments/modernComment_18E_C1BAF42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607405B-E940-4B98-95CF-CA4CDB891EB4}" authorId="{6C1A558A-D303-65E2-8988-E9D20194D4E8}" created="2025-11-18T14:25:17.707">
    <pc:sldMkLst xmlns:pc="http://schemas.microsoft.com/office/powerpoint/2013/main/command">
      <pc:docMk/>
      <pc:sldMk cId="3250254882" sldId="398"/>
    </pc:sldMkLst>
    <p188:txBody>
      <a:bodyPr/>
      <a:lstStyle/>
      <a:p>
        <a:r>
          <a:rPr lang="en-GB"/>
          <a:t>Team perspective.</a:t>
        </a:r>
      </a:p>
    </p188:txBody>
  </p188:cm>
</p188:cmLst>
</file>

<file path=ppt/comments/modernComment_19A_18A78E8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8F11B5E-A96B-481B-8CB0-A7B8AF14F672}" authorId="{6C1A558A-D303-65E2-8988-E9D20194D4E8}" created="2024-10-22T15:32:15.800">
    <pc:sldMkLst xmlns:pc="http://schemas.microsoft.com/office/powerpoint/2013/main/command">
      <pc:docMk/>
      <pc:sldMk cId="413634187" sldId="410"/>
    </pc:sldMkLst>
    <p188:txBody>
      <a:bodyPr/>
      <a:lstStyle/>
      <a:p>
        <a:r>
          <a:rPr lang="en-GB"/>
          <a:t>To analyse the information registered on the board, from issues to daily meetings, and each team member's performance, and compare it with your own perspective.</a:t>
        </a:r>
      </a:p>
    </p188:txBody>
  </p188:cm>
  <p188:cm id="{04799842-737E-4B2F-88FC-09EA045D1B06}" authorId="{6C1A558A-D303-65E2-8988-E9D20194D4E8}" created="2025-11-18T14:11:19.11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13634187" sldId="410"/>
      <ac:spMk id="2" creationId="{7856DF50-9E5E-4610-FEB2-C4A38022FCFD}"/>
      <ac:txMk cp="0" len="44">
        <ac:context len="362" hash="3278679345"/>
      </ac:txMk>
    </ac:txMkLst>
    <p188:pos x="4527646" y="300009"/>
    <p188:replyLst>
      <p188:reply id="{7C358038-2EFE-4FD9-AACE-A16B19CFCAEA}" authorId="{6C1A558A-D303-65E2-8988-E9D20194D4E8}" created="2025-11-18T14:13:29.820">
        <p188:txBody>
          <a:bodyPr/>
          <a:lstStyle/>
          <a:p>
            <a:r>
              <a:rPr lang="en-GB"/>
              <a:t>Include the source file(s) for all the prompts as an attachment or write down the prompt you used.</a:t>
            </a:r>
          </a:p>
        </p188:txBody>
      </p188:reply>
    </p188:replyLst>
    <p188:txBody>
      <a:bodyPr/>
      <a:lstStyle/>
      <a:p>
        <a:r>
          <a:rPr lang="en-GB"/>
          <a:t>Ask LLM to analyse the daily meetings, and to write a summary evaluating each team member, and for the overall group performance.</a:t>
        </a:r>
      </a:p>
    </p188:txBody>
  </p188:cm>
</p188:cmLst>
</file>

<file path=ppt/comments/modernComment_19B_4BDE2BB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070780B-DB84-4A97-8599-8F8407629B8F}" authorId="{6C1A558A-D303-65E2-8988-E9D20194D4E8}" created="2024-10-22T15:31:18.767">
    <pc:sldMkLst xmlns:pc="http://schemas.microsoft.com/office/powerpoint/2013/main/command">
      <pc:docMk/>
      <pc:sldMk cId="1272851376" sldId="411"/>
    </pc:sldMkLst>
    <p188:txBody>
      <a:bodyPr/>
      <a:lstStyle/>
      <a:p>
        <a:r>
          <a:rPr lang="en-GB"/>
          <a:t>Register the dates of each daily and the attendees</a:t>
        </a:r>
      </a:p>
    </p188:txBody>
  </p188:cm>
</p188:cmLst>
</file>

<file path=ppt/comments/modernComment_19C_3254AC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2E0F32F-B25D-47AC-9887-88A5AA729FD1}" authorId="{6C1A558A-D303-65E2-8988-E9D20194D4E8}" created="2025-11-18T14:15:36.188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44410042" sldId="412"/>
      <ac:spMk id="3" creationId="{41914A20-7452-6770-365F-62A72A9E05A5}"/>
      <ac:txMk cp="0" len="12">
        <ac:context len="719" hash="3632615699"/>
      </ac:txMk>
    </ac:txMkLst>
    <p188:pos x="1326877" y="294628"/>
    <p188:txBody>
      <a:bodyPr/>
      <a:lstStyle/>
      <a:p>
        <a:r>
          <a:rPr lang="en-GB"/>
          <a:t>Include the complete file generated by the A.I. attached to the Report.</a:t>
        </a:r>
      </a:p>
    </p188:txBody>
  </p188:cm>
  <p188:cm id="{15F74BEC-7A85-4342-BC2E-63549E73A1F1}" authorId="{6C1A558A-D303-65E2-8988-E9D20194D4E8}" created="2025-11-18T14:16:43.10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44410042" sldId="412"/>
      <ac:spMk id="3" creationId="{41914A20-7452-6770-365F-62A72A9E05A5}"/>
      <ac:txMk cp="72" len="6">
        <ac:context len="719" hash="3632615699"/>
      </ac:txMk>
    </ac:txMkLst>
    <p188:pos x="878469" y="1209028"/>
    <p188:txBody>
      <a:bodyPr/>
      <a:lstStyle/>
      <a:p>
        <a:r>
          <a:rPr lang="en-GB"/>
          <a:t>Considering the A.I. output, write one or two sentences for each team member.</a:t>
        </a:r>
      </a:p>
    </p188:txBody>
  </p188:cm>
</p188:cmLst>
</file>

<file path=ppt/comments/modernComment_19D_E1DEDD0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0A5048C-38B4-4DBB-A2CD-9FD4AECDF942}" authorId="{6C1A558A-D303-65E2-8988-E9D20194D4E8}" created="2025-11-18T14:27:50.665">
    <pc:sldMkLst xmlns:pc="http://schemas.microsoft.com/office/powerpoint/2013/main/command">
      <pc:docMk/>
      <pc:sldMk cId="3789479183" sldId="413"/>
    </pc:sldMkLst>
    <p188:txBody>
      <a:bodyPr/>
      <a:lstStyle/>
      <a:p>
        <a:r>
          <a:rPr lang="en-GB"/>
          <a:t>Team decisions regarding management-and-performance-related actions to implement in the following sprint - what the team decides to do to improve the work and performance.</a:t>
        </a:r>
      </a:p>
    </p188:txBody>
  </p188:cm>
</p188:cmLst>
</file>

<file path=ppt/comments/modernComment_19E_492D5C7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1EFBD6F-9E35-4A08-A4A7-AC9DA9DBE287}" authorId="{6C1A558A-D303-65E2-8988-E9D20194D4E8}" created="2025-11-18T14:20:38.03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227709559" sldId="414"/>
      <ac:spMk id="3" creationId="{26E8AA96-E4FE-2D1F-50B5-1C90B137D285}"/>
      <ac:txMk cp="0" len="43">
        <ac:context len="1230" hash="1579252111"/>
      </ac:txMk>
    </ac:txMkLst>
    <p188:pos x="5151531" y="294628"/>
    <p188:replyLst>
      <p188:reply id="{84D0B6DB-D87B-4307-83DB-AA9FFBDC45C5}" authorId="{6C1A558A-D303-65E2-8988-E9D20194D4E8}" created="2025-11-18T14:20:56.202">
        <p188:txBody>
          <a:bodyPr/>
          <a:lstStyle/>
          <a:p>
            <a:r>
              <a:rPr lang="en-GB"/>
              <a:t>Be honest, straightforward, clear.</a:t>
            </a:r>
          </a:p>
        </p188:txBody>
      </p188:reply>
    </p188:replyLst>
    <p188:txBody>
      <a:bodyPr/>
      <a:lstStyle/>
      <a:p>
        <a:r>
          <a:rPr lang="en-GB"/>
          <a:t>Comment(s) from the team about the LLM assessment.</a:t>
        </a:r>
      </a:p>
    </p188:txBody>
  </p188:cm>
  <p188:cm id="{A05D0E2E-F0A3-468E-9252-5D486B8205B7}" authorId="{6C1A558A-D303-65E2-8988-E9D20194D4E8}" created="2025-11-18T14:24:44.21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227709559" sldId="414"/>
      <ac:spMk id="3" creationId="{26E8AA96-E4FE-2D1F-50B5-1C90B137D285}"/>
    </ac:deMkLst>
    <p188:txBody>
      <a:bodyPr/>
      <a:lstStyle/>
      <a:p>
        <a:r>
          <a:rPr lang="en-GB"/>
          <a:t>Ask the LLM to suggest ways to improve team performance.
Register the input.</a:t>
        </a:r>
      </a:p>
    </p188:txBody>
  </p188:cm>
</p188:cmLst>
</file>

<file path=ppt/comments/modernComment_194_F8C0A91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B49A45F-1BB2-4EE9-9AC3-E3FE75BDA40D}" authorId="{6C1A558A-D303-65E2-8988-E9D20194D4E8}" created="2024-10-22T15:29:00.575">
    <pc:sldMkLst xmlns:pc="http://schemas.microsoft.com/office/powerpoint/2013/main/command">
      <pc:docMk/>
      <pc:sldMk cId="4173375763" sldId="404"/>
    </pc:sldMkLst>
    <p188:txBody>
      <a:bodyPr/>
      <a:lstStyle/>
      <a:p>
        <a:r>
          <a:rPr lang="en-GB"/>
          <a:t>Duplicate this slide as many times as you need. This information must be taken from the Project Board and correspond to the  real number of assigned US.</a:t>
        </a:r>
      </a:p>
    </p188:txBody>
  </p188:cm>
</p188:cmLst>
</file>

<file path=ppt/comments/modernComment_195_4E28A3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03E0C3C-4021-4A5B-BC00-32E823C80B52}" authorId="{6C1A558A-D303-65E2-8988-E9D20194D4E8}" created="2025-11-18T14:37:56.861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1955380" sldId="405"/>
      <ac:spMk id="2" creationId="{EEE97808-B786-5C10-6A83-416F88B5C6D2}"/>
      <ac:txMk cp="0" len="15">
        <ac:context len="210" hash="1372523180"/>
      </ac:txMk>
    </ac:txMkLst>
    <p188:pos x="1990524" y="665277"/>
    <p188:txBody>
      <a:bodyPr/>
      <a:lstStyle/>
      <a:p>
        <a:r>
          <a:rPr lang="en-GB"/>
          <a:t>Ask the LLM to evaluate the team performance, considering a value from 0 to 5, using intermediate values (e.g., 4.3), and to write a sentence commenting on the evaluation.</a:t>
        </a:r>
      </a:p>
    </p188:txBody>
  </p188:cm>
  <p188:cm id="{F17D478A-07EA-497A-B66D-2884170B6418}" authorId="{6C1A558A-D303-65E2-8988-E9D20194D4E8}" created="2025-11-18T14:40:06.28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81955380" sldId="405"/>
      <ac:spMk id="2" creationId="{EEE97808-B786-5C10-6A83-416F88B5C6D2}"/>
      <ac:txMk cp="175" len="10">
        <ac:context len="210" hash="1372523180"/>
      </ac:txMk>
    </ac:txMkLst>
    <p188:pos x="1968900" y="1362958"/>
    <p188:txBody>
      <a:bodyPr/>
      <a:lstStyle/>
      <a:p>
        <a:r>
          <a:rPr lang="en-GB"/>
          <a:t>Include your team evaluation average. Use the team and self-assessment file information for this item.</a:t>
        </a:r>
      </a:p>
    </p188:txBody>
  </p188:cm>
</p188:cmLst>
</file>

<file path=ppt/comments/modernComment_196_73C95D5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3B10A50-E342-46B1-8A21-69A1F6A00AA6}" authorId="{6C1A558A-D303-65E2-8988-E9D20194D4E8}" created="2024-10-22T15:28:37.653">
    <pc:sldMkLst xmlns:pc="http://schemas.microsoft.com/office/powerpoint/2013/main/command">
      <pc:docMk/>
      <pc:sldMk cId="1942576471" sldId="406"/>
    </pc:sldMkLst>
    <p188:txBody>
      <a:bodyPr/>
      <a:lstStyle/>
      <a:p>
        <a:r>
          <a:rPr lang="en-GB"/>
          <a:t>Este gráfico é apenas um exemplo. 
Devem retirar a informação a partir do menu "insights" no vosso repositório.
Formatem um tipo de gráfico que permita expor o número de tarefas atribuídas e executadas por cada elemento da equipa. Podem incluir todos os elementos, mesmo os que não estão em LAPR3.</a:t>
        </a:r>
      </a:p>
    </p188:txBody>
  </p188:cm>
</p188:cmLst>
</file>

<file path=ppt/comments/modernComment_197_300F0B2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8DB55F9-AD37-4F54-B79F-128CDD8B7F4B}" authorId="{6C1A558A-D303-65E2-8988-E9D20194D4E8}" created="2024-10-22T15:30:53.219">
    <pc:sldMkLst xmlns:pc="http://schemas.microsoft.com/office/powerpoint/2013/main/command">
      <pc:docMk/>
      <pc:sldMk cId="806292261" sldId="407"/>
    </pc:sldMkLst>
    <p188:txBody>
      <a:bodyPr/>
      <a:lstStyle/>
      <a:p>
        <a:r>
          <a:rPr lang="en-US"/>
          <a:t>May be created using the data from the board - workoad in each component from each team member.</a:t>
        </a:r>
      </a:p>
    </p188:txBody>
  </p188:cm>
</p188:cmLst>
</file>

<file path=ppt/comments/modernComment_199_E8DB50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3E5A7E4-8301-4D04-B856-08C35D122170}" authorId="{6C1A558A-D303-65E2-8988-E9D20194D4E8}" created="2024-10-22T15:29:25.154">
    <pc:sldMkLst xmlns:pc="http://schemas.microsoft.com/office/powerpoint/2013/main/command">
      <pc:docMk/>
      <pc:sldMk cId="244167943" sldId="409"/>
    </pc:sldMkLst>
    <p188:txBody>
      <a:bodyPr/>
      <a:lstStyle/>
      <a:p>
        <a:r>
          <a:rPr lang="en-US"/>
          <a:t>According to the information in the board/repository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AA918-AAAF-A948-AD9D-7282A6CA6554}" type="datetimeFigureOut">
              <a:rPr lang="en-US" smtClean="0"/>
              <a:pPr/>
              <a:t>11/23/25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Click to edit Master text styles</a:t>
            </a:r>
          </a:p>
          <a:p>
            <a:pPr lvl="1"/>
            <a:r>
              <a:rPr lang="pt-PT"/>
              <a:t>Second level</a:t>
            </a:r>
          </a:p>
          <a:p>
            <a:pPr lvl="2"/>
            <a:r>
              <a:rPr lang="pt-PT"/>
              <a:t>Third level</a:t>
            </a:r>
          </a:p>
          <a:p>
            <a:pPr lvl="3"/>
            <a:r>
              <a:rPr lang="pt-PT"/>
              <a:t>Fourth level</a:t>
            </a:r>
          </a:p>
          <a:p>
            <a:pPr lvl="4"/>
            <a:r>
              <a:rPr lang="pt-PT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1B708B-99F0-4F4A-8995-6044E0FFF0C7}" type="slidenum">
              <a:rPr lang="pt-PT" smtClean="0"/>
              <a:pPr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64209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B708B-99F0-4F4A-8995-6044E0FFF0C7}" type="slidenum">
              <a:rPr lang="pt-PT" smtClean="0"/>
              <a:pPr/>
              <a:t>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74827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PT" dirty="0" err="1"/>
              <a:t>Add</a:t>
            </a:r>
            <a:r>
              <a:rPr lang="pt-PT" dirty="0"/>
              <a:t> </a:t>
            </a:r>
            <a:r>
              <a:rPr lang="pt-PT" dirty="0" err="1"/>
              <a:t>any</a:t>
            </a:r>
            <a:r>
              <a:rPr lang="pt-PT" dirty="0"/>
              <a:t> slide </a:t>
            </a:r>
            <a:r>
              <a:rPr lang="pt-PT" dirty="0" err="1"/>
              <a:t>you</a:t>
            </a:r>
            <a:r>
              <a:rPr lang="pt-PT" dirty="0"/>
              <a:t> </a:t>
            </a:r>
            <a:r>
              <a:rPr lang="pt-PT" dirty="0" err="1"/>
              <a:t>consider</a:t>
            </a:r>
            <a:r>
              <a:rPr lang="pt-PT" dirty="0"/>
              <a:t> </a:t>
            </a:r>
            <a:r>
              <a:rPr lang="pt-PT" dirty="0" err="1"/>
              <a:t>relevant</a:t>
            </a:r>
            <a:r>
              <a:rPr lang="pt-PT"/>
              <a:t>.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1B708B-99F0-4F4A-8995-6044E0FFF0C7}" type="slidenum">
              <a:rPr lang="pt-PT" smtClean="0"/>
              <a:pPr/>
              <a:t>16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271931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E3986928-2F1A-05D5-49A7-ECF44F7E6983}"/>
              </a:ext>
            </a:extLst>
          </p:cNvPr>
          <p:cNvSpPr/>
          <p:nvPr userDrawn="1"/>
        </p:nvSpPr>
        <p:spPr>
          <a:xfrm>
            <a:off x="1" y="1093304"/>
            <a:ext cx="9906000" cy="57646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/>
              </a:solidFill>
            </a:endParaRPr>
          </a:p>
        </p:txBody>
      </p:sp>
      <p:sp>
        <p:nvSpPr>
          <p:cNvPr id="15" name="Shape 15"/>
          <p:cNvSpPr txBox="1">
            <a:spLocks noGrp="1"/>
          </p:cNvSpPr>
          <p:nvPr>
            <p:ph type="title"/>
          </p:nvPr>
        </p:nvSpPr>
        <p:spPr>
          <a:xfrm>
            <a:off x="414000" y="4000503"/>
            <a:ext cx="8182338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0" i="0" u="none" strike="noStrike" cap="none">
                <a:solidFill>
                  <a:srgbClr val="A5ABB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sp>
        <p:nvSpPr>
          <p:cNvPr id="16" name="Shape 16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1060492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m branco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5343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rgbClr val="000000"/>
              </a:buClr>
              <a:buFont typeface="Calibri"/>
              <a:buNone/>
              <a:defRPr sz="32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body" idx="1"/>
          </p:nvPr>
        </p:nvSpPr>
        <p:spPr>
          <a:xfrm>
            <a:off x="685800" y="1714488"/>
            <a:ext cx="8534399" cy="4305312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2860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•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–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Font typeface="Arial"/>
              <a:buChar char="■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–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spcBef>
                <a:spcPts val="0"/>
              </a:spcBef>
              <a:spcAft>
                <a:spcPts val="400"/>
              </a:spcAft>
              <a:buSzPct val="100000"/>
              <a:buFont typeface="Arial"/>
              <a:buChar char="»"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761D1FC4-6243-41CD-9D5B-A6553C84873C}"/>
              </a:ext>
            </a:extLst>
          </p:cNvPr>
          <p:cNvSpPr/>
          <p:nvPr userDrawn="1"/>
        </p:nvSpPr>
        <p:spPr>
          <a:xfrm>
            <a:off x="579188" y="6525785"/>
            <a:ext cx="145103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1200" b="1" i="1" err="1">
                <a:solidFill>
                  <a:schemeClr val="bg1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Calibri" panose="020F0502020204030204" pitchFamily="34" charset="0"/>
              </a:rPr>
              <a:t>Internal</a:t>
            </a:r>
            <a:r>
              <a:rPr lang="pt-PT" sz="1200" b="1" i="1">
                <a:solidFill>
                  <a:schemeClr val="bg1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Calibri" panose="020F0502020204030204" pitchFamily="34" charset="0"/>
              </a:rPr>
              <a:t> Use </a:t>
            </a:r>
            <a:r>
              <a:rPr lang="pt-PT" sz="1200" b="1" i="1" err="1">
                <a:solidFill>
                  <a:schemeClr val="bg1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Calibri" panose="020F0502020204030204" pitchFamily="34" charset="0"/>
              </a:rPr>
              <a:t>Only</a:t>
            </a:r>
            <a:endParaRPr lang="pt-PT" sz="1200" i="1">
              <a:solidFill>
                <a:schemeClr val="bg1"/>
              </a:solidFill>
              <a:latin typeface="Kozuka Gothic Pro M" panose="020B0700000000000000" pitchFamily="34" charset="-128"/>
              <a:ea typeface="Kozuka Gothic Pro M" panose="020B0700000000000000" pitchFamily="34" charset="-128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65312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>
            <a:spLocks noGrp="1"/>
          </p:cNvSpPr>
          <p:nvPr>
            <p:ph type="title"/>
          </p:nvPr>
        </p:nvSpPr>
        <p:spPr>
          <a:xfrm>
            <a:off x="380967" y="4000503"/>
            <a:ext cx="8215370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1"/>
          </p:nvPr>
        </p:nvSpPr>
        <p:spPr>
          <a:xfrm>
            <a:off x="390552" y="4808553"/>
            <a:ext cx="6848464" cy="406396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●"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○"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■"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●"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400"/>
              </a:spcAft>
              <a:buClr>
                <a:srgbClr val="888888"/>
              </a:buClr>
              <a:buFont typeface="Arial"/>
              <a:buChar char="○"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■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●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○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280"/>
              </a:spcBef>
              <a:buClr>
                <a:srgbClr val="888888"/>
              </a:buClr>
              <a:buFont typeface="Arial"/>
              <a:buChar char="■"/>
              <a:defRPr sz="14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24" name="Shape 24"/>
          <p:cNvSpPr txBox="1">
            <a:spLocks noGrp="1"/>
          </p:cNvSpPr>
          <p:nvPr>
            <p:ph type="dt" idx="10"/>
          </p:nvPr>
        </p:nvSpPr>
        <p:spPr>
          <a:xfrm>
            <a:off x="452406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1898384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414000" y="1000108"/>
            <a:ext cx="9043200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body" idx="1"/>
          </p:nvPr>
        </p:nvSpPr>
        <p:spPr>
          <a:xfrm>
            <a:off x="414000" y="1714486"/>
            <a:ext cx="9043200" cy="458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159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6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397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524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99919366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údo Duplo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7713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414000" y="1696519"/>
            <a:ext cx="4500000" cy="458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159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6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397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524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Shape 35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Shape 36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Shape 37"/>
          <p:cNvSpPr txBox="1">
            <a:spLocks noGrp="1"/>
          </p:cNvSpPr>
          <p:nvPr>
            <p:ph type="body" idx="2"/>
          </p:nvPr>
        </p:nvSpPr>
        <p:spPr>
          <a:xfrm>
            <a:off x="4968000" y="1696519"/>
            <a:ext cx="4500000" cy="458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159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6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397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524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14300" algn="l" rtl="0">
              <a:spcBef>
                <a:spcPts val="360"/>
              </a:spcBef>
              <a:buClr>
                <a:schemeClr val="dk1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908252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39"/>
          <p:cNvSpPr>
            <a:spLocks noGrp="1"/>
          </p:cNvSpPr>
          <p:nvPr>
            <p:ph type="pic" idx="2"/>
          </p:nvPr>
        </p:nvSpPr>
        <p:spPr>
          <a:xfrm>
            <a:off x="414000" y="1004400"/>
            <a:ext cx="9043200" cy="5309999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3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None/>
              <a:defRPr sz="2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400"/>
              </a:spcBef>
              <a:buClr>
                <a:schemeClr val="dk1"/>
              </a:buClr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523843" y="5505467"/>
            <a:ext cx="5943599" cy="3524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wrap="square"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body" idx="1"/>
          </p:nvPr>
        </p:nvSpPr>
        <p:spPr>
          <a:xfrm>
            <a:off x="523843" y="5929330"/>
            <a:ext cx="8858312" cy="27623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●"/>
              <a:defRPr sz="14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○"/>
              <a:defRPr sz="12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0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●"/>
              <a:defRPr sz="9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○"/>
              <a:defRPr sz="9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■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●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○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180"/>
              </a:spcBef>
              <a:buClr>
                <a:schemeClr val="dk1"/>
              </a:buClr>
              <a:buFont typeface="Arial"/>
              <a:buChar char="■"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Shape 42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Shape 44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7615563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 branco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46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5786477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sldNum" idx="12"/>
          </p:nvPr>
        </p:nvSpPr>
        <p:spPr>
          <a:xfrm>
            <a:off x="7596206" y="6492898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pt-PT" sz="120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Shape 49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6105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/>
          </a:p>
        </p:txBody>
      </p:sp>
      <p:sp>
        <p:nvSpPr>
          <p:cNvPr id="50" name="Shape 50"/>
          <p:cNvSpPr txBox="1">
            <a:spLocks noGrp="1"/>
          </p:cNvSpPr>
          <p:nvPr>
            <p:ph type="body" idx="1"/>
          </p:nvPr>
        </p:nvSpPr>
        <p:spPr>
          <a:xfrm>
            <a:off x="685800" y="1714488"/>
            <a:ext cx="8610599" cy="4572031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342900" marR="0" lvl="0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•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742950" marR="0" lvl="1" indent="-17145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143000" marR="0" lvl="2" indent="-2286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Font typeface="Arial"/>
              <a:buChar char="■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600200" marR="0" lvl="3" indent="-1143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–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057400" marR="0" lvl="4" indent="-114300" algn="l" rtl="0">
              <a:spcBef>
                <a:spcPts val="0"/>
              </a:spcBef>
              <a:spcAft>
                <a:spcPts val="400"/>
              </a:spcAft>
              <a:buClr>
                <a:srgbClr val="D8D8D8"/>
              </a:buClr>
              <a:buSzPct val="100000"/>
              <a:buFont typeface="Arial"/>
              <a:buChar char="»"/>
              <a:defRPr sz="1800" b="0" i="0" u="none" strike="noStrike" cap="none">
                <a:solidFill>
                  <a:srgbClr val="D8D8D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514600" marR="0" lvl="5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971800" marR="0" lvl="6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429000" marR="0" lvl="7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886200" marR="0" lvl="8" indent="-101600" algn="l" rtl="0">
              <a:spcBef>
                <a:spcPts val="400"/>
              </a:spcBef>
              <a:buClr>
                <a:schemeClr val="dk1"/>
              </a:buClr>
              <a:buSzPct val="100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1872310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trada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Shape 53"/>
          <p:cNvSpPr txBox="1"/>
          <p:nvPr/>
        </p:nvSpPr>
        <p:spPr>
          <a:xfrm flipH="1">
            <a:off x="6764158" y="4953000"/>
            <a:ext cx="182741" cy="374710"/>
          </a:xfrm>
          <a:prstGeom prst="rect">
            <a:avLst/>
          </a:prstGeom>
          <a:solidFill>
            <a:schemeClr val="lt1">
              <a:alpha val="69803"/>
            </a:schemeClr>
          </a:solidFill>
          <a:ln>
            <a:noFill/>
          </a:ln>
        </p:spPr>
        <p:txBody>
          <a:bodyPr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2000" b="0" i="0" u="none" strike="noStrike" cap="none">
              <a:solidFill>
                <a:srgbClr val="00CAE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6512783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entrada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91598524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squema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4650209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4000" b="1" cap="all" baseline="0"/>
            </a:lvl1pPr>
          </a:lstStyle>
          <a:p>
            <a:r>
              <a:rPr lang="pt-PT" dirty="0"/>
              <a:t>Clique para editar o estilo »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14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23/11/2025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8" name="Marcador de Posição de Conteúdo 2"/>
          <p:cNvSpPr>
            <a:spLocks noGrp="1"/>
          </p:cNvSpPr>
          <p:nvPr>
            <p:ph sz="half" idx="13"/>
          </p:nvPr>
        </p:nvSpPr>
        <p:spPr>
          <a:xfrm>
            <a:off x="4968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721517040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23/11/2025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6106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 dirty="0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 hasCustomPrompt="1"/>
          </p:nvPr>
        </p:nvSpPr>
        <p:spPr>
          <a:xfrm>
            <a:off x="685800" y="1714488"/>
            <a:ext cx="8610600" cy="4572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94208087"/>
      </p:ext>
    </p:extLst>
  </p:cSld>
  <p:clrMapOvr>
    <a:masterClrMapping/>
  </p:clrMapOvr>
  <p:transition spd="med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Em branc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5344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 dirty="0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/>
          </p:nvPr>
        </p:nvSpPr>
        <p:spPr>
          <a:xfrm>
            <a:off x="685800" y="1714488"/>
            <a:ext cx="8534400" cy="4305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>
                <a:solidFill>
                  <a:srgbClr val="D9D9D9"/>
                </a:solidFill>
              </a:defRPr>
            </a:lvl1pPr>
            <a:lvl2pPr>
              <a:defRPr sz="1800">
                <a:solidFill>
                  <a:srgbClr val="D9D9D9"/>
                </a:solidFill>
              </a:defRPr>
            </a:lvl2pPr>
            <a:lvl3pPr>
              <a:defRPr sz="1800">
                <a:solidFill>
                  <a:srgbClr val="D9D9D9"/>
                </a:solidFill>
              </a:defRPr>
            </a:lvl3pPr>
            <a:lvl4pPr>
              <a:defRPr sz="1800">
                <a:solidFill>
                  <a:srgbClr val="D9D9D9"/>
                </a:solidFill>
              </a:defRPr>
            </a:lvl4pPr>
            <a:lvl5pPr>
              <a:defRPr sz="1800">
                <a:solidFill>
                  <a:srgbClr val="D9D9D9"/>
                </a:solidFill>
              </a:defRPr>
            </a:lvl5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792648683"/>
      </p:ext>
    </p:extLst>
  </p:cSld>
  <p:clrMapOvr>
    <a:masterClrMapping/>
  </p:clrMapOvr>
  <p:transition spd="med"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>
            <a:noAutofit/>
          </a:bodyPr>
          <a:lstStyle>
            <a:lvl1pPr>
              <a:defRPr sz="4000" b="1" cap="all" baseline="0"/>
            </a:lvl1pPr>
          </a:lstStyle>
          <a:p>
            <a:r>
              <a:rPr lang="pt-PT" dirty="0"/>
              <a:t>Clique para editar o estilo »</a:t>
            </a:r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14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23/11/2025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8" name="Marcador de Posição de Conteúdo 2"/>
          <p:cNvSpPr>
            <a:spLocks noGrp="1"/>
          </p:cNvSpPr>
          <p:nvPr>
            <p:ph sz="half" idx="13"/>
          </p:nvPr>
        </p:nvSpPr>
        <p:spPr>
          <a:xfrm>
            <a:off x="4968000" y="1696520"/>
            <a:ext cx="4500000" cy="4590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B11A7A-C2E1-40A3-A304-BADFC0305F97}" type="datetimeFigureOut">
              <a:rPr lang="pt-PT" smtClean="0"/>
              <a:pPr/>
              <a:t>23/11/2025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6AC24-9121-4D27-8FE4-0595B5E1EC6D}" type="slidenum">
              <a:rPr lang="pt-PT" smtClean="0"/>
              <a:pPr/>
              <a:t>‹#›</a:t>
            </a:fld>
            <a:endParaRPr lang="pt-PT"/>
          </a:p>
        </p:txBody>
      </p:sp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6106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 dirty="0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 hasCustomPrompt="1"/>
          </p:nvPr>
        </p:nvSpPr>
        <p:spPr>
          <a:xfrm>
            <a:off x="685800" y="1714488"/>
            <a:ext cx="8610600" cy="4572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Em branco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osição do Título 1"/>
          <p:cNvSpPr>
            <a:spLocks noGrp="1"/>
          </p:cNvSpPr>
          <p:nvPr>
            <p:ph type="title"/>
          </p:nvPr>
        </p:nvSpPr>
        <p:spPr>
          <a:xfrm>
            <a:off x="685800" y="1066800"/>
            <a:ext cx="8534400" cy="571504"/>
          </a:xfrm>
          <a:prstGeom prst="rect">
            <a:avLst/>
          </a:prstGeom>
        </p:spPr>
        <p:txBody>
          <a:bodyPr vert="horz" lIns="90000" tIns="45720" rIns="91440" bIns="45720" rtlCol="0" anchor="t" anchorCtr="0">
            <a:noAutofit/>
          </a:bodyPr>
          <a:lstStyle/>
          <a:p>
            <a:r>
              <a:rPr lang="pt-PT" dirty="0"/>
              <a:t>TÍTULO</a:t>
            </a:r>
          </a:p>
        </p:txBody>
      </p:sp>
      <p:sp>
        <p:nvSpPr>
          <p:cNvPr id="6" name="Marcador de Posição do Texto 2"/>
          <p:cNvSpPr>
            <a:spLocks noGrp="1"/>
          </p:cNvSpPr>
          <p:nvPr>
            <p:ph idx="1"/>
          </p:nvPr>
        </p:nvSpPr>
        <p:spPr>
          <a:xfrm>
            <a:off x="685800" y="1714488"/>
            <a:ext cx="8534400" cy="4305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sz="1800">
                <a:solidFill>
                  <a:srgbClr val="D9D9D9"/>
                </a:solidFill>
              </a:defRPr>
            </a:lvl1pPr>
            <a:lvl2pPr>
              <a:defRPr sz="1800">
                <a:solidFill>
                  <a:srgbClr val="D9D9D9"/>
                </a:solidFill>
              </a:defRPr>
            </a:lvl2pPr>
            <a:lvl3pPr>
              <a:defRPr sz="1800">
                <a:solidFill>
                  <a:srgbClr val="D9D9D9"/>
                </a:solidFill>
              </a:defRPr>
            </a:lvl3pPr>
            <a:lvl4pPr>
              <a:defRPr sz="1800">
                <a:solidFill>
                  <a:srgbClr val="D9D9D9"/>
                </a:solidFill>
              </a:defRPr>
            </a:lvl4pPr>
            <a:lvl5pPr>
              <a:defRPr sz="1800">
                <a:solidFill>
                  <a:srgbClr val="D9D9D9"/>
                </a:solidFill>
              </a:defRPr>
            </a:lvl5pPr>
          </a:lstStyle>
          <a:p>
            <a:pPr lvl="0"/>
            <a:r>
              <a:rPr lang="pt-PT" dirty="0"/>
              <a:t>Clique para editar os estilos</a:t>
            </a:r>
          </a:p>
          <a:p>
            <a:pPr lvl="1"/>
            <a:r>
              <a:rPr lang="pt-PT" dirty="0"/>
              <a:t>Segundo nível</a:t>
            </a:r>
          </a:p>
          <a:p>
            <a:pPr lvl="2"/>
            <a:r>
              <a:rPr lang="pt-PT" dirty="0"/>
              <a:t>Terceiro nível</a:t>
            </a:r>
          </a:p>
          <a:p>
            <a:pPr lvl="3"/>
            <a:r>
              <a:rPr lang="pt-PT" dirty="0"/>
              <a:t>Quarto nível</a:t>
            </a:r>
          </a:p>
          <a:p>
            <a:pPr lvl="4"/>
            <a:r>
              <a:rPr lang="pt-PT" dirty="0"/>
              <a:t>Quinto nível</a:t>
            </a:r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CD0DF30C-F77B-4F2F-9EB1-3B93EBB0DB99}"/>
              </a:ext>
            </a:extLst>
          </p:cNvPr>
          <p:cNvSpPr/>
          <p:nvPr userDrawn="1"/>
        </p:nvSpPr>
        <p:spPr>
          <a:xfrm>
            <a:off x="324908" y="6390861"/>
            <a:ext cx="9214886" cy="467139"/>
          </a:xfrm>
          <a:prstGeom prst="roundRect">
            <a:avLst>
              <a:gd name="adj" fmla="val 6170"/>
            </a:avLst>
          </a:prstGeom>
          <a:solidFill>
            <a:srgbClr val="9A1A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rgbClr val="9A1A24"/>
              </a:solidFill>
            </a:endParaRPr>
          </a:p>
        </p:txBody>
      </p:sp>
      <p:sp>
        <p:nvSpPr>
          <p:cNvPr id="10" name="Shape 10"/>
          <p:cNvSpPr txBox="1">
            <a:spLocks noGrp="1"/>
          </p:cNvSpPr>
          <p:nvPr>
            <p:ph type="dt" idx="10"/>
          </p:nvPr>
        </p:nvSpPr>
        <p:spPr>
          <a:xfrm>
            <a:off x="495300" y="6492898"/>
            <a:ext cx="102867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dirty="0"/>
          </a:p>
        </p:txBody>
      </p:sp>
      <p:sp>
        <p:nvSpPr>
          <p:cNvPr id="11" name="Shape 11"/>
          <p:cNvSpPr txBox="1">
            <a:spLocks noGrp="1"/>
          </p:cNvSpPr>
          <p:nvPr>
            <p:ph type="ftr" idx="11"/>
          </p:nvPr>
        </p:nvSpPr>
        <p:spPr>
          <a:xfrm>
            <a:off x="1666851" y="6492898"/>
            <a:ext cx="6831106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ctr" anchorCtr="0"/>
          <a:lstStyle>
            <a:lvl1pPr marL="0" marR="0" lvl="0" indent="0" algn="ctr" rtl="0">
              <a:spcBef>
                <a:spcPts val="0"/>
              </a:spcBef>
              <a:buNone/>
              <a:defRPr sz="1200" b="0" i="1" u="none" strike="noStrike" cap="none">
                <a:solidFill>
                  <a:srgbClr val="888888"/>
                </a:solidFill>
                <a:latin typeface="Kozuka Gothic Pro M" panose="020B0700000000000000" pitchFamily="34" charset="-128"/>
                <a:ea typeface="Kozuka Gothic Pro M" panose="020B0700000000000000" pitchFamily="34" charset="-128"/>
                <a:cs typeface="Arial"/>
                <a:sym typeface="Arial"/>
              </a:defRPr>
            </a:lvl1pPr>
            <a:lvl2pPr marL="45720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pt-PT" dirty="0"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632453" y="6492875"/>
            <a:ext cx="857255" cy="365125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fld id="{00000000-1234-1234-1234-123412341234}" type="slidenum">
              <a:rPr lang="pt-PT"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lang="pt-PT" sz="1200" b="0" i="0" u="none" strike="noStrike" cap="none" dirty="0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Shape 13"/>
          <p:cNvSpPr txBox="1">
            <a:spLocks noGrp="1"/>
          </p:cNvSpPr>
          <p:nvPr>
            <p:ph type="title"/>
          </p:nvPr>
        </p:nvSpPr>
        <p:spPr>
          <a:xfrm>
            <a:off x="685800" y="1066800"/>
            <a:ext cx="8771399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lr>
                <a:schemeClr val="lt1"/>
              </a:buClr>
              <a:buFont typeface="Calibri"/>
              <a:buNone/>
              <a:defRPr sz="3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dirty="0"/>
          </a:p>
        </p:txBody>
      </p:sp>
      <p:pic>
        <p:nvPicPr>
          <p:cNvPr id="15" name="Imagem 14">
            <a:extLst>
              <a:ext uri="{FF2B5EF4-FFF2-40B4-BE49-F238E27FC236}">
                <a16:creationId xmlns:a16="http://schemas.microsoft.com/office/drawing/2014/main" id="{D3441222-7DC4-AAA3-4880-5CB78D81CC04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0" y="-10536"/>
            <a:ext cx="9906000" cy="996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16440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52" r:id="rId14"/>
    <p:sldLayoutId id="2147483655" r:id="rId15"/>
    <p:sldLayoutId id="2147483661" r:id="rId16"/>
  </p:sldLayoutIdLst>
  <p:transition spd="med">
    <p:fad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18/10/relationships/comments" Target="../comments/modernComment_1A0_0.xm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99_E8DB507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94_F8C0A91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A1_F9877B76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A2_D7A419EB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A3_CB3FE93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microsoft.com/office/2018/10/relationships/comments" Target="../comments/modernComment_196_73C95D5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microsoft.com/office/2018/10/relationships/comments" Target="../comments/modernComment_197_300F0B2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9B_4BDE2BB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microsoft.com/office/2018/10/relationships/comments" Target="../comments/modernComment_19A_18A78E8B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microsoft.com/office/2018/10/relationships/comments" Target="../comments/modernComment_19C_3254ACBA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emf"/></Relationships>
</file>

<file path=ppt/slides/_rels/slide1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9E_492D5C77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8E_C1BAF42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9D_E1DEDD0F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95_4E28A3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20BB2CE-AD20-4EB4-9198-1AB0990B2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002" y="2326395"/>
            <a:ext cx="8505945" cy="571503"/>
          </a:xfrm>
        </p:spPr>
        <p:txBody>
          <a:bodyPr/>
          <a:lstStyle/>
          <a:p>
            <a:pPr algn="ctr"/>
            <a:r>
              <a:rPr lang="pt-PT" sz="3200" b="1" kern="1200" noProof="0" dirty="0">
                <a:solidFill>
                  <a:schemeClr val="tx1"/>
                </a:solidFill>
              </a:rPr>
              <a:t>Logistics On Rails - SPRINT 2</a:t>
            </a:r>
            <a:br>
              <a:rPr lang="pt-PT" sz="3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br>
              <a:rPr lang="pt-PT" sz="3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pt-PT" sz="3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G052</a:t>
            </a:r>
            <a:endParaRPr lang="pt-PT" sz="3200" b="1" noProof="0" dirty="0">
              <a:solidFill>
                <a:schemeClr val="tx1"/>
              </a:solidFill>
            </a:endParaRPr>
          </a:p>
        </p:txBody>
      </p:sp>
      <p:sp>
        <p:nvSpPr>
          <p:cNvPr id="4" name="Título 2">
            <a:extLst>
              <a:ext uri="{FF2B5EF4-FFF2-40B4-BE49-F238E27FC236}">
                <a16:creationId xmlns:a16="http://schemas.microsoft.com/office/drawing/2014/main" id="{DB1D8FD1-20D5-4B6F-506E-F430DA26CEBA}"/>
              </a:ext>
            </a:extLst>
          </p:cNvPr>
          <p:cNvSpPr txBox="1">
            <a:spLocks/>
          </p:cNvSpPr>
          <p:nvPr/>
        </p:nvSpPr>
        <p:spPr>
          <a:xfrm>
            <a:off x="857221" y="1536660"/>
            <a:ext cx="8182338" cy="571503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sz="4000" b="0" i="0" u="none" strike="noStrike" cap="none">
                <a:solidFill>
                  <a:srgbClr val="A5ABB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pPr algn="ctr"/>
            <a:r>
              <a:rPr lang="pt-PT" sz="3200" kern="0" noProof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LAPR3 2025/2026</a:t>
            </a:r>
            <a:endParaRPr lang="pt-PT" sz="3200" kern="0" noProof="0" dirty="0">
              <a:solidFill>
                <a:schemeClr val="tx1"/>
              </a:solidFill>
            </a:endParaRP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A7A502EE-944E-4A2F-52C8-1234A7F9536C}"/>
              </a:ext>
            </a:extLst>
          </p:cNvPr>
          <p:cNvGraphicFramePr>
            <a:graphicFrameLocks noGrp="1"/>
          </p:cNvGraphicFramePr>
          <p:nvPr/>
        </p:nvGraphicFramePr>
        <p:xfrm>
          <a:off x="339645" y="3944771"/>
          <a:ext cx="9228475" cy="2058843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845695">
                  <a:extLst>
                    <a:ext uri="{9D8B030D-6E8A-4147-A177-3AD203B41FA5}">
                      <a16:colId xmlns:a16="http://schemas.microsoft.com/office/drawing/2014/main" val="1786404924"/>
                    </a:ext>
                  </a:extLst>
                </a:gridCol>
                <a:gridCol w="1845695">
                  <a:extLst>
                    <a:ext uri="{9D8B030D-6E8A-4147-A177-3AD203B41FA5}">
                      <a16:colId xmlns:a16="http://schemas.microsoft.com/office/drawing/2014/main" val="3388003712"/>
                    </a:ext>
                  </a:extLst>
                </a:gridCol>
                <a:gridCol w="1845695">
                  <a:extLst>
                    <a:ext uri="{9D8B030D-6E8A-4147-A177-3AD203B41FA5}">
                      <a16:colId xmlns:a16="http://schemas.microsoft.com/office/drawing/2014/main" val="3217887647"/>
                    </a:ext>
                  </a:extLst>
                </a:gridCol>
                <a:gridCol w="1845695">
                  <a:extLst>
                    <a:ext uri="{9D8B030D-6E8A-4147-A177-3AD203B41FA5}">
                      <a16:colId xmlns:a16="http://schemas.microsoft.com/office/drawing/2014/main" val="2465101990"/>
                    </a:ext>
                  </a:extLst>
                </a:gridCol>
                <a:gridCol w="1845695">
                  <a:extLst>
                    <a:ext uri="{9D8B030D-6E8A-4147-A177-3AD203B41FA5}">
                      <a16:colId xmlns:a16="http://schemas.microsoft.com/office/drawing/2014/main" val="1554615450"/>
                    </a:ext>
                  </a:extLst>
                </a:gridCol>
              </a:tblGrid>
              <a:tr h="652897"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Francisco Vasconcelos</a:t>
                      </a:r>
                    </a:p>
                    <a:p>
                      <a:pPr algn="ctr"/>
                      <a:r>
                        <a:rPr lang="pt-PT" noProof="0" dirty="0"/>
                        <a:t>(1240934)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Gabriel </a:t>
                      </a:r>
                    </a:p>
                    <a:p>
                      <a:pPr algn="ctr"/>
                      <a:r>
                        <a:rPr lang="pt-PT" noProof="0" dirty="0"/>
                        <a:t>Inácio </a:t>
                      </a:r>
                    </a:p>
                    <a:p>
                      <a:pPr algn="ctr"/>
                      <a:r>
                        <a:rPr lang="pt-PT" noProof="0" dirty="0"/>
                        <a:t>(1240935)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Gonçalo </a:t>
                      </a:r>
                    </a:p>
                    <a:p>
                      <a:pPr algn="ctr"/>
                      <a:r>
                        <a:rPr lang="pt-PT" noProof="0" dirty="0"/>
                        <a:t>Azevedo</a:t>
                      </a:r>
                    </a:p>
                    <a:p>
                      <a:pPr algn="ctr"/>
                      <a:r>
                        <a:rPr lang="pt-PT" noProof="0" dirty="0"/>
                        <a:t>(1240936)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Maria</a:t>
                      </a:r>
                    </a:p>
                    <a:p>
                      <a:pPr algn="ctr"/>
                      <a:r>
                        <a:rPr lang="pt-PT" noProof="0" dirty="0"/>
                        <a:t>Pinto</a:t>
                      </a:r>
                    </a:p>
                    <a:p>
                      <a:pPr algn="ctr"/>
                      <a:r>
                        <a:rPr lang="pt-PT" noProof="0" dirty="0"/>
                        <a:t>(1240892)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Paulo </a:t>
                      </a:r>
                    </a:p>
                    <a:p>
                      <a:pPr algn="ctr"/>
                      <a:r>
                        <a:rPr lang="pt-PT" noProof="0" dirty="0"/>
                        <a:t>Ferreira </a:t>
                      </a:r>
                    </a:p>
                    <a:p>
                      <a:pPr algn="ctr"/>
                      <a:r>
                        <a:rPr lang="pt-PT" noProof="0" dirty="0"/>
                        <a:t>(1240941)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1333584"/>
                  </a:ext>
                </a:extLst>
              </a:tr>
              <a:tr h="1327323">
                <a:tc>
                  <a:txBody>
                    <a:bodyPr/>
                    <a:lstStyle/>
                    <a:p>
                      <a:pPr algn="ctr"/>
                      <a:endParaRPr lang="pt-PT" noProof="0" dirty="0"/>
                    </a:p>
                    <a:p>
                      <a:pPr algn="ctr"/>
                      <a:endParaRPr lang="pt-PT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noProof="0" dirty="0"/>
                    </a:p>
                    <a:p>
                      <a:endParaRPr lang="pt-PT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noProof="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5273831"/>
                  </a:ext>
                </a:extLst>
              </a:tr>
            </a:tbl>
          </a:graphicData>
        </a:graphic>
      </p:graphicFrame>
      <p:pic>
        <p:nvPicPr>
          <p:cNvPr id="6" name="Picture 5" descr="A person in a yellow and blue shirt&#10;&#10;AI-generated content may be incorrect.">
            <a:extLst>
              <a:ext uri="{FF2B5EF4-FFF2-40B4-BE49-F238E27FC236}">
                <a16:creationId xmlns:a16="http://schemas.microsoft.com/office/drawing/2014/main" id="{B4E9B60C-0D7C-65CD-62B9-AE09C6C0A8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3200" y="4734145"/>
            <a:ext cx="1830710" cy="1722850"/>
          </a:xfrm>
          <a:prstGeom prst="rect">
            <a:avLst/>
          </a:prstGeom>
        </p:spPr>
      </p:pic>
      <p:sp>
        <p:nvSpPr>
          <p:cNvPr id="7" name="AutoShape 2">
            <a:extLst>
              <a:ext uri="{FF2B5EF4-FFF2-40B4-BE49-F238E27FC236}">
                <a16:creationId xmlns:a16="http://schemas.microsoft.com/office/drawing/2014/main" id="{295AB9A7-AE2B-2DAC-AB8A-211F89722B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800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PT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1C3C74-A504-18F2-3987-FE5B68D16C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3991" y="4729263"/>
            <a:ext cx="1825522" cy="17228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4F50325-5444-1912-0C6F-569C15B693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9569" y="4729263"/>
            <a:ext cx="1857224" cy="17277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64E35A5-F72D-CDB2-234C-640ACE58E4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540" y="4734145"/>
            <a:ext cx="1833670" cy="17130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25B7F49-5C06-5E66-E757-B26384C6789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01338" y="4726664"/>
            <a:ext cx="1801461" cy="1727733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 dirty="0">
                <a:solidFill>
                  <a:schemeClr val="tx1"/>
                </a:solidFill>
              </a:rPr>
              <a:t>Sprint planning – Sprint 2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E9589D4-96FD-42EC-88BF-AABA0DB7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271755"/>
              </p:ext>
            </p:extLst>
          </p:nvPr>
        </p:nvGraphicFramePr>
        <p:xfrm>
          <a:off x="947555" y="3023955"/>
          <a:ext cx="7830870" cy="2743197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4112855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3718015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PT" dirty="0"/>
                        <a:t>SPRINT BACKLOG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Number of stories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noProof="0" dirty="0"/>
                        <a:t>Number of bugs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noProof="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Number of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570944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Number of Management Tasks (Scrum)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351787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Number of team 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noProof="0" dirty="0"/>
                        <a:t>Planned: 5              Actual: 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310296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noProof="0" dirty="0"/>
                        <a:t>Total planned </a:t>
                      </a:r>
                      <a:r>
                        <a:rPr lang="en-US" b="1" noProof="0" dirty="0"/>
                        <a:t>estimation</a:t>
                      </a:r>
                      <a:r>
                        <a:rPr lang="en-US" noProof="0" dirty="0"/>
                        <a:t> vs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l">
                        <a:buNone/>
                      </a:pPr>
                      <a:r>
                        <a:rPr lang="en-US" u="none" noProof="0" dirty="0"/>
                        <a:t>Planned hours: 172</a:t>
                      </a:r>
                    </a:p>
                    <a:p>
                      <a:pPr marL="0" lvl="0" indent="0" algn="l">
                        <a:buNone/>
                      </a:pPr>
                      <a:r>
                        <a:rPr lang="en-US" u="none" noProof="0" dirty="0"/>
                        <a:t>Executed hours: 162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8989459"/>
                  </a:ext>
                </a:extLst>
              </a:tr>
            </a:tbl>
          </a:graphicData>
        </a:graphic>
      </p:graphicFrame>
      <p:sp>
        <p:nvSpPr>
          <p:cNvPr id="7" name="Marcador de Posição de Conteúdo 5">
            <a:extLst>
              <a:ext uri="{FF2B5EF4-FFF2-40B4-BE49-F238E27FC236}">
                <a16:creationId xmlns:a16="http://schemas.microsoft.com/office/drawing/2014/main" id="{6F8BAF59-30E8-4D49-87D9-D5A1CD648639}"/>
              </a:ext>
            </a:extLst>
          </p:cNvPr>
          <p:cNvSpPr txBox="1">
            <a:spLocks/>
          </p:cNvSpPr>
          <p:nvPr/>
        </p:nvSpPr>
        <p:spPr>
          <a:xfrm>
            <a:off x="448800" y="1626520"/>
            <a:ext cx="9043200" cy="710644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•"/>
              <a:defRPr sz="20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1pPr>
            <a:lvl2pPr marL="742950" indent="-28575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–"/>
              <a:defRPr sz="18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2pPr>
            <a:lvl3pPr marL="1143000" indent="-2286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None/>
              <a:defRPr sz="16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3pPr>
            <a:lvl4pPr marL="1600200" indent="-2286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–"/>
              <a:defRPr sz="14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4pPr>
            <a:lvl5pPr marL="2057400" indent="-228600" algn="l" defTabSz="914400" rtl="0" eaLnBrk="1" latinLnBrk="0" hangingPunct="1">
              <a:spcBef>
                <a:spcPts val="0"/>
              </a:spcBef>
              <a:spcAft>
                <a:spcPts val="400"/>
              </a:spcAft>
              <a:buFont typeface="Arial" pitchFamily="34" charset="0"/>
              <a:buChar char="»"/>
              <a:defRPr sz="1200" kern="1200">
                <a:solidFill>
                  <a:schemeClr val="bg1">
                    <a:lumMod val="85000"/>
                  </a:schemeClr>
                </a:solidFill>
                <a:latin typeface="Calibri"/>
                <a:ea typeface="+mn-ea"/>
                <a:cs typeface="Calibri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Planned Start Date: 27 October                          Real Start Date: 1 November  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Planned End Date:  23 November                       Real End Date: 23 November</a:t>
            </a:r>
          </a:p>
          <a:p>
            <a:pPr marL="0" indent="0">
              <a:buFont typeface="Arial" pitchFamily="34" charset="0"/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67943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219520" cy="571504"/>
          </a:xfrm>
        </p:spPr>
        <p:txBody>
          <a:bodyPr/>
          <a:lstStyle/>
          <a:p>
            <a:r>
              <a:rPr lang="pt-PT" sz="3200" cap="none" noProof="0" dirty="0">
                <a:solidFill>
                  <a:schemeClr val="tx1"/>
                </a:solidFill>
              </a:rPr>
              <a:t>Sprint 2 planning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CE9589D4-96FD-42EC-88BF-AABA0DB75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836932"/>
              </p:ext>
            </p:extLst>
          </p:nvPr>
        </p:nvGraphicFramePr>
        <p:xfrm>
          <a:off x="448799" y="2007261"/>
          <a:ext cx="9008401" cy="3153526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568670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529457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792931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194399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1405178">
                  <a:extLst>
                    <a:ext uri="{9D8B030D-6E8A-4147-A177-3AD203B41FA5}">
                      <a16:colId xmlns:a16="http://schemas.microsoft.com/office/drawing/2014/main" val="405299134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57804420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147570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PT" noProof="0" dirty="0"/>
                        <a:t>Assigned User Stories </a:t>
                      </a:r>
                      <a:r>
                        <a:rPr lang="pt-PT" sz="1200" noProof="0" dirty="0"/>
                        <a:t>(as stated in the project assignment)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Commited?</a:t>
                      </a:r>
                    </a:p>
                    <a:p>
                      <a:pPr algn="ctr"/>
                      <a:r>
                        <a:rPr lang="pt-PT" sz="1200" noProof="0" dirty="0"/>
                        <a:t>Yes / No (according to team planning)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Todo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Doing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Blocked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noProof="0" dirty="0"/>
                        <a:t>USBD21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noProof="0" dirty="0"/>
                        <a:t>USBD22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noProof="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noProof="0" dirty="0"/>
                        <a:t>USBD23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noProof="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09446"/>
                  </a:ext>
                </a:extLst>
              </a:tr>
              <a:tr h="41541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noProof="0" dirty="0"/>
                        <a:t>USBD28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noProof="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51787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noProof="0" dirty="0"/>
                        <a:t>USBD29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10296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noProof="0" dirty="0"/>
                        <a:t>USBD30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989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3375763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01BF1-4B07-864C-3CE2-774C2416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FCDB8514-64FD-93AE-5A70-803D5D454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219520" cy="571504"/>
          </a:xfrm>
        </p:spPr>
        <p:txBody>
          <a:bodyPr/>
          <a:lstStyle/>
          <a:p>
            <a:r>
              <a:rPr lang="pt-PT" sz="3200" cap="none" noProof="0" dirty="0">
                <a:solidFill>
                  <a:schemeClr val="tx1"/>
                </a:solidFill>
              </a:rPr>
              <a:t>Sprint 2 planning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47A3A845-030A-7835-215B-511014E68B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1538146"/>
              </p:ext>
            </p:extLst>
          </p:nvPr>
        </p:nvGraphicFramePr>
        <p:xfrm>
          <a:off x="445547" y="2059941"/>
          <a:ext cx="9014906" cy="2738117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575175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529457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792931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194399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1405178">
                  <a:extLst>
                    <a:ext uri="{9D8B030D-6E8A-4147-A177-3AD203B41FA5}">
                      <a16:colId xmlns:a16="http://schemas.microsoft.com/office/drawing/2014/main" val="405299134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57804420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147570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PT" noProof="0"/>
                        <a:t>Assigned User Stories </a:t>
                      </a:r>
                      <a:r>
                        <a:rPr lang="pt-PT" sz="1200" noProof="0"/>
                        <a:t>(as stated in the project assignment)</a:t>
                      </a:r>
                      <a:endParaRPr lang="pt-PT" sz="1200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Commited?</a:t>
                      </a:r>
                    </a:p>
                    <a:p>
                      <a:pPr algn="ctr"/>
                      <a:r>
                        <a:rPr lang="pt-PT" sz="1200" noProof="0" dirty="0"/>
                        <a:t>Yes / No (according to team planning)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Todo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Doing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Blocked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USEI06</a:t>
                      </a: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USEI07</a:t>
                      </a: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USEI08</a:t>
                      </a: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0944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USEI09 </a:t>
                      </a: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51787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USEI10</a:t>
                      </a: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1029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6405750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2C24B-CA8B-6756-A7BB-316A8DCE5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7B3E71D-AE7C-0BFC-0886-FD77585F8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219520" cy="571504"/>
          </a:xfrm>
        </p:spPr>
        <p:txBody>
          <a:bodyPr/>
          <a:lstStyle/>
          <a:p>
            <a:r>
              <a:rPr lang="pt-PT" sz="3200" cap="none" noProof="0" dirty="0">
                <a:solidFill>
                  <a:schemeClr val="tx1"/>
                </a:solidFill>
              </a:rPr>
              <a:t>Sprint 2 planning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46358FD6-89E2-5655-3F19-A803E99413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7510601"/>
              </p:ext>
            </p:extLst>
          </p:nvPr>
        </p:nvGraphicFramePr>
        <p:xfrm>
          <a:off x="414000" y="2186885"/>
          <a:ext cx="9008401" cy="1996439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568670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529457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792931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194399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1405178">
                  <a:extLst>
                    <a:ext uri="{9D8B030D-6E8A-4147-A177-3AD203B41FA5}">
                      <a16:colId xmlns:a16="http://schemas.microsoft.com/office/drawing/2014/main" val="405299134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57804420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147570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PT" noProof="0" dirty="0"/>
                        <a:t>Assigned User Stories </a:t>
                      </a:r>
                      <a:r>
                        <a:rPr lang="pt-PT" sz="1200" noProof="0" dirty="0"/>
                        <a:t>(as stated in the project assignment)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Commited?</a:t>
                      </a:r>
                    </a:p>
                    <a:p>
                      <a:pPr algn="ctr"/>
                      <a:r>
                        <a:rPr lang="pt-PT" sz="1200" noProof="0" dirty="0"/>
                        <a:t>Yes / No (according to team planning)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Todo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Doing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Blocked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USLP05</a:t>
                      </a: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USLP06</a:t>
                      </a: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USLP07</a:t>
                      </a: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09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7855979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AFED9-3018-7A12-434B-7CDEDF255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4EEE82D-EE41-88C4-E694-C97DEC31C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219520" cy="571504"/>
          </a:xfrm>
        </p:spPr>
        <p:txBody>
          <a:bodyPr/>
          <a:lstStyle/>
          <a:p>
            <a:r>
              <a:rPr lang="pt-PT" sz="3200" cap="none" noProof="0" dirty="0">
                <a:solidFill>
                  <a:schemeClr val="tx1"/>
                </a:solidFill>
              </a:rPr>
              <a:t>Sprint 2 planning</a:t>
            </a: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DCBC1F3E-8FA5-6194-6D9F-A3A1293636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9926030"/>
              </p:ext>
            </p:extLst>
          </p:nvPr>
        </p:nvGraphicFramePr>
        <p:xfrm>
          <a:off x="448799" y="2007261"/>
          <a:ext cx="9008401" cy="426604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568670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529457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792931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194399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1405178">
                  <a:extLst>
                    <a:ext uri="{9D8B030D-6E8A-4147-A177-3AD203B41FA5}">
                      <a16:colId xmlns:a16="http://schemas.microsoft.com/office/drawing/2014/main" val="405299134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578044204"/>
                    </a:ext>
                  </a:extLst>
                </a:gridCol>
                <a:gridCol w="1258883">
                  <a:extLst>
                    <a:ext uri="{9D8B030D-6E8A-4147-A177-3AD203B41FA5}">
                      <a16:colId xmlns:a16="http://schemas.microsoft.com/office/drawing/2014/main" val="3147570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PT" noProof="0" dirty="0"/>
                        <a:t>Assigned User Stories </a:t>
                      </a:r>
                      <a:r>
                        <a:rPr lang="pt-PT" sz="1200" noProof="0" dirty="0"/>
                        <a:t>(as stated in the project assignment)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Commited?</a:t>
                      </a:r>
                    </a:p>
                    <a:p>
                      <a:pPr algn="ctr"/>
                      <a:r>
                        <a:rPr lang="pt-PT" sz="1200" noProof="0" dirty="0"/>
                        <a:t>Yes / No (according to team planning)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Todo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Doing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Testing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Done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Blocked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PT" noProof="0" dirty="0"/>
                        <a:t>USAC01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noProof="0" dirty="0"/>
                        <a:t>USAC02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noProof="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254498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r>
                        <a:rPr lang="pt-PT" noProof="0" dirty="0"/>
                        <a:t>USAC03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noProof="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5709446"/>
                  </a:ext>
                </a:extLst>
              </a:tr>
              <a:tr h="415410">
                <a:tc>
                  <a:txBody>
                    <a:bodyPr/>
                    <a:lstStyle/>
                    <a:p>
                      <a:r>
                        <a:rPr lang="pt-PT" noProof="0" dirty="0"/>
                        <a:t>USAC04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noProof="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51787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noProof="0" dirty="0"/>
                        <a:t>USAC05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10296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noProof="0" dirty="0"/>
                        <a:t>USAC06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8989459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noProof="0" dirty="0"/>
                        <a:t>USAC07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975722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noProof="0" dirty="0"/>
                        <a:t>USAC08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2595146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noProof="0" dirty="0"/>
                        <a:t>USAC09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Yes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endParaRPr lang="pt-PT" noProof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25022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9963313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09C92-6533-459B-B793-05CE76CD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cap="none" noProof="0" dirty="0">
                <a:solidFill>
                  <a:schemeClr val="tx1"/>
                </a:solidFill>
              </a:rPr>
              <a:t>Work assigned by team member</a:t>
            </a:r>
          </a:p>
        </p:txBody>
      </p:sp>
      <p:graphicFrame>
        <p:nvGraphicFramePr>
          <p:cNvPr id="6" name="Gráfico 5">
            <a:extLst>
              <a:ext uri="{FF2B5EF4-FFF2-40B4-BE49-F238E27FC236}">
                <a16:creationId xmlns:a16="http://schemas.microsoft.com/office/drawing/2014/main" id="{CC0ADD5B-A00D-489E-9390-B75485840C8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36335197"/>
              </p:ext>
            </p:extLst>
          </p:nvPr>
        </p:nvGraphicFramePr>
        <p:xfrm>
          <a:off x="1622630" y="1673805"/>
          <a:ext cx="6604000" cy="4402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942576471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D09C92-6533-459B-B793-05CE76CDC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z="3200" cap="none" noProof="0" dirty="0">
                <a:solidFill>
                  <a:schemeClr val="tx1"/>
                </a:solidFill>
              </a:rPr>
              <a:t> Work assigned by type (componente)</a:t>
            </a:r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90ED7699-5188-411A-AA61-860BAD3DF6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91745779"/>
              </p:ext>
            </p:extLst>
          </p:nvPr>
        </p:nvGraphicFramePr>
        <p:xfrm>
          <a:off x="1487615" y="1898830"/>
          <a:ext cx="6604000" cy="4402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06292261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DB96577C-34ED-48A2-A7FD-C6822D879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268760"/>
            <a:ext cx="9043200" cy="571503"/>
          </a:xfrm>
        </p:spPr>
        <p:txBody>
          <a:bodyPr/>
          <a:lstStyle/>
          <a:p>
            <a:r>
              <a:rPr lang="en-US" sz="3200" cap="none" dirty="0">
                <a:solidFill>
                  <a:schemeClr val="tx1"/>
                </a:solidFill>
              </a:rPr>
              <a:t>Issues / Assumptions / unanswered questions</a:t>
            </a:r>
            <a:endParaRPr lang="en-US" sz="3200" cap="none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2765780B-B941-BB03-F491-AFEFC4822F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57998"/>
              </p:ext>
            </p:extLst>
          </p:nvPr>
        </p:nvGraphicFramePr>
        <p:xfrm>
          <a:off x="370845" y="2321485"/>
          <a:ext cx="9129510" cy="221503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3908930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485165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1395155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2340260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</a:tblGrid>
              <a:tr h="630070">
                <a:tc>
                  <a:txBody>
                    <a:bodyPr/>
                    <a:lstStyle/>
                    <a:p>
                      <a:r>
                        <a:rPr lang="en-US" sz="1200" noProof="0" dirty="0"/>
                        <a:t>Description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/>
                        <a:t>Responsible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Date / sprint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noProof="0" dirty="0"/>
                        <a:t>Related issue / </a:t>
                      </a:r>
                    </a:p>
                    <a:p>
                      <a:pPr algn="ctr"/>
                      <a:r>
                        <a:rPr lang="en-US" noProof="0" dirty="0"/>
                        <a:t>item in Git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767830">
                <a:tc>
                  <a:txBody>
                    <a:bodyPr/>
                    <a:lstStyle/>
                    <a:p>
                      <a:pPr algn="ctr"/>
                      <a:endParaRPr lang="pt-PT" b="1" dirty="0"/>
                    </a:p>
                    <a:p>
                      <a:pPr algn="ctr"/>
                      <a:endParaRPr lang="pt-PT" b="1" dirty="0"/>
                    </a:p>
                    <a:p>
                      <a:pPr algn="l"/>
                      <a:r>
                        <a:rPr lang="pt-PT" b="1" dirty="0"/>
                        <a:t>USLP07</a:t>
                      </a:r>
                      <a:r>
                        <a:rPr lang="pt-PT" b="0" dirty="0"/>
                        <a:t> – Local database was used instead of a remote one because the last one couldn´t be established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  <a:p>
                      <a:pPr algn="ctr"/>
                      <a:endParaRPr lang="pt-PT" dirty="0"/>
                    </a:p>
                    <a:p>
                      <a:pPr algn="ctr"/>
                      <a:endParaRPr lang="pt-PT" dirty="0"/>
                    </a:p>
                    <a:p>
                      <a:pPr algn="ctr"/>
                      <a:r>
                        <a:rPr lang="pt-PT" dirty="0"/>
                        <a:t>ALL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PT" dirty="0"/>
                    </a:p>
                    <a:p>
                      <a:pPr algn="ctr"/>
                      <a:endParaRPr lang="pt-PT" dirty="0"/>
                    </a:p>
                    <a:p>
                      <a:pPr algn="ctr"/>
                      <a:endParaRPr lang="pt-PT" dirty="0"/>
                    </a:p>
                    <a:p>
                      <a:pPr algn="ctr"/>
                      <a:r>
                        <a:rPr lang="pt-PT" dirty="0"/>
                        <a:t>Sprint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PT" b="1" dirty="0"/>
                        <a:t>USLP07-</a:t>
                      </a:r>
                      <a:r>
                        <a:rPr lang="pt-PT" dirty="0"/>
                        <a:t> </a:t>
                      </a:r>
                      <a:r>
                        <a:rPr lang="en-US" dirty="0"/>
                        <a:t>As Freight Manager, I want to use a scheduler that allows me to dispatch a list of trains. Each train has an associated route that can be simple or complex.</a:t>
                      </a:r>
                      <a:endParaRPr lang="pt-PT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5336153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329E7-3FFD-D203-2288-6373118FC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94485DCF-CD7D-9487-0175-274A08E05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333" y="1043735"/>
            <a:ext cx="9043200" cy="571503"/>
          </a:xfrm>
        </p:spPr>
        <p:txBody>
          <a:bodyPr/>
          <a:lstStyle/>
          <a:p>
            <a:r>
              <a:rPr lang="pt-PT" sz="3200" cap="none" noProof="0" dirty="0">
                <a:solidFill>
                  <a:schemeClr val="tx1"/>
                </a:solidFill>
              </a:rPr>
              <a:t>Daily Meetings</a:t>
            </a:r>
            <a:endParaRPr lang="pt-PT" sz="3200" cap="none" noProof="0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9A760796-9F6B-C0FD-165B-0762CD07EB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41573"/>
              </p:ext>
            </p:extLst>
          </p:nvPr>
        </p:nvGraphicFramePr>
        <p:xfrm>
          <a:off x="385333" y="1898830"/>
          <a:ext cx="9136015" cy="3730312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125125">
                  <a:extLst>
                    <a:ext uri="{9D8B030D-6E8A-4147-A177-3AD203B41FA5}">
                      <a16:colId xmlns:a16="http://schemas.microsoft.com/office/drawing/2014/main" val="3798560086"/>
                    </a:ext>
                  </a:extLst>
                </a:gridCol>
                <a:gridCol w="1845205">
                  <a:extLst>
                    <a:ext uri="{9D8B030D-6E8A-4147-A177-3AD203B41FA5}">
                      <a16:colId xmlns:a16="http://schemas.microsoft.com/office/drawing/2014/main" val="477562216"/>
                    </a:ext>
                  </a:extLst>
                </a:gridCol>
                <a:gridCol w="1395155">
                  <a:extLst>
                    <a:ext uri="{9D8B030D-6E8A-4147-A177-3AD203B41FA5}">
                      <a16:colId xmlns:a16="http://schemas.microsoft.com/office/drawing/2014/main" val="1777303491"/>
                    </a:ext>
                  </a:extLst>
                </a:gridCol>
                <a:gridCol w="1215135">
                  <a:extLst>
                    <a:ext uri="{9D8B030D-6E8A-4147-A177-3AD203B41FA5}">
                      <a16:colId xmlns:a16="http://schemas.microsoft.com/office/drawing/2014/main" val="4055970072"/>
                    </a:ext>
                  </a:extLst>
                </a:gridCol>
                <a:gridCol w="1170130">
                  <a:extLst>
                    <a:ext uri="{9D8B030D-6E8A-4147-A177-3AD203B41FA5}">
                      <a16:colId xmlns:a16="http://schemas.microsoft.com/office/drawing/2014/main" val="2634392098"/>
                    </a:ext>
                  </a:extLst>
                </a:gridCol>
                <a:gridCol w="1215135">
                  <a:extLst>
                    <a:ext uri="{9D8B030D-6E8A-4147-A177-3AD203B41FA5}">
                      <a16:colId xmlns:a16="http://schemas.microsoft.com/office/drawing/2014/main" val="3954452917"/>
                    </a:ext>
                  </a:extLst>
                </a:gridCol>
                <a:gridCol w="1170130">
                  <a:extLst>
                    <a:ext uri="{9D8B030D-6E8A-4147-A177-3AD203B41FA5}">
                      <a16:colId xmlns:a16="http://schemas.microsoft.com/office/drawing/2014/main" val="1328943202"/>
                    </a:ext>
                  </a:extLst>
                </a:gridCol>
              </a:tblGrid>
              <a:tr h="450050">
                <a:tc>
                  <a:txBody>
                    <a:bodyPr/>
                    <a:lstStyle/>
                    <a:p>
                      <a:r>
                        <a:rPr lang="pt-PT" sz="1200" b="1" i="0" u="none" strike="noStrike" cap="none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Date (of the meeting)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200" b="1" i="0" u="none" strike="noStrike" cap="none" noProof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  <a:sym typeface="Arial"/>
                        </a:rPr>
                        <a:t>Place / duration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noProof="0" dirty="0"/>
                        <a:t>Francisco</a:t>
                      </a:r>
                    </a:p>
                    <a:p>
                      <a:pPr algn="ctr"/>
                      <a:r>
                        <a:rPr lang="pt-PT" sz="1400" noProof="0" dirty="0"/>
                        <a:t>Vasconcelos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noProof="0" dirty="0"/>
                        <a:t>Gabriel</a:t>
                      </a:r>
                    </a:p>
                    <a:p>
                      <a:pPr algn="ctr"/>
                      <a:r>
                        <a:rPr lang="pt-PT" sz="1400" noProof="0" dirty="0"/>
                        <a:t>Inácio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noProof="0" dirty="0"/>
                        <a:t>Gonçalo</a:t>
                      </a:r>
                    </a:p>
                    <a:p>
                      <a:pPr algn="ctr"/>
                      <a:r>
                        <a:rPr lang="pt-PT" sz="1400" noProof="0" dirty="0"/>
                        <a:t>Azevedo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noProof="0" dirty="0"/>
                        <a:t>Maria</a:t>
                      </a:r>
                    </a:p>
                    <a:p>
                      <a:pPr algn="ctr"/>
                      <a:r>
                        <a:rPr lang="pt-PT" sz="1400" noProof="0" dirty="0"/>
                        <a:t>Pinto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400" noProof="0" dirty="0"/>
                        <a:t>Paulo</a:t>
                      </a:r>
                    </a:p>
                    <a:p>
                      <a:pPr algn="ctr"/>
                      <a:r>
                        <a:rPr lang="pt-PT" sz="1400" noProof="0" dirty="0"/>
                        <a:t>Ferreira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3111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pt-PT" noProof="0" dirty="0"/>
                        <a:t>03/11/2025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Online / 10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314903"/>
                  </a:ext>
                </a:extLst>
              </a:tr>
              <a:tr h="36341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noProof="0" dirty="0"/>
                        <a:t>05/11/2025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Online / 10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3517871"/>
                  </a:ext>
                </a:extLst>
              </a:tr>
              <a:tr h="36341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noProof="0" dirty="0"/>
                        <a:t>07/11/2025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Online / 10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1192882"/>
                  </a:ext>
                </a:extLst>
              </a:tr>
              <a:tr h="36341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noProof="0" dirty="0"/>
                        <a:t>10/11/2025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noProof="0" dirty="0"/>
                        <a:t>Online / 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7473310"/>
                  </a:ext>
                </a:extLst>
              </a:tr>
              <a:tr h="36341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noProof="0" dirty="0"/>
                        <a:t>12/11/2025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noProof="0" dirty="0"/>
                        <a:t>Online / 5min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7756997"/>
                  </a:ext>
                </a:extLst>
              </a:tr>
              <a:tr h="36341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noProof="0" dirty="0"/>
                        <a:t>14/11/2025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noProof="0" dirty="0"/>
                        <a:t>Online / 10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4198396"/>
                  </a:ext>
                </a:extLst>
              </a:tr>
              <a:tr h="36341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noProof="0" dirty="0"/>
                        <a:t>17/11/2025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noProof="0" dirty="0"/>
                        <a:t>Online / 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2213997"/>
                  </a:ext>
                </a:extLst>
              </a:tr>
              <a:tr h="363419">
                <a:tc>
                  <a:txBody>
                    <a:bodyPr/>
                    <a:lstStyle/>
                    <a:p>
                      <a:r>
                        <a:rPr lang="pt-PT" noProof="0" dirty="0"/>
                        <a:t>19/11/2025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Online / 8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520658"/>
                  </a:ext>
                </a:extLst>
              </a:tr>
              <a:tr h="36341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t-PT" noProof="0" dirty="0"/>
                        <a:t>21/11/2025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noProof="0" dirty="0"/>
                        <a:t>Online / 5 min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pt-PT" noProof="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4513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851376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CB12B-83CD-A79C-40AB-A4F8FFB78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72D3FC9-4165-9BE5-544E-277A081AC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492000" cy="571503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LLM</a:t>
            </a:r>
            <a:r>
              <a:rPr lang="en-US" sz="3200" cap="none" dirty="0">
                <a:solidFill>
                  <a:schemeClr val="tx1"/>
                </a:solidFill>
              </a:rPr>
              <a:t> performance assessment - Input </a:t>
            </a:r>
            <a:r>
              <a:rPr lang="en-US" sz="2000" cap="none" dirty="0">
                <a:solidFill>
                  <a:schemeClr val="tx1"/>
                </a:solidFill>
              </a:rPr>
              <a:t>(</a:t>
            </a:r>
            <a:r>
              <a:rPr lang="en-US" sz="1400" dirty="0">
                <a:solidFill>
                  <a:schemeClr val="tx1"/>
                </a:solidFill>
              </a:rPr>
              <a:t>use </a:t>
            </a:r>
            <a:r>
              <a:rPr lang="en-US" sz="1400" cap="none" dirty="0">
                <a:solidFill>
                  <a:schemeClr val="tx1"/>
                </a:solidFill>
              </a:rPr>
              <a:t>Copilot with GPT-5 mandatory</a:t>
            </a:r>
            <a:r>
              <a:rPr lang="en-US" sz="2000" cap="none" dirty="0">
                <a:solidFill>
                  <a:schemeClr val="tx1"/>
                </a:solidFill>
              </a:rPr>
              <a:t>)</a:t>
            </a:r>
            <a:endParaRPr lang="en-US" sz="3200" cap="none" dirty="0"/>
          </a:p>
        </p:txBody>
      </p:sp>
      <p:sp>
        <p:nvSpPr>
          <p:cNvPr id="2" name="Título 4">
            <a:extLst>
              <a:ext uri="{FF2B5EF4-FFF2-40B4-BE49-F238E27FC236}">
                <a16:creationId xmlns:a16="http://schemas.microsoft.com/office/drawing/2014/main" id="{7856DF50-9E5E-4610-FEB2-C4A38022FCFD}"/>
              </a:ext>
            </a:extLst>
          </p:cNvPr>
          <p:cNvSpPr txBox="1">
            <a:spLocks/>
          </p:cNvSpPr>
          <p:nvPr/>
        </p:nvSpPr>
        <p:spPr>
          <a:xfrm>
            <a:off x="448800" y="1590337"/>
            <a:ext cx="9043200" cy="3503848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2000" b="0" kern="0" dirty="0">
                <a:solidFill>
                  <a:schemeClr val="tx1"/>
                </a:solidFill>
              </a:rPr>
              <a:t>Source file (attach the file you have used):</a:t>
            </a:r>
          </a:p>
          <a:p>
            <a:endParaRPr lang="en-US" sz="2000" b="0" kern="0" dirty="0">
              <a:solidFill>
                <a:schemeClr val="tx1"/>
              </a:solidFill>
            </a:endParaRPr>
          </a:p>
          <a:p>
            <a:endParaRPr lang="en-US" sz="2000" b="0" kern="0" dirty="0">
              <a:solidFill>
                <a:schemeClr val="tx1"/>
              </a:solidFill>
            </a:endParaRPr>
          </a:p>
          <a:p>
            <a:endParaRPr lang="en-US" sz="2000" b="0" kern="0" dirty="0">
              <a:solidFill>
                <a:schemeClr val="tx1"/>
              </a:solidFill>
            </a:endParaRPr>
          </a:p>
          <a:p>
            <a:r>
              <a:rPr lang="en-US" sz="2000" b="0" kern="0" dirty="0">
                <a:solidFill>
                  <a:schemeClr val="tx1"/>
                </a:solidFill>
              </a:rPr>
              <a:t>Input (write down the prompt you used to ask for the performance assessment):</a:t>
            </a:r>
          </a:p>
          <a:p>
            <a:endParaRPr lang="en-US" sz="2000" b="0" kern="0" dirty="0">
              <a:solidFill>
                <a:schemeClr val="tx1"/>
              </a:solidFill>
            </a:endParaRPr>
          </a:p>
          <a:p>
            <a:r>
              <a:rPr lang="en-US" sz="1600" b="0" kern="0" dirty="0">
                <a:solidFill>
                  <a:schemeClr val="tx1"/>
                </a:solidFill>
              </a:rPr>
              <a:t>“Based on the file containing every member's updates throughout the sprint, write an individual LLM performance assessment for every member and a global one for the whole team, in order to evaluate everyone's personal and teamwork.”</a:t>
            </a:r>
            <a:endParaRPr lang="pt-PT" sz="1600" b="0" kern="0" dirty="0">
              <a:solidFill>
                <a:schemeClr val="tx1"/>
              </a:solidFill>
            </a:endParaRPr>
          </a:p>
          <a:p>
            <a:endParaRPr lang="en-US" sz="2000" b="0" kern="0" dirty="0">
              <a:solidFill>
                <a:schemeClr val="tx1"/>
              </a:solidFill>
            </a:endParaRPr>
          </a:p>
          <a:p>
            <a:endParaRPr lang="en-US" sz="2000" b="0" kern="0" dirty="0">
              <a:solidFill>
                <a:schemeClr val="tx1"/>
              </a:solidFill>
            </a:endParaRP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42FD197-F555-4608-2632-CB7E1CAC71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4103210"/>
              </p:ext>
            </p:extLst>
          </p:nvPr>
        </p:nvGraphicFramePr>
        <p:xfrm>
          <a:off x="448800" y="2168860"/>
          <a:ext cx="914400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3" imgW="914400" imgH="518081" progId="Package">
                  <p:embed/>
                </p:oleObj>
              </mc:Choice>
              <mc:Fallback>
                <p:oleObj name="Packager Shell Object" showAsIcon="1" r:id="rId3" imgW="914400" imgH="51808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8800" y="2168860"/>
                        <a:ext cx="914400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3634187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4E430-2642-81CC-FC5F-10469D768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07C477A9-425C-670A-9E07-3A102D291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 dirty="0">
                <a:solidFill>
                  <a:schemeClr val="tx1"/>
                </a:solidFill>
              </a:rPr>
              <a:t>LLM performance assessment - Output</a:t>
            </a:r>
            <a:endParaRPr lang="en-US" sz="3200" cap="none" dirty="0"/>
          </a:p>
        </p:txBody>
      </p:sp>
      <p:sp>
        <p:nvSpPr>
          <p:cNvPr id="2" name="Título 4">
            <a:extLst>
              <a:ext uri="{FF2B5EF4-FFF2-40B4-BE49-F238E27FC236}">
                <a16:creationId xmlns:a16="http://schemas.microsoft.com/office/drawing/2014/main" id="{5B8695FE-2C17-FCC1-CCC4-8717D8F253C2}"/>
              </a:ext>
            </a:extLst>
          </p:cNvPr>
          <p:cNvSpPr txBox="1">
            <a:spLocks/>
          </p:cNvSpPr>
          <p:nvPr/>
        </p:nvSpPr>
        <p:spPr>
          <a:xfrm>
            <a:off x="448800" y="1590337"/>
            <a:ext cx="9043200" cy="469270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lang="en-US" sz="2000" b="0" kern="0" dirty="0">
              <a:solidFill>
                <a:schemeClr val="tx1"/>
              </a:solidFill>
            </a:endParaRPr>
          </a:p>
        </p:txBody>
      </p:sp>
      <p:sp>
        <p:nvSpPr>
          <p:cNvPr id="3" name="Título 4">
            <a:extLst>
              <a:ext uri="{FF2B5EF4-FFF2-40B4-BE49-F238E27FC236}">
                <a16:creationId xmlns:a16="http://schemas.microsoft.com/office/drawing/2014/main" id="{41914A20-7452-6770-365F-62A72A9E05A5}"/>
              </a:ext>
            </a:extLst>
          </p:cNvPr>
          <p:cNvSpPr txBox="1">
            <a:spLocks/>
          </p:cNvSpPr>
          <p:nvPr/>
        </p:nvSpPr>
        <p:spPr>
          <a:xfrm>
            <a:off x="414000" y="1718810"/>
            <a:ext cx="9043200" cy="469270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2000" kern="0" dirty="0">
                <a:solidFill>
                  <a:schemeClr val="tx1"/>
                </a:solidFill>
              </a:rPr>
              <a:t>Output file </a:t>
            </a:r>
            <a:r>
              <a:rPr lang="en-US" sz="2000" b="0" i="1" kern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(attach the complete file extracted from the A.I. tool):</a:t>
            </a:r>
          </a:p>
          <a:p>
            <a:endParaRPr lang="en-US" sz="2000" b="0" kern="0" dirty="0">
              <a:solidFill>
                <a:schemeClr val="tx1"/>
              </a:solidFill>
            </a:endParaRPr>
          </a:p>
          <a:p>
            <a:endParaRPr lang="en-US" sz="2000" b="0" kern="0" dirty="0">
              <a:solidFill>
                <a:schemeClr val="tx1"/>
              </a:solidFill>
            </a:endParaRPr>
          </a:p>
          <a:p>
            <a:endParaRPr lang="en-US" sz="2000" b="0" kern="0" dirty="0">
              <a:solidFill>
                <a:schemeClr val="tx1"/>
              </a:solidFill>
            </a:endParaRPr>
          </a:p>
          <a:p>
            <a:r>
              <a:rPr lang="en-US" sz="2000" kern="0" dirty="0">
                <a:solidFill>
                  <a:schemeClr val="tx1"/>
                </a:solidFill>
              </a:rPr>
              <a:t>Output</a:t>
            </a:r>
            <a:r>
              <a:rPr lang="en-US" sz="2000" b="0" kern="0" dirty="0">
                <a:solidFill>
                  <a:schemeClr val="tx1"/>
                </a:solidFill>
              </a:rPr>
              <a:t> </a:t>
            </a:r>
            <a:r>
              <a:rPr lang="en-US" sz="2000" b="0" i="1" kern="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(write one line per team member):</a:t>
            </a:r>
          </a:p>
          <a:p>
            <a:endParaRPr lang="en-US" sz="2000" b="0" kern="0" dirty="0">
              <a:solidFill>
                <a:schemeClr val="tx1"/>
              </a:solidFill>
            </a:endParaRPr>
          </a:p>
          <a:p>
            <a:r>
              <a:rPr lang="en-US" sz="1600" b="0" kern="0" dirty="0">
                <a:solidFill>
                  <a:schemeClr val="tx1"/>
                </a:solidFill>
              </a:rPr>
              <a:t>Francisco showed resilience and adaptability, progressing to completion and delivering stable assembly functions.</a:t>
            </a:r>
          </a:p>
          <a:p>
            <a:r>
              <a:rPr lang="en-US" sz="1600" b="0" kern="0" dirty="0">
                <a:solidFill>
                  <a:schemeClr val="tx1"/>
                </a:solidFill>
              </a:rPr>
              <a:t>Gabriel demonstrated precision in expiry handling and modular assembly coding, finalizing multiple assembly tasks.</a:t>
            </a:r>
          </a:p>
          <a:p>
            <a:r>
              <a:rPr lang="en-US" sz="1600" b="0" kern="0" dirty="0">
                <a:solidFill>
                  <a:schemeClr val="tx1"/>
                </a:solidFill>
              </a:rPr>
              <a:t>Gonçalo ensured database stability and query reliability, excelling in relational corrections and buffer logic integration.</a:t>
            </a:r>
          </a:p>
          <a:p>
            <a:r>
              <a:rPr lang="en-US" sz="1600" b="0" kern="0" dirty="0">
                <a:solidFill>
                  <a:schemeClr val="tx1"/>
                </a:solidFill>
              </a:rPr>
              <a:t>Maria reinforced clarity through documentation and contributed steadily to assembly functions and database validation.</a:t>
            </a:r>
          </a:p>
          <a:p>
            <a:r>
              <a:rPr lang="en-US" sz="1600" b="0" kern="0" dirty="0">
                <a:solidFill>
                  <a:schemeClr val="tx1"/>
                </a:solidFill>
              </a:rPr>
              <a:t>Paulo provided consistent support in relational corrections and assembly coding, closing all tasks with detail-oriented execution.</a:t>
            </a:r>
          </a:p>
          <a:p>
            <a:endParaRPr lang="en-US" sz="2000" b="0" kern="0" dirty="0">
              <a:solidFill>
                <a:schemeClr val="tx1"/>
              </a:solidFill>
            </a:endParaRPr>
          </a:p>
          <a:p>
            <a:endParaRPr lang="en-US" sz="2000" b="0" kern="0" dirty="0">
              <a:solidFill>
                <a:schemeClr val="tx1"/>
              </a:solidFill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0E87F14-8DC8-9A68-1E17-AEE6CDE5F2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4944643"/>
              </p:ext>
            </p:extLst>
          </p:nvPr>
        </p:nvGraphicFramePr>
        <p:xfrm>
          <a:off x="448800" y="2258870"/>
          <a:ext cx="10064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Packager Shell Object" showAsIcon="1" r:id="rId3" imgW="1005840" imgH="518081" progId="Package">
                  <p:embed/>
                </p:oleObj>
              </mc:Choice>
              <mc:Fallback>
                <p:oleObj name="Packager Shell Object" showAsIcon="1" r:id="rId3" imgW="1005840" imgH="518081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8800" y="2258870"/>
                        <a:ext cx="1006475" cy="51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4410042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E53EF-F156-F33D-2313-E8D7DCCEF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8FF6CEA0-4C41-AE7C-658B-88CFDE002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908720"/>
            <a:ext cx="9043200" cy="571503"/>
          </a:xfrm>
        </p:spPr>
        <p:txBody>
          <a:bodyPr/>
          <a:lstStyle/>
          <a:p>
            <a:r>
              <a:rPr lang="en-US" sz="3200" cap="none" dirty="0">
                <a:solidFill>
                  <a:schemeClr val="tx1"/>
                </a:solidFill>
              </a:rPr>
              <a:t>LLM performance assessment – Critical Insight</a:t>
            </a:r>
            <a:endParaRPr lang="en-US" sz="3200" cap="none" dirty="0"/>
          </a:p>
        </p:txBody>
      </p:sp>
      <p:sp>
        <p:nvSpPr>
          <p:cNvPr id="2" name="Título 4">
            <a:extLst>
              <a:ext uri="{FF2B5EF4-FFF2-40B4-BE49-F238E27FC236}">
                <a16:creationId xmlns:a16="http://schemas.microsoft.com/office/drawing/2014/main" id="{2FEDAC75-266B-CFD9-8C22-2A369A13B7FE}"/>
              </a:ext>
            </a:extLst>
          </p:cNvPr>
          <p:cNvSpPr txBox="1">
            <a:spLocks/>
          </p:cNvSpPr>
          <p:nvPr/>
        </p:nvSpPr>
        <p:spPr>
          <a:xfrm>
            <a:off x="448800" y="1590337"/>
            <a:ext cx="9043200" cy="469270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endParaRPr lang="en-US" sz="2000" b="0" kern="0" dirty="0">
              <a:solidFill>
                <a:schemeClr val="tx1"/>
              </a:solidFill>
            </a:endParaRPr>
          </a:p>
        </p:txBody>
      </p:sp>
      <p:sp>
        <p:nvSpPr>
          <p:cNvPr id="3" name="Título 4">
            <a:extLst>
              <a:ext uri="{FF2B5EF4-FFF2-40B4-BE49-F238E27FC236}">
                <a16:creationId xmlns:a16="http://schemas.microsoft.com/office/drawing/2014/main" id="{26E8AA96-E4FE-2D1F-50B5-1C90B137D285}"/>
              </a:ext>
            </a:extLst>
          </p:cNvPr>
          <p:cNvSpPr txBox="1">
            <a:spLocks/>
          </p:cNvSpPr>
          <p:nvPr/>
        </p:nvSpPr>
        <p:spPr>
          <a:xfrm>
            <a:off x="414000" y="1480223"/>
            <a:ext cx="9043200" cy="4692704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Calibri"/>
              <a:buNone/>
              <a:defRPr sz="4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indent="0">
              <a:spcBef>
                <a:spcPts val="0"/>
              </a:spcBef>
              <a:buNone/>
              <a:defRPr sz="1800"/>
            </a:lvl2pPr>
            <a:lvl3pPr lvl="2" indent="0">
              <a:spcBef>
                <a:spcPts val="0"/>
              </a:spcBef>
              <a:buNone/>
              <a:defRPr sz="1800"/>
            </a:lvl3pPr>
            <a:lvl4pPr lvl="3" indent="0">
              <a:spcBef>
                <a:spcPts val="0"/>
              </a:spcBef>
              <a:buNone/>
              <a:defRPr sz="1800"/>
            </a:lvl4pPr>
            <a:lvl5pPr lvl="4" indent="0">
              <a:spcBef>
                <a:spcPts val="0"/>
              </a:spcBef>
              <a:buNone/>
              <a:defRPr sz="1800"/>
            </a:lvl5pPr>
            <a:lvl6pPr lvl="5" indent="0">
              <a:spcBef>
                <a:spcPts val="0"/>
              </a:spcBef>
              <a:buNone/>
              <a:defRPr sz="1800"/>
            </a:lvl6pPr>
            <a:lvl7pPr lvl="6" indent="0">
              <a:spcBef>
                <a:spcPts val="0"/>
              </a:spcBef>
              <a:buNone/>
              <a:defRPr sz="1800"/>
            </a:lvl7pPr>
            <a:lvl8pPr lvl="7" indent="0">
              <a:spcBef>
                <a:spcPts val="0"/>
              </a:spcBef>
              <a:buNone/>
              <a:defRPr sz="1800"/>
            </a:lvl8pPr>
            <a:lvl9pPr lvl="8" indent="0">
              <a:spcBef>
                <a:spcPts val="0"/>
              </a:spcBef>
              <a:buNone/>
              <a:defRPr sz="1800"/>
            </a:lvl9pPr>
          </a:lstStyle>
          <a:p>
            <a:r>
              <a:rPr lang="en-US" sz="2000" kern="0" dirty="0">
                <a:solidFill>
                  <a:schemeClr val="tx1"/>
                </a:solidFill>
              </a:rPr>
              <a:t>Team Members’ Opinion about the A.I. output</a:t>
            </a:r>
          </a:p>
          <a:p>
            <a:endParaRPr lang="en-US" sz="2000" kern="0" dirty="0">
              <a:solidFill>
                <a:schemeClr val="tx1"/>
              </a:solidFill>
            </a:endParaRPr>
          </a:p>
          <a:p>
            <a:r>
              <a:rPr lang="en-US" sz="1400" b="0" kern="0" dirty="0">
                <a:solidFill>
                  <a:schemeClr val="tx1"/>
                </a:solidFill>
              </a:rPr>
              <a:t>Francisco: “Nice that it highlighted both my backend work and assembly progress.”</a:t>
            </a:r>
          </a:p>
          <a:p>
            <a:r>
              <a:rPr lang="en-US" sz="1400" b="0" kern="0" dirty="0">
                <a:solidFill>
                  <a:schemeClr val="tx1"/>
                </a:solidFill>
              </a:rPr>
              <a:t>Gabriel: “Glad it recognized my focus on expiry logic and assembly coding.”</a:t>
            </a:r>
          </a:p>
          <a:p>
            <a:r>
              <a:rPr lang="en-US" sz="1400" b="0" kern="0" dirty="0">
                <a:solidFill>
                  <a:schemeClr val="tx1"/>
                </a:solidFill>
              </a:rPr>
              <a:t>Gonçalo: “Good to see my database corrections and buffer logic being appreciated.”</a:t>
            </a:r>
          </a:p>
          <a:p>
            <a:r>
              <a:rPr lang="en-US" sz="1400" b="0" kern="0" dirty="0">
                <a:solidFill>
                  <a:schemeClr val="tx1"/>
                </a:solidFill>
              </a:rPr>
              <a:t>Maria: “Happy it valued my documentation and assembly contributions.”</a:t>
            </a:r>
          </a:p>
          <a:p>
            <a:r>
              <a:rPr lang="en-US" sz="1400" b="0" kern="0" dirty="0">
                <a:solidFill>
                  <a:schemeClr val="tx1"/>
                </a:solidFill>
              </a:rPr>
              <a:t>Paulo: “Cool that it noticed my steady role in validations and assembly.”</a:t>
            </a:r>
          </a:p>
          <a:p>
            <a:endParaRPr lang="en-US" sz="2000" kern="0" dirty="0">
              <a:solidFill>
                <a:schemeClr val="tx1"/>
              </a:solidFill>
            </a:endParaRPr>
          </a:p>
          <a:p>
            <a:r>
              <a:rPr lang="en-US" sz="1800" kern="0" dirty="0">
                <a:solidFill>
                  <a:schemeClr val="tx1"/>
                </a:solidFill>
              </a:rPr>
              <a:t>Improvement Suggestion from LLM:</a:t>
            </a:r>
          </a:p>
          <a:p>
            <a:endParaRPr lang="en-US" sz="1800" kern="0" dirty="0">
              <a:solidFill>
                <a:schemeClr val="tx1"/>
              </a:solidFill>
            </a:endParaRPr>
          </a:p>
          <a:p>
            <a:r>
              <a:rPr lang="en-US" sz="1400" b="0" kern="0" dirty="0">
                <a:solidFill>
                  <a:schemeClr val="tx1"/>
                </a:solidFill>
              </a:rPr>
              <a:t>Francisco: Keep strengthening assembly coding by documenting integration steps more explicitly, so others can reuse your backend orchestration patterns.</a:t>
            </a:r>
          </a:p>
          <a:p>
            <a:r>
              <a:rPr lang="en-US" sz="1400" b="0" kern="0" dirty="0">
                <a:solidFill>
                  <a:schemeClr val="tx1"/>
                </a:solidFill>
              </a:rPr>
              <a:t>Gabriel. Expand your strong validation mindset into peer reviews — share your expiry‑handling test cases so teammates can adopt similar rigor.</a:t>
            </a:r>
          </a:p>
          <a:p>
            <a:r>
              <a:rPr lang="en-US" sz="1400" b="0" kern="0" dirty="0">
                <a:solidFill>
                  <a:schemeClr val="tx1"/>
                </a:solidFill>
              </a:rPr>
              <a:t>Gonçalo: Your database corrections were excellent; next sprint, focus on automating constraint checks and buffer logic scripts to reduce manual effort.</a:t>
            </a:r>
          </a:p>
          <a:p>
            <a:r>
              <a:rPr lang="en-US" sz="1400" b="0" kern="0" dirty="0">
                <a:solidFill>
                  <a:schemeClr val="tx1"/>
                </a:solidFill>
              </a:rPr>
              <a:t>Maria: Continue leading documentation, but also push for early alignment in assembly tasks — this will prevent late clarifications and accelerate delivery.</a:t>
            </a:r>
          </a:p>
          <a:p>
            <a:r>
              <a:rPr lang="en-US" sz="1400" b="0" kern="0" dirty="0">
                <a:solidFill>
                  <a:schemeClr val="tx1"/>
                </a:solidFill>
              </a:rPr>
              <a:t>Paulo: Your steady validation support is key; consider creating reusable validation templates so the team can apply your detail‑oriented approach faster.</a:t>
            </a:r>
          </a:p>
          <a:p>
            <a:endParaRPr lang="en-US" sz="2000" b="0" kern="0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sz="2000" kern="0" dirty="0">
              <a:solidFill>
                <a:schemeClr val="tx1"/>
              </a:solidFill>
            </a:endParaRPr>
          </a:p>
          <a:p>
            <a:endParaRPr lang="en-US" sz="2000" kern="0" dirty="0">
              <a:solidFill>
                <a:schemeClr val="tx1"/>
              </a:solidFill>
            </a:endParaRPr>
          </a:p>
          <a:p>
            <a:endParaRPr lang="en-US" sz="2000" kern="0" dirty="0">
              <a:solidFill>
                <a:schemeClr val="tx1"/>
              </a:solidFill>
            </a:endParaRPr>
          </a:p>
          <a:p>
            <a:endParaRPr lang="en-US" sz="2000" kern="0" dirty="0">
              <a:solidFill>
                <a:schemeClr val="tx1"/>
              </a:solidFill>
            </a:endParaRPr>
          </a:p>
          <a:p>
            <a:endParaRPr lang="en-US" sz="2000" kern="0" dirty="0">
              <a:solidFill>
                <a:schemeClr val="tx1"/>
              </a:solidFill>
            </a:endParaRPr>
          </a:p>
          <a:p>
            <a:endParaRPr lang="en-US" sz="200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7709559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 dirty="0">
                <a:solidFill>
                  <a:schemeClr val="tx1"/>
                </a:solidFill>
              </a:rPr>
              <a:t>Sprint Retrospective                        </a:t>
            </a:r>
            <a:r>
              <a:rPr lang="en-US" sz="2800" b="0" cap="none" dirty="0">
                <a:solidFill>
                  <a:schemeClr val="tx1"/>
                </a:solidFill>
              </a:rPr>
              <a:t>Date: 23 November </a:t>
            </a:r>
            <a:endParaRPr lang="en-US" sz="3200" b="0" cap="none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46F64C-4411-4F59-B546-FCD8654F7B3C}"/>
              </a:ext>
            </a:extLst>
          </p:cNvPr>
          <p:cNvSpPr/>
          <p:nvPr/>
        </p:nvSpPr>
        <p:spPr>
          <a:xfrm>
            <a:off x="253331" y="1763814"/>
            <a:ext cx="2970330" cy="445066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 dirty="0">
                <a:solidFill>
                  <a:schemeClr val="tx1"/>
                </a:solidFill>
              </a:rPr>
              <a:t>What went well?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Task progression was steady and visible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Collaboration was strong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Assembly integration started smoothly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Documentation and clarity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3B9FD58-6876-4E87-998E-ACA36985B86E}"/>
              </a:ext>
            </a:extLst>
          </p:cNvPr>
          <p:cNvSpPr/>
          <p:nvPr/>
        </p:nvSpPr>
        <p:spPr>
          <a:xfrm>
            <a:off x="3450435" y="1763814"/>
            <a:ext cx="2970330" cy="4450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 dirty="0">
                <a:solidFill>
                  <a:schemeClr val="tx1"/>
                </a:solidFill>
              </a:rPr>
              <a:t>What went wrong?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Initial blockers on logic clarity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Late overlap of tasks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Limited automation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Dependency delays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9B8E455-F8DD-4DEF-9E49-A26421870FC1}"/>
              </a:ext>
            </a:extLst>
          </p:cNvPr>
          <p:cNvSpPr/>
          <p:nvPr/>
        </p:nvSpPr>
        <p:spPr>
          <a:xfrm>
            <a:off x="6647539" y="1763813"/>
            <a:ext cx="2970330" cy="4450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 dirty="0">
                <a:solidFill>
                  <a:schemeClr val="tx1"/>
                </a:solidFill>
              </a:rPr>
              <a:t>What we learned?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Early clarifications save time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Pair programming and cross‑support are powerful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Documentation is not just support - it’s a driver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Balance workload across sprints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Automation is the next step</a:t>
            </a:r>
          </a:p>
        </p:txBody>
      </p:sp>
    </p:spTree>
    <p:extLst>
      <p:ext uri="{BB962C8B-B14F-4D97-AF65-F5344CB8AC3E}">
        <p14:creationId xmlns:p14="http://schemas.microsoft.com/office/powerpoint/2010/main" val="3250254882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60AF2-FD58-E72D-83EF-8D677D3A4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6416E1C-4950-D71D-123A-F724531983DC}"/>
              </a:ext>
            </a:extLst>
          </p:cNvPr>
          <p:cNvSpPr/>
          <p:nvPr/>
        </p:nvSpPr>
        <p:spPr>
          <a:xfrm>
            <a:off x="317484" y="1718809"/>
            <a:ext cx="9226025" cy="454550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u="sng" dirty="0">
                <a:solidFill>
                  <a:schemeClr val="tx1"/>
                </a:solidFill>
              </a:rPr>
              <a:t>Action items: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Management Actions: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Introduce mid‑sprint checkpoints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Balance workload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Strengthen documentation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Pair programming rotation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Performance Actions: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Automate validation scripts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Early clarification of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Reusable test templates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Knowledge sharing sessions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Expected Impact: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Efficiency gains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Quality improvement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Team cohesion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Predictability</a:t>
            </a:r>
          </a:p>
        </p:txBody>
      </p:sp>
      <p:sp>
        <p:nvSpPr>
          <p:cNvPr id="7" name="Título 4">
            <a:extLst>
              <a:ext uri="{FF2B5EF4-FFF2-40B4-BE49-F238E27FC236}">
                <a16:creationId xmlns:a16="http://schemas.microsoft.com/office/drawing/2014/main" id="{15D1BD0F-42E6-8626-2941-D327B367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00" y="1000108"/>
            <a:ext cx="9043200" cy="571503"/>
          </a:xfrm>
        </p:spPr>
        <p:txBody>
          <a:bodyPr/>
          <a:lstStyle/>
          <a:p>
            <a:r>
              <a:rPr lang="en-US" sz="3200" cap="none" dirty="0">
                <a:solidFill>
                  <a:schemeClr val="tx1"/>
                </a:solidFill>
              </a:rPr>
              <a:t>Sprint Retrospective                        </a:t>
            </a:r>
            <a:r>
              <a:rPr lang="en-US" sz="2800" b="0" cap="none" dirty="0">
                <a:solidFill>
                  <a:schemeClr val="tx1"/>
                </a:solidFill>
              </a:rPr>
              <a:t>Date: </a:t>
            </a:r>
            <a:r>
              <a:rPr lang="en-US" sz="2800" b="0" dirty="0">
                <a:solidFill>
                  <a:schemeClr val="tx1"/>
                </a:solidFill>
              </a:rPr>
              <a:t>23 November</a:t>
            </a:r>
            <a:endParaRPr lang="en-US" sz="3200" b="0" cap="non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9479183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E87CCFBD-63B6-4340-92B3-5E03879F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cap="none" dirty="0">
                <a:solidFill>
                  <a:schemeClr val="tx1"/>
                </a:solidFill>
              </a:rPr>
              <a:t>Overall Project Performance:</a:t>
            </a:r>
          </a:p>
        </p:txBody>
      </p:sp>
      <p:sp>
        <p:nvSpPr>
          <p:cNvPr id="2" name="Marcador de Posição do Texto 1">
            <a:extLst>
              <a:ext uri="{FF2B5EF4-FFF2-40B4-BE49-F238E27FC236}">
                <a16:creationId xmlns:a16="http://schemas.microsoft.com/office/drawing/2014/main" id="{EEE97808-B786-5C10-6A83-416F88B5C6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1400" y="1731934"/>
            <a:ext cx="9043200" cy="4589999"/>
          </a:xfrm>
        </p:spPr>
        <p:txBody>
          <a:bodyPr/>
          <a:lstStyle/>
          <a:p>
            <a:pPr marL="127000" indent="0">
              <a:buNone/>
            </a:pPr>
            <a:r>
              <a:rPr lang="pt-PT" dirty="0">
                <a:solidFill>
                  <a:schemeClr val="tx1"/>
                </a:solidFill>
              </a:rPr>
              <a:t>LLM evaluation: </a:t>
            </a:r>
            <a:r>
              <a:rPr lang="en-US" b="1" dirty="0">
                <a:solidFill>
                  <a:schemeClr val="tx1"/>
                </a:solidFill>
              </a:rPr>
              <a:t>4.6/5</a:t>
            </a:r>
            <a:endParaRPr lang="pt-PT" b="1" dirty="0">
              <a:solidFill>
                <a:schemeClr val="tx1"/>
              </a:solidFill>
            </a:endParaRPr>
          </a:p>
          <a:p>
            <a:pPr marL="12700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The team showed high synergy, adaptability, and closure of all major tasks. Minor improvements lie in automation and proactive workload balancing.</a:t>
            </a:r>
            <a:endParaRPr lang="pt-PT" sz="1600" dirty="0">
              <a:solidFill>
                <a:schemeClr val="tx1"/>
              </a:solidFill>
            </a:endParaRPr>
          </a:p>
          <a:p>
            <a:pPr marL="127000" indent="0">
              <a:buNone/>
            </a:pPr>
            <a:endParaRPr lang="pt-PT" dirty="0">
              <a:solidFill>
                <a:schemeClr val="tx1"/>
              </a:solidFill>
            </a:endParaRPr>
          </a:p>
          <a:p>
            <a:pPr marL="127000" indent="0">
              <a:buNone/>
            </a:pPr>
            <a:r>
              <a:rPr lang="pt-PT" dirty="0">
                <a:solidFill>
                  <a:schemeClr val="tx1"/>
                </a:solidFill>
              </a:rPr>
              <a:t>Team evaluation: </a:t>
            </a:r>
            <a:r>
              <a:rPr lang="en-US" b="1" dirty="0">
                <a:solidFill>
                  <a:schemeClr val="tx1"/>
                </a:solidFill>
              </a:rPr>
              <a:t>4.6/5</a:t>
            </a:r>
            <a:endParaRPr lang="pt-PT" dirty="0">
              <a:solidFill>
                <a:schemeClr val="tx1"/>
              </a:solidFill>
            </a:endParaRPr>
          </a:p>
          <a:p>
            <a:pPr marL="127000" indent="0">
              <a:buNone/>
            </a:pPr>
            <a:endParaRPr lang="pt-PT" dirty="0">
              <a:solidFill>
                <a:schemeClr val="tx1"/>
              </a:solidFill>
            </a:endParaRPr>
          </a:p>
          <a:p>
            <a:pPr marL="127000" indent="0">
              <a:buNone/>
            </a:pPr>
            <a:endParaRPr lang="pt-PT" dirty="0">
              <a:solidFill>
                <a:schemeClr val="tx1"/>
              </a:solidFill>
            </a:endParaRPr>
          </a:p>
          <a:p>
            <a:pPr marL="127000" indent="0">
              <a:buNone/>
            </a:pPr>
            <a:r>
              <a:rPr lang="pt-PT" dirty="0">
                <a:solidFill>
                  <a:schemeClr val="tx1"/>
                </a:solidFill>
              </a:rPr>
              <a:t>Team feeling: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417797C-1297-547E-D29B-35BF35D9325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08" t="11297" r="78874" b="36064"/>
          <a:stretch>
            <a:fillRect/>
          </a:stretch>
        </p:blipFill>
        <p:spPr>
          <a:xfrm>
            <a:off x="857545" y="4697051"/>
            <a:ext cx="1125124" cy="1160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55380"/>
      </p:ext>
    </p:extLst>
  </p:cSld>
  <p:clrMapOvr>
    <a:masterClrMapping/>
  </p:clrMapOvr>
  <p:transition spd="med">
    <p:fade/>
  </p:transition>
  <p:extLst>
    <p:ext uri="{6950BFC3-D8DA-4A85-94F7-54DA5524770B}">
      <p188:commentRel xmlns:p188="http://schemas.microsoft.com/office/powerpoint/2018/8/main" r:id="rId3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team work">
            <a:extLst>
              <a:ext uri="{FF2B5EF4-FFF2-40B4-BE49-F238E27FC236}">
                <a16:creationId xmlns:a16="http://schemas.microsoft.com/office/drawing/2014/main" id="{63305713-9999-B782-17EA-DC85021DE3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719"/>
          <a:stretch/>
        </p:blipFill>
        <p:spPr bwMode="auto">
          <a:xfrm>
            <a:off x="0" y="947824"/>
            <a:ext cx="9906000" cy="5910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1_ISEP">
  <a:themeElements>
    <a:clrScheme name="Laranja-avermelhado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d04904d-c619-4467-a32f-09812827fd8e">
      <Terms xmlns="http://schemas.microsoft.com/office/infopath/2007/PartnerControls"/>
    </lcf76f155ced4ddcb4097134ff3c332f>
    <TaxCatchAll xmlns="b4fdeaeb-cd21-48a0-91d3-a71b662e0a0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A52B1E44048D8469E872E4EAE2C3404" ma:contentTypeVersion="11" ma:contentTypeDescription="Criar um novo documento." ma:contentTypeScope="" ma:versionID="795b2e789b25c745ccb0f99cc669fc11">
  <xsd:schema xmlns:xsd="http://www.w3.org/2001/XMLSchema" xmlns:xs="http://www.w3.org/2001/XMLSchema" xmlns:p="http://schemas.microsoft.com/office/2006/metadata/properties" xmlns:ns2="ed04904d-c619-4467-a32f-09812827fd8e" xmlns:ns3="b4fdeaeb-cd21-48a0-91d3-a71b662e0a05" targetNamespace="http://schemas.microsoft.com/office/2006/metadata/properties" ma:root="true" ma:fieldsID="da4cbc163d60360cdfb73046a4724716" ns2:_="" ns3:_="">
    <xsd:import namespace="ed04904d-c619-4467-a32f-09812827fd8e"/>
    <xsd:import namespace="b4fdeaeb-cd21-48a0-91d3-a71b662e0a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04904d-c619-4467-a32f-09812827fd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m" ma:readOnly="false" ma:fieldId="{5cf76f15-5ced-4ddc-b409-7134ff3c332f}" ma:taxonomyMulti="true" ma:sspId="abd39c20-4416-4a86-a41d-df69d8f2de9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fdeaeb-cd21-48a0-91d3-a71b662e0a0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915ae7b-29a8-45ec-b859-842c81a716b0}" ma:internalName="TaxCatchAll" ma:showField="CatchAllData" ma:web="b4fdeaeb-cd21-48a0-91d3-a71b662e0a0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B87164-EF5F-43C8-917E-48B38ACAFD1E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ed04904d-c619-4467-a32f-09812827fd8e"/>
    <ds:schemaRef ds:uri="http://schemas.openxmlformats.org/package/2006/metadata/core-properties"/>
    <ds:schemaRef ds:uri="http://purl.org/dc/terms/"/>
    <ds:schemaRef ds:uri="http://www.w3.org/XML/1998/namespace"/>
    <ds:schemaRef ds:uri="b4fdeaeb-cd21-48a0-91d3-a71b662e0a05"/>
    <ds:schemaRef ds:uri="http://schemas.microsoft.com/office/infopath/2007/PartnerControl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4F984168-AABC-4753-B4EC-59CA9D08839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243AE1-6898-44C6-84FD-BB50C368216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04904d-c619-4467-a32f-09812827fd8e"/>
    <ds:schemaRef ds:uri="b4fdeaeb-cd21-48a0-91d3-a71b662e0a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5400</TotalTime>
  <Words>1087</Words>
  <Application>Microsoft Office PowerPoint</Application>
  <PresentationFormat>A4 Paper (210x297 mm)</PresentationFormat>
  <Paragraphs>338</Paragraphs>
  <Slides>17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Kozuka Gothic Pro M</vt:lpstr>
      <vt:lpstr>1_ISEP</vt:lpstr>
      <vt:lpstr>Package</vt:lpstr>
      <vt:lpstr>Logistics On Rails - SPRINT 2  G052</vt:lpstr>
      <vt:lpstr>Sprint planning – Sprint 2</vt:lpstr>
      <vt:lpstr>Sprint 2 planning</vt:lpstr>
      <vt:lpstr>Sprint 2 planning</vt:lpstr>
      <vt:lpstr>Sprint 2 planning</vt:lpstr>
      <vt:lpstr>Sprint 2 planning</vt:lpstr>
      <vt:lpstr>Work assigned by team member</vt:lpstr>
      <vt:lpstr> Work assigned by type (componente)</vt:lpstr>
      <vt:lpstr>Issues / Assumptions / unanswered questions</vt:lpstr>
      <vt:lpstr>Daily Meetings</vt:lpstr>
      <vt:lpstr>LLM performance assessment - Input (use Copilot with GPT-5 mandatory)</vt:lpstr>
      <vt:lpstr>LLM performance assessment - Output</vt:lpstr>
      <vt:lpstr>LLM performance assessment – Critical Insight</vt:lpstr>
      <vt:lpstr>Sprint Retrospective                        Date: 23 November </vt:lpstr>
      <vt:lpstr>Sprint Retrospective                        Date: 23 November</vt:lpstr>
      <vt:lpstr>Overall Project Performance: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Diapositivo 1</dc:title>
  <dc:creator>FlavioRamos</dc:creator>
  <cp:lastModifiedBy>Maria Teixeira Pinto</cp:lastModifiedBy>
  <cp:revision>500</cp:revision>
  <dcterms:created xsi:type="dcterms:W3CDTF">2010-10-20T15:48:12Z</dcterms:created>
  <dcterms:modified xsi:type="dcterms:W3CDTF">2025-11-23T18:34:31Z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0x010100BA52B1E44048D8469E872E4EAE2C3404</vt:lpwstr>
  </property>
  <property fmtid="{D5CDD505-2E9C-101B-9397-08002B2CF9AE}" pid="3" name="MediaServiceImageTags">
    <vt:lpwstr/>
  </property>
</Properties>
</file>